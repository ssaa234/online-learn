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jpg" ContentType="image/jpeg"/>
  <Default Extension="rels" ContentType="application/vnd.openxmlformats-package.relationship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s/slide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s/slide2.xml" ContentType="application/vnd.openxmlformats-officedocument.presentationml.slide+xml"/>
  <Override PartName="/ppt/slideLayouts/slideLayout2.xml" ContentType="application/vnd.openxmlformats-officedocument.presentationml.slideLayout+xml"/>
  <Override PartName="/ppt/slides/slide3.xml" ContentType="application/vnd.openxmlformats-officedocument.presentationml.slide+xml"/>
  <Override PartName="/ppt/slideLayouts/slideLayout3.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s/slide5.xml" ContentType="application/vnd.openxmlformats-officedocument.presentationml.slide+xml"/>
  <Override PartName="/ppt/slideLayouts/slideLayout5.xml" ContentType="application/vnd.openxmlformats-officedocument.presentationml.slideLayout+xml"/>
  <Override PartName="/ppt/slides/slide6.xml" ContentType="application/vnd.openxmlformats-officedocument.presentationml.slide+xml"/>
  <Override PartName="/ppt/slideLayouts/slideLayout6.xml" ContentType="application/vnd.openxmlformats-officedocument.presentationml.slideLayout+xml"/>
  <Override PartName="/ppt/slides/slide7.xml" ContentType="application/vnd.openxmlformats-officedocument.presentationml.slide+xml"/>
  <Override PartName="/ppt/slideLayouts/slideLayout7.xml" ContentType="application/vnd.openxmlformats-officedocument.presentationml.slideLayout+xml"/>
  <Override PartName="/ppt/slides/slide8.xml" ContentType="application/vnd.openxmlformats-officedocument.presentationml.slide+xml"/>
  <Override PartName="/ppt/slideLayouts/slideLayout8.xml" ContentType="application/vnd.openxmlformats-officedocument.presentationml.slideLayout+xml"/>
  <Override PartName="/ppt/slides/slide9.xml" ContentType="application/vnd.openxmlformats-officedocument.presentationml.slide+xml"/>
  <Override PartName="/ppt/slideLayouts/slideLayout9.xml" ContentType="application/vnd.openxmlformats-officedocument.presentationml.slideLayout+xml"/>
  <Override PartName="/ppt/slides/slide10.xml" ContentType="application/vnd.openxmlformats-officedocument.presentationml.slide+xml"/>
  <Override PartName="/ppt/slideLayouts/slideLayout10.xml" ContentType="application/vnd.openxmlformats-officedocument.presentationml.slideLayout+xml"/>
  <Override PartName="/ppt/slides/slide11.xml" ContentType="application/vnd.openxmlformats-officedocument.presentationml.slide+xml"/>
  <Override PartName="/ppt/slideLayouts/slideLayout11.xml" ContentType="application/vnd.openxmlformats-officedocument.presentationml.slideLayout+xml"/>
  <Override PartName="/ppt/slides/slide12.xml" ContentType="application/vnd.openxmlformats-officedocument.presentationml.slide+xml"/>
  <Override PartName="/ppt/slideLayouts/slideLayout12.xml" ContentType="application/vnd.openxmlformats-officedocument.presentationml.slideLayout+xml"/>
  <Override PartName="/ppt/slides/slide13.xml" ContentType="application/vnd.openxmlformats-officedocument.presentationml.slide+xml"/>
  <Override PartName="/ppt/slideLayouts/slideLayout13.xml" ContentType="application/vnd.openxmlformats-officedocument.presentationml.slideLayout+xml"/>
  <Override PartName="/ppt/slides/slide14.xml" ContentType="application/vnd.openxmlformats-officedocument.presentationml.slide+xml"/>
  <Override PartName="/ppt/slideLayouts/slideLayout14.xml" ContentType="application/vnd.openxmlformats-officedocument.presentationml.slideLayout+xml"/>
  <Override PartName="/ppt/slides/slide15.xml" ContentType="application/vnd.openxmlformats-officedocument.presentationml.slide+xml"/>
  <Override PartName="/ppt/slideLayouts/slideLayout15.xml" ContentType="application/vnd.openxmlformats-officedocument.presentationml.slideLayout+xml"/>
  <Override PartName="/ppt/slides/slide16.xml" ContentType="application/vnd.openxmlformats-officedocument.presentationml.slide+xml"/>
  <Override PartName="/ppt/slideLayouts/slideLayout16.xml" ContentType="application/vnd.openxmlformats-officedocument.presentationml.slideLayout+xml"/>
</Types>
</file>

<file path=_rels/.rels>&#65279;<?xml version="1.0" encoding="utf-8"?><Relationships xmlns="http://schemas.openxmlformats.org/package/2006/relationships"><Relationship Type="http://schemas.openxmlformats.org/officeDocument/2006/relationships/officeDocument" Target="/ppt/presentation.xml" Id="R557505fc1a4547d9" /><Relationship Type="http://schemas.openxmlformats.org/officeDocument/2006/relationships/extended-properties" Target="/docProps/app.xml" Id="rId2" /><Relationship Type="http://schemas.openxmlformats.org/package/2006/relationships/metadata/core-properties" Target="/docProps/core.xml" Id="R832b783de4864516" /><Relationship Type="http://schemas.openxmlformats.org/officeDocument/2006/relationships/custom-properties" Target="/docProps/custom.xml" Id="Rcca1eba46144406d"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06" y="114"/>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pt/presProps.xml" Id="rId1" /><Relationship Type="http://schemas.openxmlformats.org/officeDocument/2006/relationships/viewProps" Target="/ppt/viewProps.xml" Id="rId2" /><Relationship Type="http://schemas.openxmlformats.org/officeDocument/2006/relationships/theme" Target="/ppt/theme/theme1.xml" Id="rId3" /><Relationship Type="http://schemas.openxmlformats.org/officeDocument/2006/relationships/tableStyles" Target="/ppt/tableStyles.xml" Id="rId4" /><Relationship Type="http://schemas.openxmlformats.org/officeDocument/2006/relationships/slideMaster" Target="/ppt/slideMasters/slideMaster1.xml" Id="rId5" /><Relationship Type="http://schemas.openxmlformats.org/officeDocument/2006/relationships/slide" Target="/ppt/slides/slide1.xml" Id="rId6" /><Relationship Type="http://schemas.openxmlformats.org/officeDocument/2006/relationships/slide" Target="/ppt/slides/slide2.xml" Id="rId7" /><Relationship Type="http://schemas.openxmlformats.org/officeDocument/2006/relationships/slide" Target="/ppt/slides/slide3.xml" Id="rId8" /><Relationship Type="http://schemas.openxmlformats.org/officeDocument/2006/relationships/slide" Target="/ppt/slides/slide4.xml" Id="rId9" /><Relationship Type="http://schemas.openxmlformats.org/officeDocument/2006/relationships/slide" Target="/ppt/slides/slide5.xml" Id="rId10" /><Relationship Type="http://schemas.openxmlformats.org/officeDocument/2006/relationships/slide" Target="/ppt/slides/slide6.xml" Id="rId11" /><Relationship Type="http://schemas.openxmlformats.org/officeDocument/2006/relationships/slide" Target="/ppt/slides/slide7.xml" Id="rId12" /><Relationship Type="http://schemas.openxmlformats.org/officeDocument/2006/relationships/slide" Target="/ppt/slides/slide8.xml" Id="rId13" /><Relationship Type="http://schemas.openxmlformats.org/officeDocument/2006/relationships/slide" Target="/ppt/slides/slide9.xml" Id="rId14" /><Relationship Type="http://schemas.openxmlformats.org/officeDocument/2006/relationships/slide" Target="/ppt/slides/slide10.xml" Id="rId15" /><Relationship Type="http://schemas.openxmlformats.org/officeDocument/2006/relationships/slide" Target="/ppt/slides/slide11.xml" Id="rId16" /><Relationship Type="http://schemas.openxmlformats.org/officeDocument/2006/relationships/slide" Target="/ppt/slides/slide12.xml" Id="rId17" /><Relationship Type="http://schemas.openxmlformats.org/officeDocument/2006/relationships/slide" Target="/ppt/slides/slide13.xml" Id="rId18" /><Relationship Type="http://schemas.openxmlformats.org/officeDocument/2006/relationships/slide" Target="/ppt/slides/slide14.xml" Id="rId19" /><Relationship Type="http://schemas.openxmlformats.org/officeDocument/2006/relationships/slide" Target="/ppt/slides/slide15.xml" Id="rId20" /><Relationship Type="http://schemas.openxmlformats.org/officeDocument/2006/relationships/slide" Target="/ppt/slides/slide16.xml" Id="rId21"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4.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5.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6.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7.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8.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9.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0.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4.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5.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Layouts/slideLayout16.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91420"/>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Id2" /><Relationship Type="http://schemas.openxmlformats.org/officeDocument/2006/relationships/slideLayout" Target="/ppt/slideLayouts/slideLayout2.xml" Id="rId3" /><Relationship Type="http://schemas.openxmlformats.org/officeDocument/2006/relationships/slideLayout" Target="/ppt/slideLayouts/slideLayout3.xml" Id="rId4" /><Relationship Type="http://schemas.openxmlformats.org/officeDocument/2006/relationships/slideLayout" Target="/ppt/slideLayouts/slideLayout4.xml" Id="rId5" /><Relationship Type="http://schemas.openxmlformats.org/officeDocument/2006/relationships/slideLayout" Target="/ppt/slideLayouts/slideLayout5.xml" Id="rId6" /><Relationship Type="http://schemas.openxmlformats.org/officeDocument/2006/relationships/slideLayout" Target="/ppt/slideLayouts/slideLayout6.xml" Id="rId7" /><Relationship Type="http://schemas.openxmlformats.org/officeDocument/2006/relationships/slideLayout" Target="/ppt/slideLayouts/slideLayout7.xml" Id="rId8" /><Relationship Type="http://schemas.openxmlformats.org/officeDocument/2006/relationships/slideLayout" Target="/ppt/slideLayouts/slideLayout8.xml" Id="rId9" /><Relationship Type="http://schemas.openxmlformats.org/officeDocument/2006/relationships/slideLayout" Target="/ppt/slideLayouts/slideLayout9.xml" Id="rId10" /><Relationship Type="http://schemas.openxmlformats.org/officeDocument/2006/relationships/slideLayout" Target="/ppt/slideLayouts/slideLayout10.xml" Id="rId11" /><Relationship Type="http://schemas.openxmlformats.org/officeDocument/2006/relationships/slideLayout" Target="/ppt/slideLayouts/slideLayout11.xml" Id="rId12" /><Relationship Type="http://schemas.openxmlformats.org/officeDocument/2006/relationships/slideLayout" Target="/ppt/slideLayouts/slideLayout12.xml" Id="rId13" /><Relationship Type="http://schemas.openxmlformats.org/officeDocument/2006/relationships/slideLayout" Target="/ppt/slideLayouts/slideLayout13.xml" Id="rId14" /><Relationship Type="http://schemas.openxmlformats.org/officeDocument/2006/relationships/slideLayout" Target="/ppt/slideLayouts/slideLayout14.xml" Id="rId15" /><Relationship Type="http://schemas.openxmlformats.org/officeDocument/2006/relationships/slideLayout" Target="/ppt/slideLayouts/slideLayout15.xml" Id="rId16" /><Relationship Type="http://schemas.openxmlformats.org/officeDocument/2006/relationships/slideLayout" Target="/ppt/slideLayouts/slideLayout16.xml" Id="rId17"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735316"/>
      </p:ext>
    </p:extLst>
  </p:cSld>
  <p:clrMap bg1="lt1" tx1="dk1" bg2="lt2" tx2="dk2" accent1="accent1" accent2="accent2" accent3="accent3" accent4="accent4" accent5="accent5" accent6="accent6" hlink="hlink" folHlink="folHlink"/>
  <p:sldLayoutIdLst>
    <p:sldLayoutId id="2147483649" r:id="rId1"/>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image" Target="/ppt/media/image.png" Id="rId2" /><Relationship Type="http://schemas.openxmlformats.org/officeDocument/2006/relationships/image" Target="/ppt/media/image2.png" Id="rId3" /><Relationship Type="http://schemas.openxmlformats.org/officeDocument/2006/relationships/image" Target="/ppt/media/image3.png" Id="rId4" /><Relationship Type="http://schemas.openxmlformats.org/officeDocument/2006/relationships/image" Target="/ppt/media/image4.png" Id="rId5" /><Relationship Type="http://schemas.openxmlformats.org/officeDocument/2006/relationships/image" Target="/ppt/media/image5.png" Id="rId6" /><Relationship Type="http://schemas.openxmlformats.org/officeDocument/2006/relationships/image" Target="/ppt/media/image.jpg" Id="rI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6.png" Id="rId2" /><Relationship Type="http://schemas.openxmlformats.org/officeDocument/2006/relationships/image" Target="/ppt/media/image7.png" Id="rId3" /><Relationship Type="http://schemas.openxmlformats.org/officeDocument/2006/relationships/image" Target="/ppt/media/image2.jpg" Id="rI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8.png" Id="rId2" /><Relationship Type="http://schemas.openxmlformats.org/officeDocument/2006/relationships/image" Target="/ppt/media/image3.jpg" Id="rI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Id1" /><Relationship Type="http://schemas.openxmlformats.org/officeDocument/2006/relationships/image" Target="/ppt/media/image9.png" Id="rId2" /><Relationship Type="http://schemas.openxmlformats.org/officeDocument/2006/relationships/image" Target="/ppt/media/image4.jpg" Id="rI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Id1" /><Relationship Type="http://schemas.openxmlformats.org/officeDocument/2006/relationships/image" Target="/ppt/media/image10.png" Id="rId2" /><Relationship Type="http://schemas.openxmlformats.org/officeDocument/2006/relationships/image" Target="/ppt/media/image5.jpg" Id="rI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6.jpg" Id="rI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1.png" Id="rId2" /><Relationship Type="http://schemas.openxmlformats.org/officeDocument/2006/relationships/image" Target="/ppt/media/image12.png" Id="rId3" /><Relationship Type="http://schemas.openxmlformats.org/officeDocument/2006/relationships/image" Target="/ppt/media/image7.jpg" Id="rI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Id1" /><Relationship Type="http://schemas.openxmlformats.org/officeDocument/2006/relationships/image" Target="/ppt/media/image13.png" Id="rId2" /><Relationship Type="http://schemas.openxmlformats.org/officeDocument/2006/relationships/image" Target="/ppt/media/image14.png" Id="rId3" /><Relationship Type="http://schemas.openxmlformats.org/officeDocument/2006/relationships/image" Target="/ppt/media/image8.jpg" Id="rI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Id1" /><Relationship Type="http://schemas.openxmlformats.org/officeDocument/2006/relationships/image" Target="/ppt/media/image15.png" Id="rId2" /><Relationship Type="http://schemas.openxmlformats.org/officeDocument/2006/relationships/image" Target="/ppt/media/image16.png" Id="rId3" /><Relationship Type="http://schemas.openxmlformats.org/officeDocument/2006/relationships/image" Target="/ppt/media/image9.jpg" Id="rI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Id1" /><Relationship Type="http://schemas.openxmlformats.org/officeDocument/2006/relationships/image" Target="/ppt/media/image17.png" Id="rId2" /><Relationship Type="http://schemas.openxmlformats.org/officeDocument/2006/relationships/image" Target="/ppt/media/image18.png" Id="rId3" /><Relationship Type="http://schemas.openxmlformats.org/officeDocument/2006/relationships/image" Target="/ppt/media/image10.jpg" Id="rI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Id1" /><Relationship Type="http://schemas.openxmlformats.org/officeDocument/2006/relationships/image" Target="/ppt/media/image19.png" Id="rId2" /><Relationship Type="http://schemas.openxmlformats.org/officeDocument/2006/relationships/image" Target="/ppt/media/image11.jpg" Id="rI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Id1" /><Relationship Type="http://schemas.openxmlformats.org/officeDocument/2006/relationships/image" Target="/ppt/media/image20.png" Id="rId2" /><Relationship Type="http://schemas.openxmlformats.org/officeDocument/2006/relationships/image" Target="/ppt/media/image21.png" Id="rId3" /><Relationship Type="http://schemas.openxmlformats.org/officeDocument/2006/relationships/image" Target="/ppt/media/image22.png" Id="rId4" /><Relationship Type="http://schemas.openxmlformats.org/officeDocument/2006/relationships/image" Target="/ppt/media/image23.png" Id="rId5" /><Relationship Type="http://schemas.openxmlformats.org/officeDocument/2006/relationships/image" Target="/ppt/media/image24.png" Id="rId6" /><Relationship Type="http://schemas.openxmlformats.org/officeDocument/2006/relationships/image" Target="/ppt/media/image25.png" Id="rId7" /><Relationship Type="http://schemas.openxmlformats.org/officeDocument/2006/relationships/image" Target="/ppt/media/image26.png" Id="rId8" /><Relationship Type="http://schemas.openxmlformats.org/officeDocument/2006/relationships/image" Target="/ppt/media/image12.jpg" Id="rId9" /><Relationship Type="http://schemas.openxmlformats.org/officeDocument/2006/relationships/image" Target="/ppt/media/image27.png" Id="rId10" /><Relationship Type="http://schemas.openxmlformats.org/officeDocument/2006/relationships/image" Target="/ppt/media/image28.png" Id="rId11" /><Relationship Type="http://schemas.openxmlformats.org/officeDocument/2006/relationships/image" Target="/ppt/media/image29.png" Id="rId12" /><Relationship Type="http://schemas.openxmlformats.org/officeDocument/2006/relationships/image" Target="/ppt/media/image30.png" Id="rId13" /><Relationship Type="http://schemas.openxmlformats.org/officeDocument/2006/relationships/image" Target="/ppt/media/image31.png" Id="rId14" /><Relationship Type="http://schemas.openxmlformats.org/officeDocument/2006/relationships/image" Target="/ppt/media/image32.png" Id="rId15" /><Relationship Type="http://schemas.openxmlformats.org/officeDocument/2006/relationships/image" Target="/ppt/media/image33.png" Id="rId16" /><Relationship Type="http://schemas.openxmlformats.org/officeDocument/2006/relationships/image" Target="/ppt/media/image13.jpg" Id="rId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3.xml" Id="rId1" /><Relationship Type="http://schemas.openxmlformats.org/officeDocument/2006/relationships/hyperlink" Target="https://www.cnnic.net.cn/" TargetMode="External" Id="rId2" /><Relationship Type="http://schemas.openxmlformats.org/officeDocument/2006/relationships/image" Target="/ppt/media/image14.jpg" Id="rI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4.xml" Id="rId1" /><Relationship Type="http://schemas.openxmlformats.org/officeDocument/2006/relationships/image" Target="/ppt/media/image15.jpg" Id="rI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5.xml" Id="rId1" /><Relationship Type="http://schemas.openxmlformats.org/officeDocument/2006/relationships/image" Target="/ppt/media/image34.png" Id="rId2" /><Relationship Type="http://schemas.openxmlformats.org/officeDocument/2006/relationships/image" Target="/ppt/media/image16.jpg" Id="rI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6.xml" Id="rId1" /><Relationship Type="http://schemas.openxmlformats.org/officeDocument/2006/relationships/image" Target="/ppt/media/image35.png" Id="rId2" /><Relationship Type="http://schemas.openxmlformats.org/officeDocument/2006/relationships/image" Target="/ppt/media/image17.jpg" Id="rId3" /></Relationships>
</file>

<file path=ppt/slides/slide1.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7"/>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816215" y="109855"/>
            <a:ext cx="4133850" cy="680085"/>
            <a:chOff x="0" y="0"/>
            <a:chExt cx="4133850" cy="680085"/>
          </a:xfrm>
        </p:grpSpPr>
        <p:sp>
          <p:nvSpPr>
            <p:cNvPr id="3" name="形状7"/>
            <p:cNvSpPr txBox="1"/>
            <p:nvPr/>
          </p:nvSpPr>
          <p:spPr>
            <a:xfrm>
              <a:off x="3810" y="49530"/>
              <a:ext cx="4130040"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6"/>
            <p:cNvSpPr txBox="1"/>
            <p:nvPr/>
          </p:nvSpPr>
          <p:spPr>
            <a:xfrm>
              <a:off x="0" y="0"/>
              <a:ext cx="4130040"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微软雅黑"/>
                  <a:ea typeface="微软雅黑"/>
                </a:rPr>
                <a:t>义务教育信息科技课程资源</a:t>
              </a:r>
            </a:p>
          </p:txBody>
        </p:sp>
      </p:grpSp>
      <p:grpSp>
        <p:nvGrpSpPr>
          <p:cNvPr id="5" name="组合2"/>
          <p:cNvGrpSpPr/>
          <p:nvPr/>
        </p:nvGrpSpPr>
        <p:grpSpPr>
          <a:xfrm>
            <a:off x="546510" y="1568979"/>
            <a:ext cx="11128191" cy="4032075"/>
            <a:chOff x="0" y="0"/>
            <a:chExt cx="11128191" cy="4032075"/>
          </a:xfrm>
        </p:grpSpPr>
        <p:sp>
          <p:nvSpPr>
            <p:cNvPr id="6" name="文本7"/>
            <p:cNvSpPr txBox="1"/>
            <p:nvPr/>
          </p:nvSpPr>
          <p:spPr>
            <a:xfrm>
              <a:off x="429359" y="51197"/>
              <a:ext cx="10698832" cy="2985002"/>
            </a:xfrm>
            <a:prstGeom prst="rect">
              <a:avLst/>
            </a:prstGeom>
            <a:noFill/>
          </p:spPr>
          <p:txBody>
            <a:bodyPr anchor="t"/>
            <a:lstStyle/>
            <a:p>
              <a:pPr marL="0" algn="l">
                <a:lnSpc>
                  <a:spcPts val="3200"/>
                </a:lnSpc>
              </a:pPr>
              <a:r>
                <a:rPr lang="zh-CN" altLang="en-US" sz="1800" b="0" i="0" dirty="0">
                  <a:solidFill>
                    <a:srgbClr val="000000">
                      <a:alpha val="100000"/>
                    </a:srgbClr>
                  </a:solidFill>
                  <a:latin typeface="微软雅黑"/>
                  <a:ea typeface="微软雅黑"/>
                </a:rPr>
                <a:t> </a:t>
              </a:r>
            </a:p>
          </p:txBody>
        </p:sp>
        <p:sp>
          <p:nvSpPr>
            <p:cNvPr id="7" name="文本8"/>
            <p:cNvSpPr txBox="1"/>
            <p:nvPr/>
          </p:nvSpPr>
          <p:spPr>
            <a:xfrm>
              <a:off x="0" y="0"/>
              <a:ext cx="10377697" cy="4032075"/>
            </a:xfrm>
            <a:prstGeom prst="rect">
              <a:avLst/>
            </a:prstGeom>
            <a:noFill/>
          </p:spPr>
          <p:txBody>
            <a:bodyPr anchor="t"/>
            <a:lstStyle/>
            <a:p>
              <a:pPr marL="0" algn="l">
                <a:lnSpc>
                  <a:spcPts val="5000"/>
                </a:lnSpc>
              </a:pPr>
              <a:r>
                <a:rPr lang="zh-CN" altLang="en-US" sz="2599" b="0" i="0" dirty="0">
                  <a:solidFill>
                    <a:srgbClr val="000000">
                      <a:alpha val="100000"/>
                    </a:srgbClr>
                  </a:solidFill>
                  <a:latin typeface="楷体"/>
                  <a:ea typeface="楷体"/>
                </a:rPr>
                <a:t>1、计算机网络先后经历了诞生阶段、       、        和高速网络四个发展阶段。</a:t>
              </a:r>
            </a:p>
            <a:p>
              <a:pPr marL="0" algn="l">
                <a:lnSpc>
                  <a:spcPts val="5000"/>
                </a:lnSpc>
              </a:pPr>
              <a:r>
                <a:rPr lang="zh-CN" altLang="en-US" sz="2599" b="0" i="0" dirty="0">
                  <a:solidFill>
                    <a:srgbClr val="000000">
                      <a:alpha val="100000"/>
                    </a:srgbClr>
                  </a:solidFill>
                  <a:latin typeface="楷体"/>
                  <a:ea typeface="楷体"/>
                </a:rPr>
                <a:t>2、1987年，相关科研机构建成了我国第一个国际互联网         节点，揭开了中国人使用互联网的序幕。</a:t>
              </a:r>
            </a:p>
            <a:p>
              <a:pPr marL="0" algn="l">
                <a:lnSpc>
                  <a:spcPts val="5000"/>
                </a:lnSpc>
              </a:pPr>
              <a:r>
                <a:rPr lang="zh-CN" altLang="en-US" sz="2599" b="0" i="0" dirty="0">
                  <a:solidFill>
                    <a:srgbClr val="000000">
                      <a:alpha val="100000"/>
                    </a:srgbClr>
                  </a:solidFill>
                  <a:latin typeface="楷体"/>
                  <a:ea typeface="楷体"/>
                </a:rPr>
                <a:t>3、                是中国自主建设的全球卫星导航系统，具有快速定位、实时导航、简短通信和精密授时四项主要功能。</a:t>
              </a:r>
            </a:p>
          </p:txBody>
        </p:sp>
      </p:grpSp>
      <p:sp>
        <p:nvSpPr>
          <p:cNvPr id="8"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课前回顾</a:t>
            </a:r>
          </a:p>
        </p:txBody>
      </p:sp>
      <p:sp>
        <p:nvSpPr>
          <p:cNvPr id="9" name="文本2"/>
          <p:cNvSpPr txBox="1"/>
          <p:nvPr/>
        </p:nvSpPr>
        <p:spPr>
          <a:xfrm>
            <a:off x="7405811" y="1795432"/>
            <a:ext cx="1511300" cy="567118"/>
          </a:xfrm>
          <a:prstGeom prst="rect">
            <a:avLst/>
          </a:prstGeom>
          <a:noFill/>
        </p:spPr>
        <p:txBody>
          <a:bodyPr anchor="t"/>
          <a:lstStyle/>
          <a:p>
            <a:pPr marL="0" algn="l"/>
            <a:r>
              <a:rPr lang="zh-CN" altLang="en-US" sz="2599" b="0" i="0" dirty="0">
                <a:solidFill>
                  <a:srgbClr val="FF0000">
                    <a:alpha val="100000"/>
                  </a:srgbClr>
                </a:solidFill>
                <a:latin typeface="楷体"/>
                <a:ea typeface="楷体"/>
              </a:rPr>
              <a:t>互联阶段</a:t>
            </a:r>
          </a:p>
        </p:txBody>
      </p:sp>
      <p:sp>
        <p:nvSpPr>
          <p:cNvPr id="10" name="文本3"/>
          <p:cNvSpPr txBox="1"/>
          <p:nvPr/>
        </p:nvSpPr>
        <p:spPr>
          <a:xfrm>
            <a:off x="5838767" y="1587726"/>
            <a:ext cx="1511300" cy="830763"/>
          </a:xfrm>
          <a:prstGeom prst="rect">
            <a:avLst/>
          </a:prstGeom>
          <a:noFill/>
        </p:spPr>
        <p:txBody>
          <a:bodyPr anchor="t"/>
          <a:lstStyle/>
          <a:p>
            <a:pPr marL="0" algn="l">
              <a:lnSpc>
                <a:spcPts val="5000"/>
              </a:lnSpc>
            </a:pPr>
            <a:r>
              <a:rPr lang="zh-CN" altLang="en-US" sz="2599" b="0" i="0" dirty="0">
                <a:solidFill>
                  <a:srgbClr val="FF0000">
                    <a:alpha val="100000"/>
                  </a:srgbClr>
                </a:solidFill>
                <a:latin typeface="楷体"/>
                <a:ea typeface="楷体"/>
              </a:rPr>
              <a:t>形成阶段</a:t>
            </a:r>
          </a:p>
        </p:txBody>
      </p:sp>
      <p:sp>
        <p:nvSpPr>
          <p:cNvPr id="11" name="文本4"/>
          <p:cNvSpPr txBox="1"/>
          <p:nvPr/>
        </p:nvSpPr>
        <p:spPr>
          <a:xfrm>
            <a:off x="8726811" y="2834891"/>
            <a:ext cx="1511300" cy="830763"/>
          </a:xfrm>
          <a:prstGeom prst="rect">
            <a:avLst/>
          </a:prstGeom>
          <a:noFill/>
        </p:spPr>
        <p:txBody>
          <a:bodyPr anchor="t"/>
          <a:lstStyle/>
          <a:p>
            <a:pPr marL="0" algn="l">
              <a:lnSpc>
                <a:spcPts val="5000"/>
              </a:lnSpc>
            </a:pPr>
            <a:r>
              <a:rPr lang="zh-CN" altLang="en-US" sz="2599" b="0" i="0" dirty="0">
                <a:solidFill>
                  <a:srgbClr val="FF0000">
                    <a:alpha val="100000"/>
                  </a:srgbClr>
                </a:solidFill>
                <a:latin typeface="楷体"/>
                <a:ea typeface="楷体"/>
              </a:rPr>
              <a:t>电子邮件</a:t>
            </a:r>
          </a:p>
        </p:txBody>
      </p:sp>
      <p:sp>
        <p:nvSpPr>
          <p:cNvPr id="12" name="文本5"/>
          <p:cNvSpPr txBox="1"/>
          <p:nvPr/>
        </p:nvSpPr>
        <p:spPr>
          <a:xfrm>
            <a:off x="994609" y="4116672"/>
            <a:ext cx="2832100" cy="830763"/>
          </a:xfrm>
          <a:prstGeom prst="rect">
            <a:avLst/>
          </a:prstGeom>
          <a:noFill/>
        </p:spPr>
        <p:txBody>
          <a:bodyPr anchor="t"/>
          <a:lstStyle/>
          <a:p>
            <a:pPr marL="0" algn="l">
              <a:lnSpc>
                <a:spcPts val="5000"/>
              </a:lnSpc>
            </a:pPr>
            <a:r>
              <a:rPr lang="zh-CN" altLang="en-US" sz="2599" b="0" i="0" dirty="0">
                <a:solidFill>
                  <a:srgbClr val="FF0000">
                    <a:alpha val="100000"/>
                  </a:srgbClr>
                </a:solidFill>
                <a:latin typeface="楷体"/>
                <a:ea typeface="楷体"/>
              </a:rPr>
              <a:t>北斗卫星导航系统</a:t>
            </a:r>
          </a:p>
        </p:txBody>
      </p:sp>
      <p:sp>
        <p:nvSpPr>
          <p:cNvPr id="13" name="形状1"/>
          <p:cNvSpPr txBox="1"/>
          <p:nvPr/>
        </p:nvSpPr>
        <p:spPr>
          <a:xfrm>
            <a:off x="5894896" y="2367086"/>
            <a:ext cx="1403442" cy="19050"/>
          </a:xfrm>
          <a:prstGeom prst="line"/>
          <a:solidFill>
            <a:srgbClr val="166EE1">
              <a:alpha val="100000"/>
            </a:srgbClr>
          </a:solidFill>
          <a:ln w="19050">
            <a:solidFill>
              <a:srgbClr val="166EE1">
                <a:alpha val="100000"/>
              </a:srgbClr>
            </a:solidFill>
            <a:prstDash val="solid"/>
          </a:ln>
        </p:spPr>
        <p:txBody>
          <a:bodyPr anchor="ctr"/>
          <a:lstStyle/>
          <a:p>
            <a:pPr marL="0" algn="ctr"/>
          </a:p>
        </p:txBody>
      </p:sp>
      <p:sp>
        <p:nvSpPr>
          <p:cNvPr id="14" name="形状2"/>
          <p:cNvSpPr txBox="1"/>
          <p:nvPr/>
        </p:nvSpPr>
        <p:spPr>
          <a:xfrm>
            <a:off x="7459846" y="2367011"/>
            <a:ext cx="1403442" cy="19050"/>
          </a:xfrm>
          <a:prstGeom prst="line"/>
          <a:solidFill>
            <a:srgbClr val="166EE1">
              <a:alpha val="100000"/>
            </a:srgbClr>
          </a:solidFill>
          <a:ln w="19050">
            <a:solidFill>
              <a:srgbClr val="166EE1">
                <a:alpha val="100000"/>
              </a:srgbClr>
            </a:solidFill>
            <a:prstDash val="solid"/>
          </a:ln>
        </p:spPr>
        <p:txBody>
          <a:bodyPr anchor="ctr"/>
          <a:lstStyle/>
          <a:p>
            <a:pPr marL="0" algn="ctr"/>
          </a:p>
        </p:txBody>
      </p:sp>
      <p:sp>
        <p:nvSpPr>
          <p:cNvPr id="15" name="形状3"/>
          <p:cNvSpPr txBox="1"/>
          <p:nvPr/>
        </p:nvSpPr>
        <p:spPr>
          <a:xfrm flipV="1">
            <a:off x="8809088" y="3546635"/>
            <a:ext cx="1446204" cy="1191"/>
          </a:xfrm>
          <a:prstGeom prst="line"/>
          <a:solidFill>
            <a:srgbClr val="166EE1">
              <a:alpha val="100000"/>
            </a:srgbClr>
          </a:solidFill>
          <a:ln w="19050">
            <a:solidFill>
              <a:srgbClr val="166EE1">
                <a:alpha val="100000"/>
              </a:srgbClr>
            </a:solidFill>
            <a:prstDash val="solid"/>
          </a:ln>
        </p:spPr>
        <p:txBody>
          <a:bodyPr anchor="ctr"/>
          <a:lstStyle/>
          <a:p>
            <a:pPr marL="0" algn="ctr"/>
          </a:p>
        </p:txBody>
      </p:sp>
      <p:sp>
        <p:nvSpPr>
          <p:cNvPr id="16" name="形状4"/>
          <p:cNvSpPr txBox="1"/>
          <p:nvPr/>
        </p:nvSpPr>
        <p:spPr>
          <a:xfrm>
            <a:off x="1062598" y="4937904"/>
            <a:ext cx="2717826" cy="2101"/>
          </a:xfrm>
          <a:prstGeom prst="line"/>
          <a:solidFill>
            <a:srgbClr val="166EE1">
              <a:alpha val="100000"/>
            </a:srgbClr>
          </a:solidFill>
          <a:ln w="19050">
            <a:solidFill>
              <a:srgbClr val="166EE1">
                <a:alpha val="100000"/>
              </a:srgbClr>
            </a:solidFill>
            <a:prstDash val="solid"/>
          </a:ln>
        </p:spPr>
        <p:txBody>
          <a:bodyPr anchor="ctr"/>
          <a:lstStyle/>
          <a:p>
            <a:pPr marL="0" algn="ctr"/>
          </a:p>
        </p:txBody>
      </p:sp>
      <p:pic>
        <p:nvPicPr>
          <p:cNvPr id="17"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6414678" y="895055"/>
            <a:ext cx="358816" cy="693058"/>
          </a:xfrm>
          <a:prstGeom prst="rect">
            <a:avLst/>
          </a:prstGeom>
          <a:effectLst>
            <a:outerShdw blurRad="76200" sx="101000" sy="101000" algn="ctr" rotWithShape="0">
              <a:srgbClr val="000000">
                <a:alpha val="45000"/>
              </a:srgbClr>
            </a:outerShdw>
          </a:effectLst>
        </p:spPr>
      </p:pic>
      <p:pic>
        <p:nvPicPr>
          <p:cNvPr id="18"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7954242" y="1141446"/>
            <a:ext cx="414338" cy="391630"/>
          </a:xfrm>
          <a:prstGeom prst="rect">
            <a:avLst/>
          </a:prstGeom>
          <a:effectLst>
            <a:outerShdw blurRad="76200" sx="101000" sy="101000" algn="ctr" rotWithShape="0">
              <a:srgbClr val="000000">
                <a:alpha val="45000"/>
              </a:srgbClr>
            </a:outerShdw>
          </a:effectLst>
        </p:spPr>
      </p:pic>
      <p:sp>
        <p:nvSpPr>
          <p:cNvPr id="19" name="形状5"/>
          <p:cNvSpPr txBox="1"/>
          <p:nvPr/>
        </p:nvSpPr>
        <p:spPr>
          <a:xfrm>
            <a:off x="5961878" y="1410548"/>
            <a:ext cx="389383" cy="389383"/>
          </a:xfrm>
          <a:custGeom>
            <a:avLst/>
            <a:gdLst>
              <a:gd name="connsiteX0" fmla="*/ 0 w 389383"/>
              <a:gd name="connsiteY0" fmla="*/ 130605 h 389383"/>
              <a:gd name="connsiteX1" fmla="*/ 0 w 389383"/>
              <a:gd name="connsiteY1" fmla="*/ 136078 h 389383"/>
              <a:gd name="connsiteX2" fmla="*/ 4919 w 389383"/>
              <a:gd name="connsiteY2" fmla="*/ 150223 h 389383"/>
              <a:gd name="connsiteX3" fmla="*/ 5497 w 389383"/>
              <a:gd name="connsiteY3" fmla="*/ 152527 h 389383"/>
              <a:gd name="connsiteX4" fmla="*/ 8342 w 389383"/>
              <a:gd name="connsiteY4" fmla="*/ 156249 h 389383"/>
              <a:gd name="connsiteX5" fmla="*/ 12209 w 389383"/>
              <a:gd name="connsiteY5" fmla="*/ 163054 h 389383"/>
              <a:gd name="connsiteX6" fmla="*/ 12965 w 389383"/>
              <a:gd name="connsiteY6" fmla="*/ 162294 h 389383"/>
              <a:gd name="connsiteX7" fmla="*/ 21455 w 389383"/>
              <a:gd name="connsiteY7" fmla="*/ 173396 h 389383"/>
              <a:gd name="connsiteX8" fmla="*/ 63296 w 389383"/>
              <a:gd name="connsiteY8" fmla="*/ 213848 h 389383"/>
              <a:gd name="connsiteX9" fmla="*/ 292037 w 389383"/>
              <a:gd name="connsiteY9" fmla="*/ 193789 h 389383"/>
              <a:gd name="connsiteX10" fmla="*/ 389383 w 389383"/>
              <a:gd name="connsiteY10" fmla="*/ 293659 h 389383"/>
              <a:gd name="connsiteX11" fmla="*/ 292037 w 389383"/>
              <a:gd name="connsiteY11" fmla="*/ 385235 h 389383"/>
              <a:gd name="connsiteX12" fmla="*/ 292037 w 389383"/>
              <a:gd name="connsiteY12" fmla="*/ 321961 h 389383"/>
              <a:gd name="connsiteX13" fmla="*/ 120117 w 389383"/>
              <a:gd name="connsiteY13" fmla="*/ 307072 h 389383"/>
              <a:gd name="connsiteX14" fmla="*/ 0 w 389383"/>
              <a:gd name="connsiteY14" fmla="*/ 130605 h 389383"/>
              <a:gd name="connsiteX0" fmla="*/ 311506 w 389383"/>
              <a:gd name="connsiteY0" fmla="*/ 2639 h 389383"/>
              <a:gd name="connsiteX1" fmla="*/ 311506 w 389383"/>
              <a:gd name="connsiteY1" fmla="*/ 67536 h 389383"/>
              <a:gd name="connsiteX2" fmla="*/ 183713 w 389383"/>
              <a:gd name="connsiteY2" fmla="*/ 76285 h 389383"/>
              <a:gd name="connsiteX3" fmla="*/ 12965 w 389383"/>
              <a:gd name="connsiteY3" fmla="*/ 162294 h 389383"/>
              <a:gd name="connsiteX4" fmla="*/ 8342 w 389383"/>
              <a:gd name="connsiteY4" fmla="*/ 156249 h 389383"/>
              <a:gd name="connsiteX5" fmla="*/ 4919 w 389383"/>
              <a:gd name="connsiteY5" fmla="*/ 150223 h 389383"/>
              <a:gd name="connsiteX6" fmla="*/ 0 w 389383"/>
              <a:gd name="connsiteY6" fmla="*/ 130605 h 389383"/>
              <a:gd name="connsiteX7" fmla="*/ 0 w 389383"/>
              <a:gd name="connsiteY7" fmla="*/ 68543 h 389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9383" h="382597">
                <a:moveTo>
                  <a:pt x="0" y="130605"/>
                </a:moveTo>
                <a:cubicBezTo>
                  <a:pt x="0" y="136078"/>
                  <a:pt x="1025" y="141540"/>
                  <a:pt x="3064" y="146958"/>
                </a:cubicBezTo>
                <a:lnTo>
                  <a:pt x="4919" y="150223"/>
                </a:lnTo>
                <a:lnTo>
                  <a:pt x="5497" y="152527"/>
                </a:lnTo>
                <a:lnTo>
                  <a:pt x="8342" y="156249"/>
                </a:lnTo>
                <a:lnTo>
                  <a:pt x="12209" y="163054"/>
                </a:lnTo>
                <a:lnTo>
                  <a:pt x="12965" y="162294"/>
                </a:lnTo>
                <a:lnTo>
                  <a:pt x="21455" y="173396"/>
                </a:lnTo>
                <a:cubicBezTo>
                  <a:pt x="63296" y="213848"/>
                  <a:pt x="163097" y="245897"/>
                  <a:pt x="292037" y="257064"/>
                </a:cubicBezTo>
                <a:lnTo>
                  <a:pt x="292037" y="193789"/>
                </a:lnTo>
                <a:lnTo>
                  <a:pt x="389383" y="293659"/>
                </a:lnTo>
                <a:lnTo>
                  <a:pt x="292037" y="385235"/>
                </a:lnTo>
                <a:lnTo>
                  <a:pt x="292037" y="321961"/>
                </a:lnTo>
                <a:cubicBezTo>
                  <a:pt x="120117" y="307072"/>
                  <a:pt x="0" y="255058"/>
                  <a:pt x="0" y="195502"/>
                </a:cubicBezTo>
                <a:lnTo>
                  <a:pt x="0" y="130605"/>
                </a:lnTo>
                <a:close/>
              </a:path>
              <a:path w="389383" h="382597">
                <a:moveTo>
                  <a:pt x="311506" y="2639"/>
                </a:moveTo>
                <a:lnTo>
                  <a:pt x="311506" y="67536"/>
                </a:lnTo>
                <a:cubicBezTo>
                  <a:pt x="183713" y="76285"/>
                  <a:pt x="78762" y="105775"/>
                  <a:pt x="29712" y="145455"/>
                </a:cubicBezTo>
                <a:lnTo>
                  <a:pt x="12965" y="162294"/>
                </a:lnTo>
                <a:lnTo>
                  <a:pt x="8342" y="156249"/>
                </a:lnTo>
                <a:lnTo>
                  <a:pt x="4919" y="150223"/>
                </a:lnTo>
                <a:lnTo>
                  <a:pt x="0" y="130605"/>
                </a:lnTo>
                <a:cubicBezTo>
                  <a:pt x="0" y="68543"/>
                  <a:pt x="130213" y="15051"/>
                  <a:pt x="311506" y="2639"/>
                </a:cubicBezTo>
                <a:close/>
              </a:path>
            </a:pathLst>
          </a:custGeom>
          <a:solidFill>
            <a:srgbClr val="166EE1">
              <a:alpha val="100000"/>
            </a:srgbClr>
          </a:solidFill>
          <a:ln w="9525">
            <a:solidFill>
              <a:srgbClr val="FFFFFF">
                <a:alpha val="0"/>
              </a:srgbClr>
            </a:solidFill>
          </a:ln>
        </p:spPr>
        <p:txBody>
          <a:bodyPr anchor="ctr"/>
          <a:lstStyle/>
          <a:p>
            <a:pPr marL="0" algn="ctr"/>
          </a:p>
        </p:txBody>
      </p:sp>
      <p:sp>
        <p:nvSpPr>
          <p:cNvPr id="20" name="形状6"/>
          <p:cNvSpPr txBox="1"/>
          <p:nvPr/>
        </p:nvSpPr>
        <p:spPr>
          <a:xfrm>
            <a:off x="7641107" y="1426206"/>
            <a:ext cx="313182" cy="389382"/>
          </a:xfrm>
          <a:custGeom>
            <a:avLst/>
            <a:gdLst>
              <a:gd name="connsiteX0" fmla="*/ 0 w 313182"/>
              <a:gd name="connsiteY0" fmla="*/ 141357 h 389382"/>
              <a:gd name="connsiteX1" fmla="*/ 0 w 313182"/>
              <a:gd name="connsiteY1" fmla="*/ 149414 h 389382"/>
              <a:gd name="connsiteX2" fmla="*/ 6399 w 313182"/>
              <a:gd name="connsiteY2" fmla="*/ 168564 h 389382"/>
              <a:gd name="connsiteX3" fmla="*/ 6980 w 313182"/>
              <a:gd name="connsiteY3" fmla="*/ 171034 h 389382"/>
              <a:gd name="connsiteX4" fmla="*/ 7419 w 313182"/>
              <a:gd name="connsiteY4" fmla="*/ 170358 h 389382"/>
              <a:gd name="connsiteX5" fmla="*/ 17256 w 313182"/>
              <a:gd name="connsiteY5" fmla="*/ 187670 h 389382"/>
              <a:gd name="connsiteX6" fmla="*/ 50909 w 313182"/>
              <a:gd name="connsiteY6" fmla="*/ 231452 h 389382"/>
              <a:gd name="connsiteX7" fmla="*/ 234886 w 313182"/>
              <a:gd name="connsiteY7" fmla="*/ 230912 h 389382"/>
              <a:gd name="connsiteX8" fmla="*/ 313182 w 313182"/>
              <a:gd name="connsiteY8" fmla="*/ 312391 h 389382"/>
              <a:gd name="connsiteX9" fmla="*/ 234886 w 313182"/>
              <a:gd name="connsiteY9" fmla="*/ 384893 h 389382"/>
              <a:gd name="connsiteX10" fmla="*/ 234886 w 313182"/>
              <a:gd name="connsiteY10" fmla="*/ 337580 h 389382"/>
              <a:gd name="connsiteX11" fmla="*/ 96611 w 313182"/>
              <a:gd name="connsiteY11" fmla="*/ 321465 h 389382"/>
              <a:gd name="connsiteX12" fmla="*/ 0 w 313182"/>
              <a:gd name="connsiteY12" fmla="*/ 141357 h 389382"/>
              <a:gd name="connsiteX0" fmla="*/ 250546 w 313182"/>
              <a:gd name="connsiteY0" fmla="*/ 2856 h 389382"/>
              <a:gd name="connsiteX1" fmla="*/ 250546 w 313182"/>
              <a:gd name="connsiteY1" fmla="*/ 62210 h 389382"/>
              <a:gd name="connsiteX2" fmla="*/ 143917 w 313182"/>
              <a:gd name="connsiteY2" fmla="*/ 72034 h 389382"/>
              <a:gd name="connsiteX3" fmla="*/ 7419 w 313182"/>
              <a:gd name="connsiteY3" fmla="*/ 170358 h 389382"/>
              <a:gd name="connsiteX4" fmla="*/ 6399 w 313182"/>
              <a:gd name="connsiteY4" fmla="*/ 168564 h 389382"/>
              <a:gd name="connsiteX5" fmla="*/ 0 w 313182"/>
              <a:gd name="connsiteY5" fmla="*/ 141357 h 389382"/>
              <a:gd name="connsiteX6" fmla="*/ 0 w 313182"/>
              <a:gd name="connsiteY6" fmla="*/ 74185 h 389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3182" h="382037">
                <a:moveTo>
                  <a:pt x="0" y="141357"/>
                </a:moveTo>
                <a:cubicBezTo>
                  <a:pt x="0" y="149414"/>
                  <a:pt x="1510" y="157344"/>
                  <a:pt x="4421" y="165084"/>
                </a:cubicBezTo>
                <a:lnTo>
                  <a:pt x="6399" y="168564"/>
                </a:lnTo>
                <a:lnTo>
                  <a:pt x="6980" y="171034"/>
                </a:lnTo>
                <a:lnTo>
                  <a:pt x="7419" y="170358"/>
                </a:lnTo>
                <a:lnTo>
                  <a:pt x="17256" y="187670"/>
                </a:lnTo>
                <a:cubicBezTo>
                  <a:pt x="50909" y="231452"/>
                  <a:pt x="131180" y="266140"/>
                  <a:pt x="234886" y="278226"/>
                </a:cubicBezTo>
                <a:lnTo>
                  <a:pt x="234886" y="230912"/>
                </a:lnTo>
                <a:lnTo>
                  <a:pt x="313182" y="312391"/>
                </a:lnTo>
                <a:lnTo>
                  <a:pt x="234886" y="384893"/>
                </a:lnTo>
                <a:lnTo>
                  <a:pt x="234886" y="337580"/>
                </a:lnTo>
                <a:cubicBezTo>
                  <a:pt x="96611" y="321465"/>
                  <a:pt x="0" y="265170"/>
                  <a:pt x="0" y="200711"/>
                </a:cubicBezTo>
                <a:lnTo>
                  <a:pt x="0" y="141357"/>
                </a:lnTo>
                <a:close/>
              </a:path>
              <a:path w="313182" h="382037">
                <a:moveTo>
                  <a:pt x="250546" y="2856"/>
                </a:moveTo>
                <a:lnTo>
                  <a:pt x="250546" y="62210"/>
                </a:lnTo>
                <a:cubicBezTo>
                  <a:pt x="143917" y="72034"/>
                  <a:pt x="57400" y="105963"/>
                  <a:pt x="19944" y="151061"/>
                </a:cubicBezTo>
                <a:lnTo>
                  <a:pt x="7419" y="170358"/>
                </a:lnTo>
                <a:lnTo>
                  <a:pt x="6399" y="168564"/>
                </a:lnTo>
                <a:lnTo>
                  <a:pt x="0" y="141357"/>
                </a:lnTo>
                <a:cubicBezTo>
                  <a:pt x="0" y="74185"/>
                  <a:pt x="104731" y="16290"/>
                  <a:pt x="250546" y="2856"/>
                </a:cubicBezTo>
                <a:close/>
              </a:path>
            </a:pathLst>
          </a:custGeom>
          <a:solidFill>
            <a:srgbClr val="166EE1">
              <a:alpha val="100000"/>
            </a:srgbClr>
          </a:solidFill>
          <a:ln w="9525">
            <a:solidFill>
              <a:srgbClr val="FFFFFF">
                <a:alpha val="0"/>
              </a:srgbClr>
            </a:solidFill>
          </a:ln>
        </p:spPr>
        <p:txBody>
          <a:bodyPr anchor="ctr"/>
          <a:lstStyle/>
          <a:p>
            <a:pPr marL="0" algn="ctr"/>
          </a:p>
        </p:txBody>
      </p:sp>
      <p:pic>
        <p:nvPicPr>
          <p:cNvPr id="21" name="图片3">
            <a:extLst>
              <a:ext uri="{FF2B5EF4-FFF2-40B4-BE49-F238E27FC236}">
                <a16:creationId xmlns:a16="http://schemas.microsoft.com/office/drawing/2014/main" id="{69ED34C6-1862-8A8A-03F9-2D1EFC8C3215}"/>
              </a:ext>
            </a:extLst>
          </p:cNvPr>
          <p:cNvPicPr>
            <a:picLocks noChangeAspect="1"/>
          </p:cNvPicPr>
          <p:nvPr/>
        </p:nvPicPr>
        <p:blipFill>
          <a:blip r:embed="rId4"/>
          <a:stretch>
            <a:fillRect/>
          </a:stretch>
        </p:blipFill>
        <p:spPr>
          <a:xfrm>
            <a:off x="5895137" y="1807550"/>
            <a:ext cx="2967628" cy="487794"/>
          </a:xfrm>
          <a:prstGeom prst="rect">
            <a:avLst/>
          </a:prstGeom>
        </p:spPr>
      </p:pic>
      <p:pic>
        <p:nvPicPr>
          <p:cNvPr id="22" name="图片4">
            <a:extLst>
              <a:ext uri="{FF2B5EF4-FFF2-40B4-BE49-F238E27FC236}">
                <a16:creationId xmlns:a16="http://schemas.microsoft.com/office/drawing/2014/main" id="{69ED34C6-1862-8A8A-03F9-2D1EFC8C3215}"/>
              </a:ext>
            </a:extLst>
          </p:cNvPr>
          <p:cNvPicPr>
            <a:picLocks noChangeAspect="1"/>
          </p:cNvPicPr>
          <p:nvPr/>
        </p:nvPicPr>
        <p:blipFill>
          <a:blip r:embed="rId5"/>
          <a:stretch>
            <a:fillRect/>
          </a:stretch>
        </p:blipFill>
        <p:spPr>
          <a:xfrm>
            <a:off x="8708069" y="3006823"/>
            <a:ext cx="1446600" cy="487794"/>
          </a:xfrm>
          <a:prstGeom prst="rect">
            <a:avLst/>
          </a:prstGeom>
        </p:spPr>
      </p:pic>
      <p:pic>
        <p:nvPicPr>
          <p:cNvPr id="23" name="图片5">
            <a:extLst>
              <a:ext uri="{FF2B5EF4-FFF2-40B4-BE49-F238E27FC236}">
                <a16:creationId xmlns:a16="http://schemas.microsoft.com/office/drawing/2014/main" id="{69ED34C6-1862-8A8A-03F9-2D1EFC8C3215}"/>
              </a:ext>
            </a:extLst>
          </p:cNvPr>
          <p:cNvPicPr>
            <a:picLocks noChangeAspect="1"/>
          </p:cNvPicPr>
          <p:nvPr/>
        </p:nvPicPr>
        <p:blipFill>
          <a:blip r:embed="rId6"/>
          <a:stretch>
            <a:fillRect/>
          </a:stretch>
        </p:blipFill>
        <p:spPr>
          <a:xfrm>
            <a:off x="994258" y="4288422"/>
            <a:ext cx="2718187" cy="487794"/>
          </a:xfrm>
          <a:prstGeom prst="rect">
            <a:avLst/>
          </a:prstGeom>
        </p:spPr>
      </p:pic>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xit" presetSubtype="0" fill="hold" grpId="0" nodeType="clickEffect">
                                  <p:stCondLst>
                                    <p:cond delay="0"/>
                                  </p:stCondLst>
                                  <p:childTnLst>
                                    <p:set>
                                      <p:cBhvr>
                                        <p:cTn id="3" dur="1" fill="hold">
                                          <p:stCondLst>
                                            <p:cond delay="300"/>
                                          </p:stCondLst>
                                        </p:cTn>
                                        <p:tgtEl>
                                          <p:spTgt spid="21"/>
                                        </p:tgtEl>
                                        <p:attrNameLst>
                                          <p:attrName>style.visibility</p:attrName>
                                        </p:attrNameLst>
                                      </p:cBhvr>
                                      <p:to>
                                        <p:strVal val="hidden"/>
                                      </p:to>
                                    </p:set>
                                    <p:animEffect transition="out" filter="fade">
                                      <p:cBhvr>
                                        <p:cTn id="4" dur="3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xit" presetSubtype="0" fill="hold" grpId="0" nodeType="clickEffect">
                                  <p:stCondLst>
                                    <p:cond delay="0"/>
                                  </p:stCondLst>
                                  <p:childTnLst>
                                    <p:set>
                                      <p:cBhvr>
                                        <p:cTn id="8" dur="1" fill="hold">
                                          <p:stCondLst>
                                            <p:cond delay="300"/>
                                          </p:stCondLst>
                                        </p:cTn>
                                        <p:tgtEl>
                                          <p:spTgt spid="22"/>
                                        </p:tgtEl>
                                        <p:attrNameLst>
                                          <p:attrName>style.visibility</p:attrName>
                                        </p:attrNameLst>
                                      </p:cBhvr>
                                      <p:to>
                                        <p:strVal val="hidden"/>
                                      </p:to>
                                    </p:set>
                                    <p:animEffect transition="out" filter="fade">
                                      <p:cBhvr>
                                        <p:cTn id="9" dur="3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xit" presetSubtype="0" fill="hold" grpId="0" nodeType="clickEffect">
                                  <p:stCondLst>
                                    <p:cond delay="0"/>
                                  </p:stCondLst>
                                  <p:childTnLst>
                                    <p:set>
                                      <p:cBhvr>
                                        <p:cTn id="13" dur="1" fill="hold">
                                          <p:stCondLst>
                                            <p:cond delay="300"/>
                                          </p:stCondLst>
                                        </p:cTn>
                                        <p:tgtEl>
                                          <p:spTgt spid="23"/>
                                        </p:tgtEl>
                                        <p:attrNameLst>
                                          <p:attrName>style.visibility</p:attrName>
                                        </p:attrNameLst>
                                      </p:cBhvr>
                                      <p:to>
                                        <p:strVal val="hidden"/>
                                      </p:to>
                                    </p:set>
                                    <p:animEffect transition="out" filter="fade">
                                      <p:cBhvr>
                                        <p:cTn id="14"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Lst>
  </p:timing>
</p:sld>
</file>

<file path=ppt/slides/slide2.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4"/>
          <a:stretch>
            <a:fillRect/>
          </a:stretch>
        </a:blipFill>
      </p:bgPr>
    </p:bg>
    <p:spTree>
      <p:nvGrpSpPr>
        <p:cNvPr id="1" name=""/>
        <p:cNvGrpSpPr/>
        <p:nvPr/>
      </p:nvGrpSpPr>
      <p:grpSpPr>
        <a:xfrm>
          <a:off x="0" y="0"/>
          <a:ext cx="0" cy="0"/>
          <a:chOff x="0" y="0"/>
          <a:chExt cx="0" cy="0"/>
        </a:xfrm>
      </p:grpSpPr>
      <p:sp>
        <p:nvSpPr>
          <p:cNvPr id="2" name="文本1"/>
          <p:cNvSpPr txBox="1"/>
          <p:nvPr/>
        </p:nvSpPr>
        <p:spPr>
          <a:xfrm>
            <a:off x="469655" y="95107"/>
            <a:ext cx="6872817" cy="960970"/>
          </a:xfrm>
          <a:prstGeom prst="rect">
            <a:avLst/>
          </a:prstGeom>
          <a:noFill/>
        </p:spPr>
        <p:txBody>
          <a:bodyPr anchor="b"/>
          <a:lstStyle/>
          <a:p>
            <a:pPr marL="0" algn="l">
              <a:lnSpc>
                <a:spcPts val="2600"/>
              </a:lnSpc>
            </a:pPr>
            <a:r>
              <a:rPr lang="zh-CN" altLang="en-US" sz="2400" b="1" i="0" dirty="0">
                <a:solidFill>
                  <a:srgbClr val="FFFFFF">
                    <a:alpha val="100000"/>
                  </a:srgbClr>
                </a:solidFill>
                <a:latin typeface="黑体"/>
                <a:ea typeface="黑体"/>
              </a:rPr>
              <a:t>义务教育信息科技课程资源</a:t>
            </a:r>
          </a:p>
        </p:txBody>
      </p:sp>
      <p:pic>
        <p:nvPicPr>
          <p:cNvPr id="3"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1353079" y="2830103"/>
            <a:ext cx="409575" cy="466725"/>
          </a:xfrm>
          <a:prstGeom prst="rect">
            <a:avLst/>
          </a:prstGeom>
        </p:spPr>
      </p:pic>
      <p:sp>
        <p:nvSpPr>
          <p:cNvPr id="4" name="文本2"/>
          <p:cNvSpPr txBox="1"/>
          <p:nvPr/>
        </p:nvSpPr>
        <p:spPr>
          <a:xfrm>
            <a:off x="285115" y="2960370"/>
            <a:ext cx="11857355" cy="1196975"/>
          </a:xfrm>
          <a:prstGeom prst="rect">
            <a:avLst/>
          </a:prstGeom>
          <a:noFill/>
        </p:spPr>
        <p:txBody>
          <a:bodyPr anchor="t"/>
          <a:lstStyle/>
          <a:p>
            <a:pPr marL="0" algn="ctr">
              <a:lnSpc>
                <a:spcPts val="5800"/>
              </a:lnSpc>
            </a:pPr>
            <a:r>
              <a:rPr lang="zh-CN" altLang="en-US" sz="4800" b="1" i="0" dirty="0">
                <a:solidFill>
                  <a:srgbClr val="FFFFFF">
                    <a:alpha val="100000"/>
                  </a:srgbClr>
                </a:solidFill>
                <a:latin typeface="黑体"/>
                <a:ea typeface="黑体"/>
              </a:rPr>
              <a:t>第</a:t>
            </a:r>
            <a:r>
              <a:rPr lang="zh-CN" altLang="en-US" sz="5400" b="1" i="0" dirty="0">
                <a:solidFill>
                  <a:srgbClr val="FFFFFF">
                    <a:alpha val="100000"/>
                  </a:srgbClr>
                </a:solidFill>
                <a:latin typeface="Times New Roman"/>
                <a:ea typeface="Times New Roman"/>
              </a:rPr>
              <a:t>2</a:t>
            </a:r>
            <a:r>
              <a:rPr lang="zh-CN" altLang="en-US" sz="4800" b="1" i="0" dirty="0">
                <a:solidFill>
                  <a:srgbClr val="FFFFFF">
                    <a:alpha val="100000"/>
                  </a:srgbClr>
                </a:solidFill>
                <a:latin typeface="黑体"/>
                <a:ea typeface="黑体"/>
              </a:rPr>
              <a:t>课　互联网应用新特征</a:t>
            </a:r>
          </a:p>
        </p:txBody>
      </p:sp>
      <p:sp>
        <p:nvSpPr>
          <p:cNvPr id="5" name="文本3"/>
          <p:cNvSpPr txBox="1"/>
          <p:nvPr/>
        </p:nvSpPr>
        <p:spPr>
          <a:xfrm>
            <a:off x="285115" y="1922145"/>
            <a:ext cx="11856720" cy="774065"/>
          </a:xfrm>
          <a:prstGeom prst="rect">
            <a:avLst/>
          </a:prstGeom>
          <a:noFill/>
        </p:spPr>
        <p:txBody>
          <a:bodyPr anchor="t"/>
          <a:lstStyle/>
          <a:p>
            <a:pPr marL="0" algn="ctr">
              <a:lnSpc>
                <a:spcPts val="3800"/>
              </a:lnSpc>
            </a:pPr>
            <a:r>
              <a:rPr lang="zh-CN" altLang="en-US" sz="3200" b="1" i="0" dirty="0">
                <a:solidFill>
                  <a:srgbClr val="FFFFFF">
                    <a:alpha val="100000"/>
                  </a:srgbClr>
                </a:solidFill>
                <a:latin typeface="黑体"/>
                <a:ea typeface="黑体"/>
              </a:rPr>
              <a:t>第一单元　探寻互联网新世界</a:t>
            </a:r>
          </a:p>
        </p:txBody>
      </p:sp>
      <p:pic>
        <p:nvPicPr>
          <p:cNvPr id="6"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516890" y="328295"/>
            <a:ext cx="4010025" cy="593090"/>
          </a:xfrm>
          <a:prstGeom prst="rect">
            <a:avLst/>
          </a:prstGeom>
        </p:spPr>
      </p:pic>
      <p:sp>
        <p:nvSpPr>
          <p:cNvPr id="7" name="文本4"/>
          <p:cNvSpPr txBox="1"/>
          <p:nvPr/>
        </p:nvSpPr>
        <p:spPr>
          <a:xfrm>
            <a:off x="440690" y="483870"/>
            <a:ext cx="5294630" cy="697865"/>
          </a:xfrm>
          <a:prstGeom prst="rect">
            <a:avLst/>
          </a:prstGeom>
          <a:noFill/>
        </p:spPr>
        <p:txBody>
          <a:bodyPr anchor="t"/>
          <a:lstStyle/>
          <a:p>
            <a:pPr marL="0" algn="ctr">
              <a:lnSpc>
                <a:spcPts val="2600"/>
              </a:lnSpc>
            </a:pPr>
            <a:r>
              <a:rPr lang="zh-CN" altLang="en-US" sz="2400" b="1" i="0" dirty="0">
                <a:solidFill>
                  <a:srgbClr val="FFFFFF">
                    <a:alpha val="100000"/>
                  </a:srgbClr>
                </a:solidFill>
                <a:latin typeface="黑体"/>
                <a:ea typeface="黑体"/>
              </a:rPr>
              <a:t>义务教育信息科技课程资源　七年级</a:t>
            </a:r>
          </a:p>
        </p:txBody>
      </p:sp>
    </p:spTree>
    <p:extLst>
      <p:ext uri="{BB962C8B-B14F-4D97-AF65-F5344CB8AC3E}">
        <p14:creationId xmlns:p14="http://schemas.microsoft.com/office/powerpoint/2010/main" val="840519474"/>
      </p:ext>
    </p:extLst>
  </p:cSld>
  <p:clrMapOvr>
    <a:masterClrMapping/>
  </p:clrMapOvr>
</p:sld>
</file>

<file path=ppt/slides/slide3.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2"/>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6"/>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学习目标</a:t>
            </a:r>
          </a:p>
        </p:txBody>
      </p:sp>
      <p:grpSp>
        <p:nvGrpSpPr>
          <p:cNvPr id="6" name="组合2"/>
          <p:cNvGrpSpPr/>
          <p:nvPr/>
        </p:nvGrpSpPr>
        <p:grpSpPr>
          <a:xfrm>
            <a:off x="2853806" y="1888398"/>
            <a:ext cx="613410" cy="557843"/>
            <a:chOff x="0" y="0"/>
            <a:chExt cx="613410" cy="557843"/>
          </a:xfrm>
        </p:grpSpPr>
        <p:sp>
          <p:nvSpPr>
            <p:cNvPr id="7" name="形状3"/>
            <p:cNvSpPr txBox="1"/>
            <p:nvPr/>
          </p:nvSpPr>
          <p:spPr>
            <a:xfrm>
              <a:off x="3810" y="99851"/>
              <a:ext cx="609600" cy="457200"/>
            </a:xfrm>
            <a:prstGeom prst="rect"/>
            <a:solidFill>
              <a:srgbClr val="284E75">
                <a:alpha val="100000"/>
              </a:srgbClr>
            </a:solidFill>
            <a:ln w="9525">
              <a:solidFill>
                <a:srgbClr val="FFFFFF">
                  <a:alpha val="0"/>
                </a:srgbClr>
              </a:solidFill>
            </a:ln>
            <a:effectLst>
              <a:outerShdw blurRad="0" dist="63500" dir="10800000" rotWithShape="0">
                <a:srgbClr val="2E5B88">
                  <a:alpha val="100000"/>
                </a:srgbClr>
              </a:outerShdw>
            </a:effectLst>
          </p:spPr>
          <p:txBody>
            <a:bodyPr anchor="ctr"/>
            <a:lstStyle/>
            <a:p>
              <a:pPr marL="0" algn="ctr"/>
            </a:p>
          </p:txBody>
        </p:sp>
        <p:sp>
          <p:nvSpPr>
            <p:cNvPr id="8" name="文本7"/>
            <p:cNvSpPr txBox="1"/>
            <p:nvPr/>
          </p:nvSpPr>
          <p:spPr>
            <a:xfrm>
              <a:off x="0" y="0"/>
              <a:ext cx="609600" cy="557843"/>
            </a:xfrm>
            <a:prstGeom prst="rect">
              <a:avLst/>
            </a:prstGeom>
            <a:noFill/>
          </p:spPr>
          <p:txBody>
            <a:bodyPr anchor="ctr"/>
            <a:lstStyle/>
            <a:p>
              <a:pPr marL="0" algn="ctr">
                <a:lnSpc>
                  <a:spcPts val="2800"/>
                </a:lnSpc>
              </a:pPr>
              <a:r>
                <a:rPr lang="zh-CN" altLang="en-US" sz="2400" b="1" i="0" dirty="0">
                  <a:solidFill>
                    <a:srgbClr val="000000">
                      <a:alpha val="100000"/>
                    </a:srgbClr>
                  </a:solidFill>
                  <a:latin typeface="Times New Roman"/>
                  <a:ea typeface="Times New Roman"/>
                </a:rPr>
                <a:t>1</a:t>
              </a:r>
            </a:p>
          </p:txBody>
        </p:sp>
      </p:grpSp>
      <p:grpSp>
        <p:nvGrpSpPr>
          <p:cNvPr id="9" name="组合3"/>
          <p:cNvGrpSpPr/>
          <p:nvPr/>
        </p:nvGrpSpPr>
        <p:grpSpPr>
          <a:xfrm>
            <a:off x="2853806" y="3193958"/>
            <a:ext cx="613410" cy="557843"/>
            <a:chOff x="0" y="0"/>
            <a:chExt cx="613410" cy="557843"/>
          </a:xfrm>
        </p:grpSpPr>
        <p:sp>
          <p:nvSpPr>
            <p:cNvPr id="10" name="形状4"/>
            <p:cNvSpPr txBox="1"/>
            <p:nvPr/>
          </p:nvSpPr>
          <p:spPr>
            <a:xfrm>
              <a:off x="3810" y="99851"/>
              <a:ext cx="609600" cy="457200"/>
            </a:xfrm>
            <a:prstGeom prst="rect"/>
            <a:solidFill>
              <a:srgbClr val="573A7A">
                <a:alpha val="100000"/>
              </a:srgbClr>
            </a:solidFill>
            <a:ln w="9525">
              <a:solidFill>
                <a:srgbClr val="FFFFFF">
                  <a:alpha val="0"/>
                </a:srgbClr>
              </a:solidFill>
            </a:ln>
            <a:effectLst>
              <a:outerShdw blurRad="0" dist="63500" dir="10800000" rotWithShape="0">
                <a:srgbClr val="65448E">
                  <a:alpha val="100000"/>
                </a:srgbClr>
              </a:outerShdw>
            </a:effectLst>
          </p:spPr>
          <p:txBody>
            <a:bodyPr anchor="ctr"/>
            <a:lstStyle/>
            <a:p>
              <a:pPr marL="0" algn="ctr"/>
            </a:p>
          </p:txBody>
        </p:sp>
        <p:sp>
          <p:nvSpPr>
            <p:cNvPr id="11" name="文本8"/>
            <p:cNvSpPr txBox="1"/>
            <p:nvPr/>
          </p:nvSpPr>
          <p:spPr>
            <a:xfrm>
              <a:off x="0" y="0"/>
              <a:ext cx="609600" cy="557843"/>
            </a:xfrm>
            <a:prstGeom prst="rect">
              <a:avLst/>
            </a:prstGeom>
            <a:noFill/>
          </p:spPr>
          <p:txBody>
            <a:bodyPr anchor="ctr"/>
            <a:lstStyle/>
            <a:p>
              <a:pPr marL="0" algn="ctr">
                <a:lnSpc>
                  <a:spcPts val="2800"/>
                </a:lnSpc>
              </a:pPr>
              <a:r>
                <a:rPr lang="zh-CN" altLang="en-US" sz="2400" b="1" i="0" dirty="0">
                  <a:solidFill>
                    <a:srgbClr val="000000">
                      <a:alpha val="100000"/>
                    </a:srgbClr>
                  </a:solidFill>
                  <a:latin typeface="Times New Roman"/>
                  <a:ea typeface="Times New Roman"/>
                </a:rPr>
                <a:t>2</a:t>
              </a:r>
            </a:p>
          </p:txBody>
        </p:sp>
      </p:grpSp>
      <p:sp>
        <p:nvSpPr>
          <p:cNvPr id="12" name="文本2"/>
          <p:cNvSpPr txBox="1"/>
          <p:nvPr/>
        </p:nvSpPr>
        <p:spPr>
          <a:xfrm>
            <a:off x="3681730" y="1937131"/>
            <a:ext cx="8121797" cy="65087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知道互联网应用的特征。</a:t>
            </a:r>
          </a:p>
        </p:txBody>
      </p:sp>
      <p:sp>
        <p:nvSpPr>
          <p:cNvPr id="13" name="形状1"/>
          <p:cNvSpPr txBox="1"/>
          <p:nvPr/>
        </p:nvSpPr>
        <p:spPr>
          <a:xfrm>
            <a:off x="2176718" y="1582887"/>
            <a:ext cx="12700" cy="3960000"/>
          </a:xfrm>
          <a:prstGeom prst="line"/>
          <a:solidFill>
            <a:srgbClr val="FFFFFF">
              <a:alpha val="0"/>
            </a:srgbClr>
          </a:solidFill>
          <a:ln w="12700">
            <a:solidFill>
              <a:srgbClr val="3C6EDE">
                <a:alpha val="100000"/>
              </a:srgbClr>
            </a:solidFill>
            <a:prstDash val="solid"/>
            <a:headEnd type="oval" w="med" len="med"/>
            <a:tailEnd type="oval" w="med" len="med"/>
          </a:ln>
        </p:spPr>
        <p:txBody>
          <a:bodyPr anchor="ctr"/>
          <a:lstStyle/>
          <a:p>
            <a:pPr marL="0" algn="ctr"/>
          </a:p>
        </p:txBody>
      </p:sp>
      <p:sp>
        <p:nvSpPr>
          <p:cNvPr id="14" name="文本3"/>
          <p:cNvSpPr txBox="1"/>
          <p:nvPr/>
        </p:nvSpPr>
        <p:spPr>
          <a:xfrm>
            <a:off x="3681730" y="3244272"/>
            <a:ext cx="8354695" cy="65087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知道我国互联网应用的发展状况。</a:t>
            </a:r>
          </a:p>
        </p:txBody>
      </p:sp>
      <p:pic>
        <p:nvPicPr>
          <p:cNvPr id="15" name="文本4"/>
          <p:cNvPicPr>
            <a:picLocks noChangeAspect="1"/>
          </p:cNvPicPr>
          <p:nvPr/>
        </p:nvPicPr>
        <p:blipFill>
          <a:fillRect/>
          <a:blip r:embed="rId2"/>
          <a:stretch/>
        </p:blipFill>
        <p:spPr>
          <a:xfrm>
            <a:off x="1330645" y="1856536"/>
            <a:ext cx="1021497" cy="2424991"/>
          </a:xfrm>
          <a:prstGeom prst="rect">
            <a:avLst/>
          </a:prstGeom>
        </p:spPr>
      </p:pic>
      <p:sp>
        <p:nvSpPr>
          <p:cNvPr id="16" name="文本5"/>
          <p:cNvSpPr txBox="1"/>
          <p:nvPr/>
        </p:nvSpPr>
        <p:spPr>
          <a:xfrm>
            <a:off x="3681730" y="4551045"/>
            <a:ext cx="8122285" cy="65087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认识互联网应用带来的影响。</a:t>
            </a:r>
          </a:p>
        </p:txBody>
      </p:sp>
      <p:grpSp>
        <p:nvGrpSpPr>
          <p:cNvPr id="17" name="组合4"/>
          <p:cNvGrpSpPr/>
          <p:nvPr/>
        </p:nvGrpSpPr>
        <p:grpSpPr>
          <a:xfrm>
            <a:off x="2853806" y="4499518"/>
            <a:ext cx="613410" cy="557843"/>
            <a:chOff x="0" y="0"/>
            <a:chExt cx="613410" cy="557843"/>
          </a:xfrm>
        </p:grpSpPr>
        <p:sp>
          <p:nvSpPr>
            <p:cNvPr id="18" name="形状5"/>
            <p:cNvSpPr txBox="1"/>
            <p:nvPr/>
          </p:nvSpPr>
          <p:spPr>
            <a:xfrm>
              <a:off x="3810" y="99851"/>
              <a:ext cx="609600" cy="457200"/>
            </a:xfrm>
            <a:prstGeom prst="rect"/>
            <a:solidFill>
              <a:srgbClr val="284E75">
                <a:alpha val="100000"/>
              </a:srgbClr>
            </a:solidFill>
            <a:ln w="9525">
              <a:solidFill>
                <a:srgbClr val="FFFFFF">
                  <a:alpha val="0"/>
                </a:srgbClr>
              </a:solidFill>
            </a:ln>
            <a:effectLst>
              <a:outerShdw blurRad="0" dist="63500" dir="10800000" rotWithShape="0">
                <a:srgbClr val="2E5B88">
                  <a:alpha val="100000"/>
                </a:srgbClr>
              </a:outerShdw>
            </a:effectLst>
          </p:spPr>
          <p:txBody>
            <a:bodyPr anchor="ctr"/>
            <a:lstStyle/>
            <a:p>
              <a:pPr marL="0" algn="ctr"/>
            </a:p>
          </p:txBody>
        </p:sp>
        <p:sp>
          <p:nvSpPr>
            <p:cNvPr id="19" name="文本9"/>
            <p:cNvSpPr txBox="1"/>
            <p:nvPr/>
          </p:nvSpPr>
          <p:spPr>
            <a:xfrm>
              <a:off x="0" y="0"/>
              <a:ext cx="609600" cy="557843"/>
            </a:xfrm>
            <a:prstGeom prst="rect">
              <a:avLst/>
            </a:prstGeom>
            <a:noFill/>
          </p:spPr>
          <p:txBody>
            <a:bodyPr anchor="ctr"/>
            <a:lstStyle/>
            <a:p>
              <a:pPr marL="0" algn="ctr">
                <a:lnSpc>
                  <a:spcPts val="2800"/>
                </a:lnSpc>
              </a:pPr>
              <a:r>
                <a:rPr lang="zh-CN" altLang="en-US" sz="2400" b="1" i="0" dirty="0">
                  <a:solidFill>
                    <a:srgbClr val="000000">
                      <a:alpha val="100000"/>
                    </a:srgbClr>
                  </a:solidFill>
                  <a:latin typeface="Times New Roman"/>
                  <a:ea typeface="Times New Roman"/>
                </a:rPr>
                <a:t>3</a:t>
              </a:r>
            </a:p>
          </p:txBody>
        </p:sp>
      </p:grpSp>
    </p:spTree>
    <p:extLst>
      <p:ext uri="{BB962C8B-B14F-4D97-AF65-F5344CB8AC3E}">
        <p14:creationId xmlns:p14="http://schemas.microsoft.com/office/powerpoint/2010/main" val="840519474"/>
      </p:ext>
    </p:extLst>
  </p:cSld>
  <p:clrMapOvr>
    <a:masterClrMapping/>
  </p:clrMapOvr>
</p:sld>
</file>

<file path=ppt/slides/slide4.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2"/>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4"/>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课堂导入</a:t>
            </a:r>
          </a:p>
        </p:txBody>
      </p:sp>
      <p:sp>
        <p:nvSpPr>
          <p:cNvPr id="6" name="形状1"/>
          <p:cNvSpPr txBox="1"/>
          <p:nvPr/>
        </p:nvSpPr>
        <p:spPr>
          <a:xfrm flipH="1">
            <a:off x="1400510" y="1827899"/>
            <a:ext cx="4231363" cy="12700"/>
          </a:xfrm>
          <a:prstGeom prst="line"/>
          <a:solidFill>
            <a:srgbClr val="FFFFFF">
              <a:alpha val="0"/>
            </a:srgbClr>
          </a:solidFill>
          <a:ln w="12700">
            <a:solidFill>
              <a:srgbClr val="3C6EDE">
                <a:alpha val="100000"/>
              </a:srgbClr>
            </a:solidFill>
            <a:prstDash val="solid"/>
            <a:headEnd type="oval" w="med" len="med"/>
            <a:tailEnd type="oval" w="med" len="med"/>
          </a:ln>
        </p:spPr>
        <p:txBody>
          <a:bodyPr anchor="ctr"/>
          <a:lstStyle/>
          <a:p>
            <a:pPr marL="0" algn="ctr"/>
          </a:p>
        </p:txBody>
      </p:sp>
      <p:sp>
        <p:nvSpPr>
          <p:cNvPr id="7" name="文本2"/>
          <p:cNvSpPr txBox="1"/>
          <p:nvPr/>
        </p:nvSpPr>
        <p:spPr>
          <a:xfrm>
            <a:off x="1295686" y="1139647"/>
            <a:ext cx="4996826" cy="713720"/>
          </a:xfrm>
          <a:prstGeom prst="rect">
            <a:avLst/>
          </a:prstGeom>
          <a:noFill/>
        </p:spPr>
        <p:txBody>
          <a:bodyPr anchor="t"/>
          <a:lstStyle/>
          <a:p>
            <a:pPr marL="0" algn="l">
              <a:lnSpc>
                <a:spcPts val="3300"/>
              </a:lnSpc>
            </a:pPr>
            <a:r>
              <a:rPr lang="zh-CN" altLang="en-US" sz="2800" b="1" i="0" dirty="0">
                <a:solidFill>
                  <a:srgbClr val="0070C0">
                    <a:alpha val="100000"/>
                  </a:srgbClr>
                </a:solidFill>
                <a:latin typeface="黑体"/>
                <a:ea typeface="黑体"/>
              </a:rPr>
              <a:t>问题情境</a:t>
            </a:r>
          </a:p>
        </p:txBody>
      </p:sp>
      <p:sp>
        <p:nvSpPr>
          <p:cNvPr id="8" name="文本3"/>
          <p:cNvSpPr txBox="1"/>
          <p:nvPr/>
        </p:nvSpPr>
        <p:spPr>
          <a:xfrm>
            <a:off x="7437596" y="2597020"/>
            <a:ext cx="4276090" cy="2530475"/>
          </a:xfrm>
          <a:prstGeom prst="rect">
            <a:avLst/>
          </a:prstGeom>
          <a:noFill/>
        </p:spPr>
        <p:txBody>
          <a:bodyPr anchor="t"/>
          <a:lstStyle/>
          <a:p>
            <a:pPr marL="-608400" algn="l">
              <a:lnSpc>
                <a:spcPts val="3600"/>
              </a:lnSpc>
              <a:buFont typeface="Arial"/>
              <a:buChar char=" "/>
            </a:pPr>
            <a:r>
              <a:rPr lang="zh-CN" altLang="en-US" sz="2400" b="0" i="0" dirty="0">
                <a:solidFill>
                  <a:srgbClr val="000000">
                    <a:alpha val="100000"/>
                  </a:srgbClr>
                </a:solidFill>
                <a:latin typeface="Times New Roman"/>
                <a:ea typeface="Times New Roman"/>
              </a:rPr>
              <a:t> 1</a:t>
            </a:r>
            <a:r>
              <a:rPr lang="zh-CN" altLang="en-US" sz="2400" b="0" i="0" dirty="0">
                <a:solidFill>
                  <a:srgbClr val="000000">
                    <a:alpha val="100000"/>
                  </a:srgbClr>
                </a:solidFill>
                <a:latin typeface="楷体"/>
                <a:ea typeface="楷体"/>
              </a:rPr>
              <a:t>．如果没有这些应用，你会如何完成类似的任务？</a:t>
            </a:r>
          </a:p>
          <a:p>
            <a:pPr marL="-608400" algn="l">
              <a:lnSpc>
                <a:spcPts val="3600"/>
              </a:lnSpc>
              <a:buFont typeface="Arial"/>
              <a:buChar char=" "/>
            </a:pPr>
            <a:r>
              <a:rPr lang="zh-CN" altLang="en-US" sz="2400" b="0" i="0" dirty="0">
                <a:solidFill>
                  <a:srgbClr val="000000">
                    <a:alpha val="100000"/>
                  </a:srgbClr>
                </a:solidFill>
                <a:latin typeface="Times New Roman"/>
                <a:ea typeface="Times New Roman"/>
              </a:rPr>
              <a:t/>
            </a:r>
          </a:p>
          <a:p>
            <a:pPr marL="-608400" algn="l">
              <a:lnSpc>
                <a:spcPts val="3600"/>
              </a:lnSpc>
              <a:buFont typeface="Arial"/>
              <a:buChar char=" "/>
            </a:pPr>
            <a:r>
              <a:rPr lang="zh-CN" altLang="en-US" sz="2400" b="0" i="0" dirty="0">
                <a:solidFill>
                  <a:srgbClr val="000000">
                    <a:alpha val="100000"/>
                  </a:srgbClr>
                </a:solidFill>
                <a:latin typeface="Times New Roman"/>
                <a:ea typeface="Times New Roman"/>
              </a:rPr>
              <a:t> 2</a:t>
            </a:r>
            <a:r>
              <a:rPr lang="zh-CN" altLang="en-US" sz="2400" b="0" i="0" dirty="0">
                <a:solidFill>
                  <a:srgbClr val="000000">
                    <a:alpha val="100000"/>
                  </a:srgbClr>
                </a:solidFill>
                <a:latin typeface="楷体"/>
                <a:ea typeface="楷体"/>
              </a:rPr>
              <a:t>．你觉得互联网应用有什么特征？</a:t>
            </a:r>
          </a:p>
        </p:txBody>
      </p:sp>
      <p:pic>
        <p:nvPicPr>
          <p:cNvPr id="9"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589988" y="2118503"/>
            <a:ext cx="6402549" cy="3482734"/>
          </a:xfrm>
          <a:prstGeom prst="rect">
            <a:avLst/>
          </a:prstGeom>
          <a:ln w="9525">
            <a:solidFill>
              <a:srgbClr val="D0CECE">
                <a:alpha val="100000"/>
              </a:srgbClr>
            </a:solidFill>
            <a:prstDash val="solid"/>
          </a:ln>
        </p:spPr>
      </p:pic>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 presetClass="entr" presetSubtype="4"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 calcmode="lin" valueType="num">
                                      <p:cBhvr>
                                        <p:cTn id="4" dur="500" fill="hold"/>
                                        <p:tgtEl>
                                          <p:spTgt spid="8"/>
                                        </p:tgtEl>
                                        <p:attrNameLst>
                                          <p:attrName>ppt_x</p:attrName>
                                        </p:attrNameLst>
                                      </p:cBhvr>
                                      <p:tavLst>
                                        <p:tav tm="0">
                                          <p:val>
                                            <p:strVal val="#ppt_x"/>
                                          </p:val>
                                        </p:tav>
                                        <p:tav tm="100000">
                                          <p:val>
                                            <p:strVal val="#ppt_x"/>
                                          </p:val>
                                        </p:tav>
                                      </p:tavLst>
                                    </p:anim>
                                    <p:anim calcmode="lin" valueType="num">
                                      <p:cBhvr>
                                        <p:cTn id="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2"/>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grpSp>
        <p:nvGrpSpPr>
          <p:cNvPr id="5" name="组合2"/>
          <p:cNvGrpSpPr/>
          <p:nvPr/>
        </p:nvGrpSpPr>
        <p:grpSpPr>
          <a:xfrm>
            <a:off x="968724" y="1789430"/>
            <a:ext cx="9906748" cy="3279140"/>
            <a:chOff x="0" y="0"/>
            <a:chExt cx="9906748" cy="3279140"/>
          </a:xfrm>
        </p:grpSpPr>
        <p:sp>
          <p:nvSpPr>
            <p:cNvPr id="6" name="形状2"/>
            <p:cNvSpPr txBox="1"/>
            <p:nvPr/>
          </p:nvSpPr>
          <p:spPr>
            <a:xfrm>
              <a:off x="0" y="0"/>
              <a:ext cx="3279140" cy="3279140"/>
            </a:xfrm>
            <a:prstGeom prst="ellipse"/>
            <a:solidFill>
              <a:srgbClr val="FFFFFF">
                <a:alpha val="0"/>
              </a:srgbClr>
            </a:solidFill>
            <a:ln w="12700">
              <a:solidFill>
                <a:srgbClr val="376FFF">
                  <a:alpha val="0"/>
                </a:srgbClr>
              </a:solidFill>
              <a:prstDash val="solid"/>
              <a:headEnd type="none" w="med" len="med"/>
              <a:tailEnd type="none" w="med" len="med"/>
            </a:ln>
          </p:spPr>
          <p:txBody>
            <a:bodyPr anchor="ctr"/>
            <a:lstStyle/>
            <a:p>
              <a:pPr marL="0" algn="ctr"/>
            </a:p>
          </p:txBody>
        </p:sp>
        <p:sp>
          <p:nvSpPr>
            <p:cNvPr id="7" name="形状3"/>
            <p:cNvSpPr txBox="1"/>
            <p:nvPr/>
          </p:nvSpPr>
          <p:spPr>
            <a:xfrm>
              <a:off x="3147699" y="2156734"/>
              <a:ext cx="81280" cy="81280"/>
            </a:xfrm>
            <a:prstGeom prst="ellipse"/>
            <a:solidFill>
              <a:srgbClr val="0080CD">
                <a:alpha val="100000"/>
              </a:srgbClr>
            </a:solidFill>
            <a:ln w="9525">
              <a:solidFill>
                <a:srgbClr val="FFFFFF">
                  <a:alpha val="0"/>
                </a:srgbClr>
              </a:solidFill>
            </a:ln>
          </p:spPr>
          <p:txBody>
            <a:bodyPr anchor="ctr"/>
            <a:lstStyle/>
            <a:p>
              <a:pPr marL="0" algn="ctr"/>
            </a:p>
          </p:txBody>
        </p:sp>
        <p:sp>
          <p:nvSpPr>
            <p:cNvPr id="8" name="形状4"/>
            <p:cNvSpPr txBox="1"/>
            <p:nvPr/>
          </p:nvSpPr>
          <p:spPr>
            <a:xfrm>
              <a:off x="3109761" y="959847"/>
              <a:ext cx="81280" cy="81280"/>
            </a:xfrm>
            <a:prstGeom prst="ellipse"/>
            <a:solidFill>
              <a:srgbClr val="0080CD">
                <a:alpha val="100000"/>
              </a:srgbClr>
            </a:solidFill>
            <a:ln w="9525">
              <a:solidFill>
                <a:srgbClr val="FFFFFF">
                  <a:alpha val="0"/>
                </a:srgbClr>
              </a:solidFill>
            </a:ln>
          </p:spPr>
          <p:txBody>
            <a:bodyPr anchor="ctr"/>
            <a:lstStyle/>
            <a:p>
              <a:pPr marL="0" algn="ctr"/>
            </a:p>
          </p:txBody>
        </p:sp>
        <p:sp>
          <p:nvSpPr>
            <p:cNvPr id="9" name="形状5"/>
            <p:cNvSpPr txBox="1"/>
            <p:nvPr/>
          </p:nvSpPr>
          <p:spPr>
            <a:xfrm>
              <a:off x="149225" y="149225"/>
              <a:ext cx="2980690" cy="2980690"/>
            </a:xfrm>
            <a:prstGeom prst="ellipse"/>
            <a:solidFill>
              <a:srgbClr val="FFFBEA">
                <a:alpha val="9803"/>
              </a:srgbClr>
            </a:solidFill>
            <a:ln w="9525">
              <a:solidFill>
                <a:srgbClr val="FFFFFF">
                  <a:alpha val="0"/>
                </a:srgbClr>
              </a:solidFill>
            </a:ln>
          </p:spPr>
          <p:txBody>
            <a:bodyPr anchor="ctr"/>
            <a:lstStyle/>
            <a:p>
              <a:pPr marL="0" algn="ctr"/>
            </a:p>
          </p:txBody>
        </p:sp>
        <p:sp>
          <p:nvSpPr>
            <p:cNvPr id="10" name="形状6"/>
            <p:cNvSpPr txBox="1"/>
            <p:nvPr/>
          </p:nvSpPr>
          <p:spPr>
            <a:xfrm>
              <a:off x="292735" y="292735"/>
              <a:ext cx="2693035" cy="2693035"/>
            </a:xfrm>
            <a:prstGeom prst="ellipse"/>
            <a:solidFill>
              <a:srgbClr val="D3E8C6">
                <a:alpha val="14901"/>
              </a:srgbClr>
            </a:solidFill>
            <a:ln w="9525">
              <a:solidFill>
                <a:srgbClr val="FFFFFF">
                  <a:alpha val="0"/>
                </a:srgbClr>
              </a:solidFill>
            </a:ln>
          </p:spPr>
          <p:txBody>
            <a:bodyPr anchor="ctr"/>
            <a:lstStyle/>
            <a:p>
              <a:pPr marL="0" algn="ctr"/>
            </a:p>
          </p:txBody>
        </p:sp>
        <p:sp>
          <p:nvSpPr>
            <p:cNvPr id="11" name="形状7"/>
            <p:cNvSpPr txBox="1"/>
            <p:nvPr/>
          </p:nvSpPr>
          <p:spPr>
            <a:xfrm>
              <a:off x="455930" y="455930"/>
              <a:ext cx="2367280" cy="2367280"/>
            </a:xfrm>
            <a:prstGeom prst="ellipse"/>
            <a:solidFill>
              <a:srgbClr val="22AA83">
                <a:alpha val="20000"/>
              </a:srgbClr>
            </a:solidFill>
            <a:ln w="9525">
              <a:solidFill>
                <a:srgbClr val="FFFFFF">
                  <a:alpha val="0"/>
                </a:srgbClr>
              </a:solidFill>
            </a:ln>
          </p:spPr>
          <p:txBody>
            <a:bodyPr anchor="ctr"/>
            <a:lstStyle/>
            <a:p>
              <a:pPr marL="0" algn="ctr"/>
            </a:p>
          </p:txBody>
        </p:sp>
        <p:sp>
          <p:nvSpPr>
            <p:cNvPr id="12" name="形状8"/>
            <p:cNvSpPr txBox="1"/>
            <p:nvPr/>
          </p:nvSpPr>
          <p:spPr>
            <a:xfrm>
              <a:off x="615315" y="615315"/>
              <a:ext cx="2047875" cy="2047875"/>
            </a:xfrm>
            <a:prstGeom prst="ellipse"/>
            <a:solidFill>
              <a:srgbClr val="22AA83">
                <a:alpha val="100000"/>
              </a:srgbClr>
            </a:solidFill>
            <a:ln w="9525">
              <a:solidFill>
                <a:srgbClr val="FFFFFF">
                  <a:alpha val="0"/>
                </a:srgbClr>
              </a:solidFill>
            </a:ln>
          </p:spPr>
          <p:txBody>
            <a:bodyPr anchor="ctr"/>
            <a:lstStyle/>
            <a:p>
              <a:pPr marL="0" algn="ctr"/>
            </a:p>
          </p:txBody>
        </p:sp>
        <p:pic>
          <p:nvPicPr>
            <p:cNvPr id="13"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1184436" y="874395"/>
              <a:ext cx="856615" cy="856615"/>
            </a:xfrm>
            <a:prstGeom prst="rect">
              <a:avLst/>
            </a:prstGeom>
          </p:spPr>
        </p:pic>
        <p:sp>
          <p:nvSpPr>
            <p:cNvPr id="14" name="文本3"/>
            <p:cNvSpPr txBox="1"/>
            <p:nvPr/>
          </p:nvSpPr>
          <p:spPr>
            <a:xfrm>
              <a:off x="934960" y="1801429"/>
              <a:ext cx="1560731" cy="621387"/>
            </a:xfrm>
            <a:prstGeom prst="rect">
              <a:avLst/>
            </a:prstGeom>
            <a:noFill/>
          </p:spPr>
          <p:txBody>
            <a:bodyPr anchor="t"/>
            <a:lstStyle/>
            <a:p>
              <a:pPr marL="0" algn="ctr">
                <a:lnSpc>
                  <a:spcPts val="2600"/>
                </a:lnSpc>
              </a:pPr>
              <a:r>
                <a:rPr lang="zh-CN" altLang="en-US" sz="2199" b="1" i="0" dirty="0">
                  <a:solidFill>
                    <a:srgbClr val="FFFFFF">
                      <a:alpha val="100000"/>
                    </a:srgbClr>
                  </a:solidFill>
                  <a:latin typeface="黑体"/>
                  <a:ea typeface="黑体"/>
                </a:rPr>
                <a:t>学习内容</a:t>
              </a:r>
            </a:p>
          </p:txBody>
        </p:sp>
        <p:sp>
          <p:nvSpPr>
            <p:cNvPr id="15" name="形状9"/>
            <p:cNvSpPr txBox="1"/>
            <p:nvPr/>
          </p:nvSpPr>
          <p:spPr>
            <a:xfrm>
              <a:off x="4298335" y="729148"/>
              <a:ext cx="5421723" cy="474029"/>
            </a:xfrm>
            <a:prstGeom prst="roundRect"/>
            <a:solidFill>
              <a:srgbClr val="01431D">
                <a:alpha val="100000"/>
              </a:srgbClr>
            </a:solidFill>
            <a:ln w="9525">
              <a:solidFill>
                <a:srgbClr val="FFFFFF">
                  <a:alpha val="0"/>
                </a:srgbClr>
              </a:solidFill>
            </a:ln>
          </p:spPr>
          <p:txBody>
            <a:bodyPr anchor="ctr"/>
            <a:lstStyle/>
            <a:p>
              <a:pPr marL="0" algn="ctr"/>
            </a:p>
          </p:txBody>
        </p:sp>
        <p:sp>
          <p:nvSpPr>
            <p:cNvPr id="16" name="形状10"/>
            <p:cNvSpPr txBox="1"/>
            <p:nvPr/>
          </p:nvSpPr>
          <p:spPr>
            <a:xfrm rot="18614181">
              <a:off x="4104123" y="689846"/>
              <a:ext cx="539999" cy="540001"/>
            </a:xfrm>
            <a:prstGeom prst="rect"/>
            <a:solidFill>
              <a:srgbClr val="01621F">
                <a:alpha val="100000"/>
              </a:srgbClr>
            </a:solidFill>
            <a:ln w="9525">
              <a:solidFill>
                <a:srgbClr val="FFFFFF">
                  <a:alpha val="0"/>
                </a:srgbClr>
              </a:solidFill>
            </a:ln>
          </p:spPr>
          <p:txBody>
            <a:bodyPr anchor="ctr"/>
            <a:lstStyle/>
            <a:p>
              <a:pPr marL="0" algn="ctr"/>
            </a:p>
          </p:txBody>
        </p:sp>
        <p:sp>
          <p:nvSpPr>
            <p:cNvPr id="17" name="文本4"/>
            <p:cNvSpPr txBox="1"/>
            <p:nvPr/>
          </p:nvSpPr>
          <p:spPr>
            <a:xfrm>
              <a:off x="4106450" y="636916"/>
              <a:ext cx="5800298" cy="713720"/>
            </a:xfrm>
            <a:prstGeom prst="rect">
              <a:avLst/>
            </a:prstGeom>
            <a:noFill/>
          </p:spPr>
          <p:txBody>
            <a:bodyPr anchor="t"/>
            <a:lstStyle/>
            <a:p>
              <a:pPr marL="0" algn="l">
                <a:lnSpc>
                  <a:spcPts val="3300"/>
                </a:lnSpc>
              </a:pPr>
              <a:r>
                <a:rPr lang="zh-CN" altLang="en-US" sz="2800" b="0" i="0" dirty="0">
                  <a:solidFill>
                    <a:srgbClr val="FFFFFF">
                      <a:alpha val="100000"/>
                    </a:srgbClr>
                  </a:solidFill>
                  <a:latin typeface="楷体"/>
                  <a:ea typeface="楷体"/>
                </a:rPr>
                <a:t>一</a:t>
              </a:r>
              <a:r>
                <a:rPr lang="zh-CN" altLang="en-US" sz="2400" b="0" i="0" dirty="0">
                  <a:solidFill>
                    <a:srgbClr val="FFFFFF">
                      <a:alpha val="100000"/>
                    </a:srgbClr>
                  </a:solidFill>
                  <a:latin typeface="Times New Roman"/>
                  <a:ea typeface="Times New Roman"/>
                </a:rPr>
                <a:t> </a:t>
              </a:r>
              <a:r>
                <a:rPr lang="zh-CN" altLang="en-US" sz="2400" b="0" i="0" dirty="0">
                  <a:solidFill>
                    <a:srgbClr val="FFFFFF">
                      <a:alpha val="100000"/>
                    </a:srgbClr>
                  </a:solidFill>
                  <a:latin typeface="楷体"/>
                  <a:ea typeface="楷体"/>
                </a:rPr>
                <a:t> </a:t>
              </a:r>
              <a:r>
                <a:rPr lang="zh-CN" altLang="en-US" sz="2800" b="0" i="0" dirty="0">
                  <a:solidFill>
                    <a:srgbClr val="FFFFFF">
                      <a:alpha val="100000"/>
                    </a:srgbClr>
                  </a:solidFill>
                  <a:latin typeface="楷体"/>
                  <a:ea typeface="楷体"/>
                </a:rPr>
                <a:t>互联网应用特征的变迁</a:t>
              </a:r>
            </a:p>
          </p:txBody>
        </p:sp>
        <p:sp>
          <p:nvSpPr>
            <p:cNvPr id="18" name="形状11"/>
            <p:cNvSpPr txBox="1"/>
            <p:nvPr/>
          </p:nvSpPr>
          <p:spPr>
            <a:xfrm>
              <a:off x="4298334" y="1985818"/>
              <a:ext cx="5421724" cy="474029"/>
            </a:xfrm>
            <a:prstGeom prst="roundRect"/>
            <a:solidFill>
              <a:srgbClr val="014E6A">
                <a:alpha val="100000"/>
              </a:srgbClr>
            </a:solidFill>
            <a:ln w="9525">
              <a:solidFill>
                <a:srgbClr val="FFFFFF">
                  <a:alpha val="0"/>
                </a:srgbClr>
              </a:solidFill>
            </a:ln>
          </p:spPr>
          <p:txBody>
            <a:bodyPr anchor="ctr"/>
            <a:lstStyle/>
            <a:p>
              <a:pPr marL="0" algn="ctr"/>
            </a:p>
          </p:txBody>
        </p:sp>
        <p:sp>
          <p:nvSpPr>
            <p:cNvPr id="19" name="形状12"/>
            <p:cNvSpPr txBox="1"/>
            <p:nvPr/>
          </p:nvSpPr>
          <p:spPr>
            <a:xfrm rot="18614181">
              <a:off x="4104122" y="1946516"/>
              <a:ext cx="539999" cy="540001"/>
            </a:xfrm>
            <a:prstGeom prst="rect"/>
            <a:solidFill>
              <a:srgbClr val="1784AD">
                <a:alpha val="100000"/>
              </a:srgbClr>
            </a:solidFill>
            <a:ln w="9525">
              <a:solidFill>
                <a:srgbClr val="FFFFFF">
                  <a:alpha val="0"/>
                </a:srgbClr>
              </a:solidFill>
            </a:ln>
          </p:spPr>
          <p:txBody>
            <a:bodyPr anchor="ctr"/>
            <a:lstStyle/>
            <a:p>
              <a:pPr marL="0" algn="ctr"/>
            </a:p>
          </p:txBody>
        </p:sp>
        <p:sp>
          <p:nvSpPr>
            <p:cNvPr id="20" name="文本5"/>
            <p:cNvSpPr txBox="1"/>
            <p:nvPr/>
          </p:nvSpPr>
          <p:spPr>
            <a:xfrm>
              <a:off x="4100559" y="1901945"/>
              <a:ext cx="5800298" cy="713720"/>
            </a:xfrm>
            <a:prstGeom prst="rect">
              <a:avLst/>
            </a:prstGeom>
            <a:noFill/>
          </p:spPr>
          <p:txBody>
            <a:bodyPr anchor="t"/>
            <a:lstStyle/>
            <a:p>
              <a:pPr marL="0" algn="l">
                <a:lnSpc>
                  <a:spcPts val="3300"/>
                </a:lnSpc>
              </a:pPr>
              <a:r>
                <a:rPr lang="zh-CN" altLang="en-US" sz="2800" b="0" i="0" dirty="0">
                  <a:solidFill>
                    <a:srgbClr val="FFFFFF">
                      <a:alpha val="100000"/>
                    </a:srgbClr>
                  </a:solidFill>
                  <a:latin typeface="楷体"/>
                  <a:ea typeface="楷体"/>
                </a:rPr>
                <a:t>二</a:t>
              </a:r>
              <a:r>
                <a:rPr lang="zh-CN" altLang="en-US" sz="2800" b="0" i="0" dirty="0">
                  <a:solidFill>
                    <a:srgbClr val="FFFFFF">
                      <a:alpha val="100000"/>
                    </a:srgbClr>
                  </a:solidFill>
                  <a:latin typeface="Times New Roman"/>
                  <a:ea typeface="Times New Roman"/>
                </a:rPr>
                <a:t>   </a:t>
              </a:r>
              <a:r>
                <a:rPr lang="zh-CN" altLang="en-US" sz="2800" b="0" i="0" dirty="0">
                  <a:solidFill>
                    <a:srgbClr val="FFFFFF">
                      <a:alpha val="100000"/>
                    </a:srgbClr>
                  </a:solidFill>
                  <a:latin typeface="楷体"/>
                  <a:ea typeface="楷体"/>
                </a:rPr>
                <a:t>我国互联网应用的发展状况</a:t>
              </a:r>
            </a:p>
          </p:txBody>
        </p:sp>
      </p:grpSp>
      <p:sp>
        <p:nvSpPr>
          <p:cNvPr id="21" name="文本1"/>
          <p:cNvSpPr txBox="1"/>
          <p:nvPr/>
        </p:nvSpPr>
        <p:spPr>
          <a:xfrm>
            <a:off x="94137" y="228416"/>
            <a:ext cx="4473928"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spTree>
    <p:extLst>
      <p:ext uri="{BB962C8B-B14F-4D97-AF65-F5344CB8AC3E}">
        <p14:creationId xmlns:p14="http://schemas.microsoft.com/office/powerpoint/2010/main" val="840519474"/>
      </p:ext>
    </p:extLst>
  </p:cSld>
  <p:clrMapOvr>
    <a:masterClrMapping/>
  </p:clrMapOvr>
</p:sld>
</file>

<file path=ppt/slides/slide6.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410450" y="109855"/>
            <a:ext cx="4539615" cy="680085"/>
            <a:chOff x="0" y="0"/>
            <a:chExt cx="4539615" cy="680085"/>
          </a:xfrm>
        </p:grpSpPr>
        <p:sp>
          <p:nvSpPr>
            <p:cNvPr id="3" name="形状1"/>
            <p:cNvSpPr txBox="1"/>
            <p:nvPr/>
          </p:nvSpPr>
          <p:spPr>
            <a:xfrm>
              <a:off x="3810" y="49530"/>
              <a:ext cx="453580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3"/>
            <p:cNvSpPr txBox="1"/>
            <p:nvPr/>
          </p:nvSpPr>
          <p:spPr>
            <a:xfrm>
              <a:off x="0" y="0"/>
              <a:ext cx="453580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1636336" y="2132277"/>
            <a:ext cx="8974513" cy="1206163"/>
          </a:xfrm>
          <a:prstGeom prst="rect">
            <a:avLst/>
          </a:prstGeom>
          <a:noFill/>
        </p:spPr>
        <p:txBody>
          <a:bodyPr anchor="t"/>
          <a:lstStyle/>
          <a:p>
            <a:pPr marL="-608400" algn="l">
              <a:lnSpc>
                <a:spcPts val="3600"/>
              </a:lnSpc>
              <a:buFont typeface="Arial"/>
              <a:buChar char=" "/>
            </a:pPr>
            <a:r>
              <a:rPr lang="zh-CN" altLang="en-US" sz="2400" b="0" i="0" dirty="0">
                <a:solidFill>
                  <a:srgbClr val="000000">
                    <a:alpha val="100000"/>
                  </a:srgbClr>
                </a:solidFill>
                <a:latin typeface="楷体"/>
                <a:ea typeface="楷体"/>
              </a:rPr>
              <a:t>当前的互联网应用具有</a:t>
            </a:r>
            <a:r>
              <a:rPr lang="zh-CN" altLang="en-US" sz="2400" b="1" i="0" dirty="0">
                <a:solidFill>
                  <a:srgbClr val="FF0000">
                    <a:alpha val="100000"/>
                  </a:srgbClr>
                </a:solidFill>
                <a:latin typeface="楷体"/>
                <a:ea typeface="楷体"/>
              </a:rPr>
              <a:t>交互性强、操作简单、图文声像并茂等特征</a:t>
            </a:r>
            <a:r>
              <a:rPr lang="zh-CN" altLang="en-US" sz="2400" b="0" i="0" dirty="0">
                <a:solidFill>
                  <a:srgbClr val="000000">
                    <a:alpha val="100000"/>
                  </a:srgbClr>
                </a:solidFill>
                <a:latin typeface="楷体"/>
                <a:ea typeface="楷体"/>
              </a:rPr>
              <a:t>，这些特征依赖于持续的创新才逐渐发展而成。</a:t>
            </a:r>
          </a:p>
        </p:txBody>
      </p:sp>
      <p:sp>
        <p:nvSpPr>
          <p:cNvPr id="6" name="文本2"/>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a:t>
            </a:r>
            <a:r>
              <a:rPr lang="zh-CN" altLang="en-US" sz="2400" b="0" i="0" dirty="0">
                <a:solidFill>
                  <a:srgbClr val="FFFFFF">
                    <a:alpha val="100000"/>
                  </a:srgbClr>
                </a:solidFill>
                <a:latin typeface="楷体"/>
                <a:ea typeface="楷体"/>
              </a:rPr>
              <a:t>  </a:t>
            </a:r>
            <a:r>
              <a:rPr lang="zh-CN" altLang="en-US" sz="2400" b="0" i="0" dirty="0">
                <a:solidFill>
                  <a:srgbClr val="FFFFFF">
                    <a:alpha val="100000"/>
                  </a:srgbClr>
                </a:solidFill>
                <a:latin typeface="黑体"/>
                <a:ea typeface="黑体"/>
              </a:rPr>
              <a:t>学习内容</a:t>
            </a:r>
          </a:p>
        </p:txBody>
      </p:sp>
      <p:grpSp>
        <p:nvGrpSpPr>
          <p:cNvPr id="7" name="组合2"/>
          <p:cNvGrpSpPr/>
          <p:nvPr/>
        </p:nvGrpSpPr>
        <p:grpSpPr>
          <a:xfrm>
            <a:off x="3631745" y="3564208"/>
            <a:ext cx="4292600" cy="2101850"/>
            <a:chOff x="0" y="0"/>
            <a:chExt cx="4292600" cy="2101850"/>
          </a:xfrm>
        </p:grpSpPr>
        <p:sp>
          <p:nvSpPr>
            <p:cNvPr id="8" name="形状2"/>
            <p:cNvSpPr txBox="1"/>
            <p:nvPr/>
          </p:nvSpPr>
          <p:spPr>
            <a:xfrm>
              <a:off x="0" y="19050"/>
              <a:ext cx="4292600" cy="2082800"/>
            </a:xfrm>
            <a:prstGeom prst="rect"/>
            <a:ln w="9525"/>
          </p:spPr>
          <p:txBody>
            <a:bodyPr anchor="ctr"/>
            <a:lstStyle/>
            <a:p>
              <a:pPr marL="0" algn="ctr"/>
            </a:p>
          </p:txBody>
        </p:sp>
        <p:sp>
          <p:nvSpPr>
            <p:cNvPr id="9" name="形状3"/>
            <p:cNvSpPr txBox="1"/>
            <p:nvPr/>
          </p:nvSpPr>
          <p:spPr>
            <a:xfrm>
              <a:off x="0" y="19050"/>
              <a:ext cx="2082800" cy="2082800"/>
            </a:xfrm>
            <a:prstGeom prst="pie"/>
            <a:solidFill>
              <a:srgbClr val="5B9BD5">
                <a:alpha val="100000"/>
              </a:srgbClr>
            </a:solidFill>
            <a:ln w="12700">
              <a:solidFill>
                <a:srgbClr val="FFFFFF">
                  <a:alpha val="100000"/>
                </a:srgbClr>
              </a:solidFill>
              <a:prstDash val="solid"/>
            </a:ln>
          </p:spPr>
          <p:txBody>
            <a:bodyPr anchor="ctr"/>
            <a:lstStyle/>
            <a:p>
              <a:pPr marL="0" algn="ctr"/>
            </a:p>
          </p:txBody>
        </p:sp>
        <p:sp>
          <p:nvSpPr>
            <p:cNvPr id="10" name="形状6"/>
            <p:cNvSpPr txBox="1"/>
            <p:nvPr/>
          </p:nvSpPr>
          <p:spPr>
            <a:xfrm>
              <a:off x="1041400" y="19050"/>
              <a:ext cx="3251200" cy="2082800"/>
            </a:xfrm>
            <a:prstGeom prst="rect"/>
            <a:solidFill>
              <a:srgbClr val="FFFFFF">
                <a:alpha val="89803"/>
              </a:srgbClr>
            </a:solidFill>
            <a:ln w="12700">
              <a:solidFill>
                <a:srgbClr val="5B9BD5">
                  <a:alpha val="100000"/>
                </a:srgbClr>
              </a:solidFill>
              <a:prstDash val="solid"/>
            </a:ln>
          </p:spPr>
          <p:txBody>
            <a:bodyPr anchor="ctr"/>
            <a:lstStyle/>
            <a:p>
              <a:pPr marL="0" algn="ctr"/>
            </a:p>
          </p:txBody>
        </p:sp>
        <p:sp>
          <p:nvSpPr>
            <p:cNvPr id="11" name="文本4"/>
            <p:cNvSpPr txBox="1"/>
            <p:nvPr/>
          </p:nvSpPr>
          <p:spPr>
            <a:xfrm>
              <a:off x="1022350" y="0"/>
              <a:ext cx="3251200" cy="624841"/>
            </a:xfrm>
            <a:prstGeom prst="rect">
              <a:avLst/>
            </a:prstGeom>
            <a:noFill/>
          </p:spPr>
          <p:txBody>
            <a:bodyPr anchor="ctr"/>
            <a:lstStyle/>
            <a:p>
              <a:pPr marL="0" algn="ctr">
                <a:lnSpc>
                  <a:spcPts val="2100"/>
                </a:lnSpc>
              </a:pPr>
              <a:r>
                <a:rPr lang="zh-CN" altLang="en-US" sz="2000" b="0" i="0" dirty="0">
                  <a:solidFill>
                    <a:srgbClr val="000000">
                      <a:alpha val="100000"/>
                    </a:srgbClr>
                  </a:solidFill>
                  <a:latin typeface="黑体"/>
                  <a:ea typeface="黑体"/>
                </a:rPr>
                <a:t>交互性强</a:t>
              </a:r>
            </a:p>
          </p:txBody>
        </p:sp>
        <p:sp>
          <p:nvSpPr>
            <p:cNvPr id="12" name="形状4"/>
            <p:cNvSpPr txBox="1"/>
            <p:nvPr/>
          </p:nvSpPr>
          <p:spPr>
            <a:xfrm>
              <a:off x="364490" y="643891"/>
              <a:ext cx="1353818" cy="1353818"/>
            </a:xfrm>
            <a:prstGeom prst="pie"/>
            <a:solidFill>
              <a:srgbClr val="5B9BD5">
                <a:alpha val="100000"/>
              </a:srgbClr>
            </a:solidFill>
            <a:ln w="12700">
              <a:solidFill>
                <a:srgbClr val="FFFFFF">
                  <a:alpha val="100000"/>
                </a:srgbClr>
              </a:solidFill>
              <a:prstDash val="solid"/>
            </a:ln>
          </p:spPr>
          <p:txBody>
            <a:bodyPr anchor="ctr"/>
            <a:lstStyle/>
            <a:p>
              <a:pPr marL="0" algn="ctr"/>
            </a:p>
          </p:txBody>
        </p:sp>
        <p:sp>
          <p:nvSpPr>
            <p:cNvPr id="13" name="形状7"/>
            <p:cNvSpPr txBox="1"/>
            <p:nvPr/>
          </p:nvSpPr>
          <p:spPr>
            <a:xfrm>
              <a:off x="1041400" y="643891"/>
              <a:ext cx="3251200" cy="1353818"/>
            </a:xfrm>
            <a:prstGeom prst="rect"/>
            <a:solidFill>
              <a:srgbClr val="FFFFFF">
                <a:alpha val="89803"/>
              </a:srgbClr>
            </a:solidFill>
            <a:ln w="12700">
              <a:solidFill>
                <a:srgbClr val="5B9BD5">
                  <a:alpha val="100000"/>
                </a:srgbClr>
              </a:solidFill>
              <a:prstDash val="solid"/>
            </a:ln>
          </p:spPr>
          <p:txBody>
            <a:bodyPr anchor="ctr"/>
            <a:lstStyle/>
            <a:p>
              <a:pPr marL="0" algn="ctr"/>
            </a:p>
          </p:txBody>
        </p:sp>
        <p:sp>
          <p:nvSpPr>
            <p:cNvPr id="14" name="文本5"/>
            <p:cNvSpPr txBox="1"/>
            <p:nvPr/>
          </p:nvSpPr>
          <p:spPr>
            <a:xfrm>
              <a:off x="1022350" y="624841"/>
              <a:ext cx="3251200" cy="624839"/>
            </a:xfrm>
            <a:prstGeom prst="rect">
              <a:avLst/>
            </a:prstGeom>
            <a:noFill/>
          </p:spPr>
          <p:txBody>
            <a:bodyPr anchor="ctr"/>
            <a:lstStyle/>
            <a:p>
              <a:pPr marL="0" algn="ctr">
                <a:lnSpc>
                  <a:spcPts val="2100"/>
                </a:lnSpc>
              </a:pPr>
              <a:r>
                <a:rPr lang="zh-CN" altLang="en-US" sz="2000" b="0" i="0" dirty="0">
                  <a:solidFill>
                    <a:srgbClr val="000000">
                      <a:alpha val="100000"/>
                    </a:srgbClr>
                  </a:solidFill>
                  <a:latin typeface="黑体"/>
                  <a:ea typeface="黑体"/>
                </a:rPr>
                <a:t>操作简单</a:t>
              </a:r>
            </a:p>
          </p:txBody>
        </p:sp>
        <p:sp>
          <p:nvSpPr>
            <p:cNvPr id="15" name="形状5"/>
            <p:cNvSpPr txBox="1"/>
            <p:nvPr/>
          </p:nvSpPr>
          <p:spPr>
            <a:xfrm>
              <a:off x="728980" y="1268730"/>
              <a:ext cx="624839" cy="624839"/>
            </a:xfrm>
            <a:prstGeom prst="pie"/>
            <a:solidFill>
              <a:srgbClr val="5B9BD5">
                <a:alpha val="100000"/>
              </a:srgbClr>
            </a:solidFill>
            <a:ln w="12700">
              <a:solidFill>
                <a:srgbClr val="FFFFFF">
                  <a:alpha val="100000"/>
                </a:srgbClr>
              </a:solidFill>
              <a:prstDash val="solid"/>
            </a:ln>
          </p:spPr>
          <p:txBody>
            <a:bodyPr anchor="ctr"/>
            <a:lstStyle/>
            <a:p>
              <a:pPr marL="0" algn="ctr"/>
            </a:p>
          </p:txBody>
        </p:sp>
        <p:sp>
          <p:nvSpPr>
            <p:cNvPr id="16" name="形状8"/>
            <p:cNvSpPr txBox="1"/>
            <p:nvPr/>
          </p:nvSpPr>
          <p:spPr>
            <a:xfrm>
              <a:off x="1041400" y="1268730"/>
              <a:ext cx="3251200" cy="624839"/>
            </a:xfrm>
            <a:prstGeom prst="rect"/>
            <a:solidFill>
              <a:srgbClr val="FFFFFF">
                <a:alpha val="89803"/>
              </a:srgbClr>
            </a:solidFill>
            <a:ln w="12700">
              <a:solidFill>
                <a:srgbClr val="5B9BD5">
                  <a:alpha val="100000"/>
                </a:srgbClr>
              </a:solidFill>
              <a:prstDash val="solid"/>
            </a:ln>
          </p:spPr>
          <p:txBody>
            <a:bodyPr anchor="ctr"/>
            <a:lstStyle/>
            <a:p>
              <a:pPr marL="0" algn="ctr"/>
            </a:p>
          </p:txBody>
        </p:sp>
        <p:sp>
          <p:nvSpPr>
            <p:cNvPr id="17" name="文本6"/>
            <p:cNvSpPr txBox="1"/>
            <p:nvPr/>
          </p:nvSpPr>
          <p:spPr>
            <a:xfrm>
              <a:off x="1022350" y="1249680"/>
              <a:ext cx="3251200" cy="624839"/>
            </a:xfrm>
            <a:prstGeom prst="rect">
              <a:avLst/>
            </a:prstGeom>
            <a:noFill/>
          </p:spPr>
          <p:txBody>
            <a:bodyPr anchor="ctr"/>
            <a:lstStyle/>
            <a:p>
              <a:pPr marL="0" algn="ctr">
                <a:lnSpc>
                  <a:spcPts val="2100"/>
                </a:lnSpc>
              </a:pPr>
              <a:r>
                <a:rPr lang="zh-CN" altLang="en-US" sz="2000" b="0" i="0" dirty="0">
                  <a:solidFill>
                    <a:srgbClr val="000000">
                      <a:alpha val="100000"/>
                    </a:srgbClr>
                  </a:solidFill>
                  <a:latin typeface="黑体"/>
                  <a:ea typeface="黑体"/>
                </a:rPr>
                <a:t>图文声像并茂</a:t>
              </a:r>
            </a:p>
          </p:txBody>
        </p:sp>
      </p:grpSp>
      <p:grpSp>
        <p:nvGrpSpPr>
          <p:cNvPr id="18" name="组合3"/>
          <p:cNvGrpSpPr/>
          <p:nvPr/>
        </p:nvGrpSpPr>
        <p:grpSpPr>
          <a:xfrm>
            <a:off x="3309356" y="1041362"/>
            <a:ext cx="5543424" cy="904712"/>
            <a:chOff x="0" y="0"/>
            <a:chExt cx="5543424" cy="904712"/>
          </a:xfrm>
        </p:grpSpPr>
        <p:sp>
          <p:nvSpPr>
            <p:cNvPr id="19" name="形状9"/>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20" name="形状10"/>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21" name="形状11"/>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22" name="文本7"/>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spTree>
    <p:extLst>
      <p:ext uri="{BB962C8B-B14F-4D97-AF65-F5344CB8AC3E}">
        <p14:creationId xmlns:p14="http://schemas.microsoft.com/office/powerpoint/2010/main" val="840519474"/>
      </p:ext>
    </p:extLst>
  </p:cSld>
  <p:clrMapOvr>
    <a:masterClrMapping/>
  </p:clrMapOvr>
</p:sld>
</file>

<file path=ppt/slides/slide7.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4"/>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2"/>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4"/>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grpSp>
        <p:nvGrpSpPr>
          <p:cNvPr id="5" name="组合2"/>
          <p:cNvGrpSpPr/>
          <p:nvPr/>
        </p:nvGrpSpPr>
        <p:grpSpPr>
          <a:xfrm>
            <a:off x="3309356" y="1041362"/>
            <a:ext cx="5543424" cy="904712"/>
            <a:chOff x="0" y="0"/>
            <a:chExt cx="5543424" cy="904712"/>
          </a:xfrm>
        </p:grpSpPr>
        <p:sp>
          <p:nvSpPr>
            <p:cNvPr id="6" name="形状3"/>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7" name="形状4"/>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8" name="形状5"/>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9" name="文本5"/>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sp>
        <p:nvSpPr>
          <p:cNvPr id="10"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sp>
        <p:nvSpPr>
          <p:cNvPr id="11" name="文本2"/>
          <p:cNvSpPr txBox="1"/>
          <p:nvPr/>
        </p:nvSpPr>
        <p:spPr>
          <a:xfrm>
            <a:off x="1916937" y="5752020"/>
            <a:ext cx="1806812" cy="65216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仅有字符</a:t>
            </a:r>
          </a:p>
        </p:txBody>
      </p:sp>
      <p:sp>
        <p:nvSpPr>
          <p:cNvPr id="12" name="文本3"/>
          <p:cNvSpPr txBox="1"/>
          <p:nvPr/>
        </p:nvSpPr>
        <p:spPr>
          <a:xfrm>
            <a:off x="7555121" y="5752019"/>
            <a:ext cx="2232732" cy="65216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图文声像并茂</a:t>
            </a:r>
          </a:p>
        </p:txBody>
      </p:sp>
      <p:pic>
        <p:nvPicPr>
          <p:cNvPr id="13"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727091" y="2146449"/>
            <a:ext cx="4196486" cy="2336340"/>
          </a:xfrm>
          <a:prstGeom prst="rect">
            <a:avLst/>
          </a:prstGeom>
        </p:spPr>
      </p:pic>
      <p:pic>
        <p:nvPicPr>
          <p:cNvPr id="14" name="图片2">
            <a:extLst>
              <a:ext uri="{FF2B5EF4-FFF2-40B4-BE49-F238E27FC236}">
                <a16:creationId xmlns:a16="http://schemas.microsoft.com/office/drawing/2014/main" id="{69ED34C6-1862-8A8A-03F9-2D1EFC8C3215}"/>
              </a:ext>
            </a:extLst>
          </p:cNvPr>
          <p:cNvPicPr>
            <a:picLocks noChangeAspect="1"/>
          </p:cNvPicPr>
          <p:nvPr/>
        </p:nvPicPr>
        <p:blipFill>
          <a:blip r:embed="rId3"/>
          <a:srcRect l="4735" t="5351" r="0" b="0"/>
          <a:stretch>
            <a:fillRect/>
          </a:stretch>
        </p:blipFill>
        <p:spPr>
          <a:xfrm>
            <a:off x="6096000" y="2146301"/>
            <a:ext cx="4928272" cy="3524930"/>
          </a:xfrm>
          <a:prstGeom prst="rect">
            <a:avLst/>
          </a:prstGeom>
        </p:spPr>
      </p:pic>
      <p:sp>
        <p:nvSpPr>
          <p:cNvPr id="15" name="形状1"/>
          <p:cNvSpPr txBox="1"/>
          <p:nvPr/>
        </p:nvSpPr>
        <p:spPr>
          <a:xfrm>
            <a:off x="741578" y="3770328"/>
            <a:ext cx="3295650" cy="190500"/>
          </a:xfrm>
          <a:prstGeom prst="rect"/>
          <a:solidFill>
            <a:srgbClr val="FFFFFF">
              <a:alpha val="0"/>
            </a:srgbClr>
          </a:solidFill>
          <a:ln w="28575">
            <a:solidFill>
              <a:srgbClr val="FF0000">
                <a:alpha val="100000"/>
              </a:srgbClr>
            </a:solidFill>
            <a:prstDash val="solid"/>
          </a:ln>
        </p:spPr>
        <p:txBody>
          <a:bodyPr anchor="ctr"/>
          <a:lstStyle/>
          <a:p>
            <a:pPr marL="0" algn="ctr"/>
          </a:p>
        </p:txBody>
      </p:sp>
      <p:grpSp>
        <p:nvGrpSpPr>
          <p:cNvPr id="16" name="组合3"/>
          <p:cNvGrpSpPr/>
          <p:nvPr/>
        </p:nvGrpSpPr>
        <p:grpSpPr>
          <a:xfrm>
            <a:off x="5191" y="3482940"/>
            <a:ext cx="4664172" cy="1007036"/>
            <a:chOff x="0" y="0"/>
            <a:chExt cx="4664172" cy="1007036"/>
          </a:xfrm>
        </p:grpSpPr>
        <p:sp>
          <p:nvSpPr>
            <p:cNvPr id="17" name="形状6"/>
            <p:cNvSpPr txBox="1"/>
            <p:nvPr/>
          </p:nvSpPr>
          <p:spPr>
            <a:xfrm>
              <a:off x="0" y="31676"/>
              <a:ext cx="4650127" cy="975360"/>
            </a:xfrm>
            <a:prstGeom prst="roundRect"/>
            <a:solidFill>
              <a:srgbClr val="DEEBF7">
                <a:alpha val="100000"/>
              </a:srgbClr>
            </a:solidFill>
            <a:ln w="9525">
              <a:solidFill>
                <a:srgbClr val="2E75B6">
                  <a:alpha val="100000"/>
                </a:srgbClr>
              </a:solidFill>
              <a:prstDash val="solid"/>
              <a:headEnd type="none" w="med" len="med"/>
              <a:tailEnd type="none" w="med" len="med"/>
            </a:ln>
            <a:effectLst>
              <a:outerShdw blurRad="50800" dist="38100" dir="13500000" rotWithShape="0">
                <a:srgbClr val="000000">
                  <a:alpha val="40000"/>
                </a:srgbClr>
              </a:outerShdw>
            </a:effectLst>
          </p:spPr>
          <p:txBody>
            <a:bodyPr anchor="ctr"/>
            <a:lstStyle/>
            <a:p>
              <a:pPr marL="0" algn="ctr"/>
            </a:p>
          </p:txBody>
        </p:sp>
        <p:sp>
          <p:nvSpPr>
            <p:cNvPr id="18" name="文本6"/>
            <p:cNvSpPr txBox="1"/>
            <p:nvPr/>
          </p:nvSpPr>
          <p:spPr>
            <a:xfrm>
              <a:off x="14045" y="0"/>
              <a:ext cx="4650127" cy="939651"/>
            </a:xfrm>
            <a:prstGeom prst="rect">
              <a:avLst/>
            </a:prstGeom>
            <a:noFill/>
          </p:spPr>
          <p:txBody>
            <a:bodyPr anchor="ctr"/>
            <a:lstStyle/>
            <a:p>
              <a:pPr marL="0" algn="ctr">
                <a:lnSpc>
                  <a:spcPts val="2800"/>
                </a:lnSpc>
              </a:pPr>
              <a:r>
                <a:rPr lang="zh-CN" altLang="en-US" sz="2400" b="0" i="0" dirty="0">
                  <a:solidFill>
                    <a:srgbClr val="000000">
                      <a:alpha val="100000"/>
                    </a:srgbClr>
                  </a:solidFill>
                  <a:latin typeface="Times New Roman"/>
                  <a:ea typeface="Times New Roman"/>
                </a:rPr>
                <a:t>1</a:t>
              </a:r>
              <a:r>
                <a:rPr lang="zh-CN" altLang="en-US" sz="2400" b="0" i="0" dirty="0">
                  <a:solidFill>
                    <a:srgbClr val="000000">
                      <a:alpha val="100000"/>
                    </a:srgbClr>
                  </a:solidFill>
                  <a:latin typeface="黑体"/>
                  <a:ea typeface="黑体"/>
                </a:rPr>
                <a:t>．从文本到图文声像并茂</a:t>
              </a:r>
            </a:p>
          </p:txBody>
        </p:sp>
      </p:grpSp>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3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1" presetID="2" presetClass="entr" presetSubtype="4" fill="hold" grpId="0" nodeType="clickEffect">
                                  <p:stCondLst>
                                    <p:cond delay="0"/>
                                  </p:stCondLst>
                                  <p:childTnLst>
                                    <p:set>
                                      <p:cBhvr>
                                        <p:cTn id="8" dur="1" fill="hold">
                                          <p:stCondLst>
                                            <p:cond delay="0"/>
                                          </p:stCondLst>
                                        </p:cTn>
                                        <p:tgtEl>
                                          <p:spTgt spid="16"/>
                                        </p:tgtEl>
                                        <p:attrNameLst>
                                          <p:attrName>style.visibility</p:attrName>
                                        </p:attrNameLst>
                                      </p:cBhvr>
                                      <p:to>
                                        <p:strVal val="visible"/>
                                      </p:to>
                                    </p:set>
                                    <p:anim calcmode="lin" valueType="num">
                                      <p:cBhvr>
                                        <p:cTn id="9" dur="500" fill="hold"/>
                                        <p:tgtEl>
                                          <p:spTgt spid="16"/>
                                        </p:tgtEl>
                                        <p:attrNameLst>
                                          <p:attrName>ppt_x</p:attrName>
                                        </p:attrNameLst>
                                      </p:cBhvr>
                                      <p:tavLst>
                                        <p:tav tm="0">
                                          <p:val>
                                            <p:strVal val="#ppt_x"/>
                                          </p:val>
                                        </p:tav>
                                        <p:tav tm="100000">
                                          <p:val>
                                            <p:strVal val="#ppt_x"/>
                                          </p:val>
                                        </p:tav>
                                      </p:tavLst>
                                    </p:anim>
                                    <p:anim calcmode="lin" valueType="num">
                                      <p:cBhvr>
                                        <p:cTn id="1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8.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4"/>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2"/>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grpSp>
        <p:nvGrpSpPr>
          <p:cNvPr id="5" name="组合2"/>
          <p:cNvGrpSpPr/>
          <p:nvPr/>
        </p:nvGrpSpPr>
        <p:grpSpPr>
          <a:xfrm>
            <a:off x="3309356" y="1041362"/>
            <a:ext cx="5543424" cy="904712"/>
            <a:chOff x="0" y="0"/>
            <a:chExt cx="5543424" cy="904712"/>
          </a:xfrm>
        </p:grpSpPr>
        <p:sp>
          <p:nvSpPr>
            <p:cNvPr id="6" name="形状2"/>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7" name="形状3"/>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8" name="形状4"/>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9" name="文本3"/>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sp>
        <p:nvSpPr>
          <p:cNvPr id="10"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pic>
        <p:nvPicPr>
          <p:cNvPr id="11"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5849693" y="2284409"/>
            <a:ext cx="6099610" cy="3569656"/>
          </a:xfrm>
          <a:prstGeom prst="rect">
            <a:avLst/>
          </a:prstGeom>
        </p:spPr>
      </p:pic>
      <p:pic>
        <p:nvPicPr>
          <p:cNvPr id="12"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4422092" y="2284619"/>
            <a:ext cx="1338558" cy="3569494"/>
          </a:xfrm>
          <a:prstGeom prst="rect">
            <a:avLst/>
          </a:prstGeom>
        </p:spPr>
      </p:pic>
      <p:grpSp>
        <p:nvGrpSpPr>
          <p:cNvPr id="13" name="组合3"/>
          <p:cNvGrpSpPr/>
          <p:nvPr/>
        </p:nvGrpSpPr>
        <p:grpSpPr>
          <a:xfrm>
            <a:off x="5191" y="3482940"/>
            <a:ext cx="4664172" cy="1007036"/>
            <a:chOff x="0" y="0"/>
            <a:chExt cx="4664172" cy="1007036"/>
          </a:xfrm>
        </p:grpSpPr>
        <p:sp>
          <p:nvSpPr>
            <p:cNvPr id="14" name="形状5"/>
            <p:cNvSpPr txBox="1"/>
            <p:nvPr/>
          </p:nvSpPr>
          <p:spPr>
            <a:xfrm>
              <a:off x="0" y="31676"/>
              <a:ext cx="4650127" cy="975360"/>
            </a:xfrm>
            <a:prstGeom prst="roundRect"/>
            <a:solidFill>
              <a:srgbClr val="DEEBF7">
                <a:alpha val="100000"/>
              </a:srgbClr>
            </a:solidFill>
            <a:ln w="9525">
              <a:solidFill>
                <a:srgbClr val="2E75B6">
                  <a:alpha val="100000"/>
                </a:srgbClr>
              </a:solidFill>
              <a:prstDash val="solid"/>
              <a:headEnd type="none" w="med" len="med"/>
              <a:tailEnd type="none" w="med" len="med"/>
            </a:ln>
            <a:effectLst>
              <a:outerShdw blurRad="50800" dist="38100" dir="13500000" rotWithShape="0">
                <a:srgbClr val="000000">
                  <a:alpha val="40000"/>
                </a:srgbClr>
              </a:outerShdw>
            </a:effectLst>
          </p:spPr>
          <p:txBody>
            <a:bodyPr anchor="ctr"/>
            <a:lstStyle/>
            <a:p>
              <a:pPr marL="0" algn="ctr"/>
            </a:p>
          </p:txBody>
        </p:sp>
        <p:sp>
          <p:nvSpPr>
            <p:cNvPr id="15" name="文本4"/>
            <p:cNvSpPr txBox="1"/>
            <p:nvPr/>
          </p:nvSpPr>
          <p:spPr>
            <a:xfrm>
              <a:off x="14045" y="0"/>
              <a:ext cx="4650127" cy="939651"/>
            </a:xfrm>
            <a:prstGeom prst="rect">
              <a:avLst/>
            </a:prstGeom>
            <a:noFill/>
          </p:spPr>
          <p:txBody>
            <a:bodyPr anchor="ctr"/>
            <a:lstStyle/>
            <a:p>
              <a:pPr marL="0" algn="ctr">
                <a:lnSpc>
                  <a:spcPts val="2800"/>
                </a:lnSpc>
              </a:pPr>
              <a:r>
                <a:rPr lang="zh-CN" altLang="en-US" sz="2400" b="0" i="0" dirty="0">
                  <a:solidFill>
                    <a:srgbClr val="000000">
                      <a:alpha val="100000"/>
                    </a:srgbClr>
                  </a:solidFill>
                  <a:latin typeface="Times New Roman"/>
                  <a:ea typeface="Times New Roman"/>
                </a:rPr>
                <a:t>1</a:t>
              </a:r>
              <a:r>
                <a:rPr lang="zh-CN" altLang="en-US" sz="2400" b="0" i="0" dirty="0">
                  <a:solidFill>
                    <a:srgbClr val="000000">
                      <a:alpha val="100000"/>
                    </a:srgbClr>
                  </a:solidFill>
                  <a:latin typeface="黑体"/>
                  <a:ea typeface="黑体"/>
                </a:rPr>
                <a:t>．从文本到图文声像并茂</a:t>
              </a:r>
            </a:p>
          </p:txBody>
        </p:sp>
      </p:grpSp>
    </p:spTree>
    <p:extLst>
      <p:ext uri="{BB962C8B-B14F-4D97-AF65-F5344CB8AC3E}">
        <p14:creationId xmlns:p14="http://schemas.microsoft.com/office/powerpoint/2010/main" val="840519474"/>
      </p:ext>
    </p:extLst>
  </p:cSld>
  <p:clrMapOvr>
    <a:masterClrMapping/>
  </p:clrMapOvr>
</p:sld>
</file>

<file path=ppt/slides/slide9.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4"/>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4"/>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sp>
        <p:nvSpPr>
          <p:cNvPr id="6" name="文本2"/>
          <p:cNvSpPr txBox="1"/>
          <p:nvPr/>
        </p:nvSpPr>
        <p:spPr>
          <a:xfrm>
            <a:off x="2261281" y="5697638"/>
            <a:ext cx="2837303" cy="652165"/>
          </a:xfrm>
          <a:prstGeom prst="rect">
            <a:avLst/>
          </a:prstGeom>
          <a:noFill/>
        </p:spPr>
        <p:txBody>
          <a:bodyPr anchor="t"/>
          <a:lstStyle/>
          <a:p>
            <a:pPr marL="0" algn="l">
              <a:lnSpc>
                <a:spcPts val="2800"/>
              </a:lnSpc>
            </a:pPr>
            <a:r>
              <a:rPr lang="zh-CN" altLang="en-US" sz="2400" b="0" i="0" dirty="0">
                <a:solidFill>
                  <a:srgbClr val="000000">
                    <a:alpha val="100000"/>
                  </a:srgbClr>
                </a:solidFill>
                <a:latin typeface="楷体"/>
                <a:ea typeface="楷体"/>
              </a:rPr>
              <a:t>字符界面</a:t>
            </a:r>
          </a:p>
        </p:txBody>
      </p:sp>
      <p:pic>
        <p:nvPicPr>
          <p:cNvPr id="7"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588687" y="2554035"/>
            <a:ext cx="3993013" cy="2545460"/>
          </a:xfrm>
          <a:prstGeom prst="rect">
            <a:avLst/>
          </a:prstGeom>
        </p:spPr>
      </p:pic>
      <p:sp>
        <p:nvSpPr>
          <p:cNvPr id="8" name="文本3"/>
          <p:cNvSpPr txBox="1"/>
          <p:nvPr/>
        </p:nvSpPr>
        <p:spPr>
          <a:xfrm>
            <a:off x="7383756" y="5697003"/>
            <a:ext cx="2837303" cy="650875"/>
          </a:xfrm>
          <a:prstGeom prst="rect">
            <a:avLst/>
          </a:prstGeom>
          <a:noFill/>
        </p:spPr>
        <p:txBody>
          <a:bodyPr anchor="t"/>
          <a:lstStyle/>
          <a:p>
            <a:pPr marL="0" algn="ctr">
              <a:lnSpc>
                <a:spcPts val="2800"/>
              </a:lnSpc>
            </a:pPr>
            <a:r>
              <a:rPr lang="zh-CN" altLang="en-US" sz="2400" b="0" i="0" dirty="0">
                <a:solidFill>
                  <a:srgbClr val="000000">
                    <a:alpha val="100000"/>
                  </a:srgbClr>
                </a:solidFill>
                <a:latin typeface="楷体"/>
                <a:ea typeface="楷体"/>
              </a:rPr>
              <a:t>图形化界面</a:t>
            </a:r>
          </a:p>
        </p:txBody>
      </p:sp>
      <p:pic>
        <p:nvPicPr>
          <p:cNvPr id="9"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5936685" y="2554148"/>
            <a:ext cx="4858998" cy="2544823"/>
          </a:xfrm>
          <a:prstGeom prst="rect">
            <a:avLst/>
          </a:prstGeom>
        </p:spPr>
      </p:pic>
      <p:grpSp>
        <p:nvGrpSpPr>
          <p:cNvPr id="10" name="组合2"/>
          <p:cNvGrpSpPr/>
          <p:nvPr/>
        </p:nvGrpSpPr>
        <p:grpSpPr>
          <a:xfrm>
            <a:off x="5636895" y="2046680"/>
            <a:ext cx="5408370" cy="1007035"/>
            <a:chOff x="0" y="0"/>
            <a:chExt cx="5408370" cy="1007035"/>
          </a:xfrm>
        </p:grpSpPr>
        <p:sp>
          <p:nvSpPr>
            <p:cNvPr id="11" name="形状2"/>
            <p:cNvSpPr txBox="1"/>
            <p:nvPr/>
          </p:nvSpPr>
          <p:spPr>
            <a:xfrm>
              <a:off x="0" y="31675"/>
              <a:ext cx="5394325" cy="975360"/>
            </a:xfrm>
            <a:prstGeom prst="roundRect"/>
            <a:solidFill>
              <a:srgbClr val="DEEBF7">
                <a:alpha val="100000"/>
              </a:srgbClr>
            </a:solidFill>
            <a:ln w="9525">
              <a:solidFill>
                <a:srgbClr val="2E75B6">
                  <a:alpha val="100000"/>
                </a:srgbClr>
              </a:solidFill>
              <a:prstDash val="solid"/>
              <a:headEnd type="none" w="med" len="med"/>
              <a:tailEnd type="none" w="med" len="med"/>
            </a:ln>
            <a:effectLst>
              <a:outerShdw blurRad="50800" dist="38100" dir="13500000" rotWithShape="0">
                <a:srgbClr val="000000">
                  <a:alpha val="40000"/>
                </a:srgbClr>
              </a:outerShdw>
            </a:effectLst>
          </p:spPr>
          <p:txBody>
            <a:bodyPr anchor="ctr"/>
            <a:lstStyle/>
            <a:p>
              <a:pPr marL="0" algn="ctr"/>
            </a:p>
          </p:txBody>
        </p:sp>
        <p:sp>
          <p:nvSpPr>
            <p:cNvPr id="12" name="文本5"/>
            <p:cNvSpPr txBox="1"/>
            <p:nvPr/>
          </p:nvSpPr>
          <p:spPr>
            <a:xfrm>
              <a:off x="14045" y="0"/>
              <a:ext cx="5394325" cy="939651"/>
            </a:xfrm>
            <a:prstGeom prst="rect">
              <a:avLst/>
            </a:prstGeom>
            <a:noFill/>
          </p:spPr>
          <p:txBody>
            <a:bodyPr anchor="ctr"/>
            <a:lstStyle/>
            <a:p>
              <a:pPr marL="0" algn="ctr">
                <a:lnSpc>
                  <a:spcPts val="2800"/>
                </a:lnSpc>
              </a:pPr>
              <a:r>
                <a:rPr lang="zh-CN" altLang="en-US" sz="2400" b="0" i="0" dirty="0">
                  <a:solidFill>
                    <a:srgbClr val="000000">
                      <a:alpha val="100000"/>
                    </a:srgbClr>
                  </a:solidFill>
                  <a:latin typeface="Times New Roman"/>
                  <a:ea typeface="Times New Roman"/>
                </a:rPr>
                <a:t>2</a:t>
              </a:r>
              <a:r>
                <a:rPr lang="zh-CN" altLang="en-US" sz="2400" b="0" i="0" dirty="0">
                  <a:solidFill>
                    <a:srgbClr val="000000">
                      <a:alpha val="100000"/>
                    </a:srgbClr>
                  </a:solidFill>
                  <a:latin typeface="黑体"/>
                  <a:ea typeface="黑体"/>
                </a:rPr>
                <a:t>．从字符界面到图形化界面</a:t>
              </a:r>
            </a:p>
          </p:txBody>
        </p:sp>
      </p:grpSp>
      <p:grpSp>
        <p:nvGrpSpPr>
          <p:cNvPr id="13" name="组合3"/>
          <p:cNvGrpSpPr/>
          <p:nvPr/>
        </p:nvGrpSpPr>
        <p:grpSpPr>
          <a:xfrm>
            <a:off x="3309356" y="1041362"/>
            <a:ext cx="5543424" cy="904712"/>
            <a:chOff x="0" y="0"/>
            <a:chExt cx="5543424" cy="904712"/>
          </a:xfrm>
        </p:grpSpPr>
        <p:sp>
          <p:nvSpPr>
            <p:cNvPr id="14" name="形状3"/>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15" name="形状4"/>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16" name="形状5"/>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17" name="文本6"/>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 presetClass="entr" presetSubtype="4"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 calcmode="lin" valueType="num">
                                      <p:cBhvr>
                                        <p:cTn id="4" dur="500" fill="hold"/>
                                        <p:tgtEl>
                                          <p:spTgt spid="10"/>
                                        </p:tgtEl>
                                        <p:attrNameLst>
                                          <p:attrName>ppt_x</p:attrName>
                                        </p:attrNameLst>
                                      </p:cBhvr>
                                      <p:tavLst>
                                        <p:tav tm="0">
                                          <p:val>
                                            <p:strVal val="#ppt_x"/>
                                          </p:val>
                                        </p:tav>
                                        <p:tav tm="100000">
                                          <p:val>
                                            <p:strVal val="#ppt_x"/>
                                          </p:val>
                                        </p:tav>
                                      </p:tavLst>
                                    </p:anim>
                                    <p:anim calcmode="lin" valueType="num">
                                      <p:cBhvr>
                                        <p:cTn id="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4"/>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2"/>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pic>
        <p:nvPicPr>
          <p:cNvPr id="6"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1088141" y="3590143"/>
            <a:ext cx="1894641" cy="2905969"/>
          </a:xfrm>
          <a:prstGeom prst="rect">
            <a:avLst/>
          </a:prstGeom>
        </p:spPr>
      </p:pic>
      <p:grpSp>
        <p:nvGrpSpPr>
          <p:cNvPr id="7" name="组合2"/>
          <p:cNvGrpSpPr/>
          <p:nvPr/>
        </p:nvGrpSpPr>
        <p:grpSpPr>
          <a:xfrm>
            <a:off x="2806710" y="3212984"/>
            <a:ext cx="2637518" cy="881123"/>
            <a:chOff x="0" y="0"/>
            <a:chExt cx="2637518" cy="881123"/>
          </a:xfrm>
        </p:grpSpPr>
        <p:sp>
          <p:nvSpPr>
            <p:cNvPr id="8" name="形状2"/>
            <p:cNvSpPr txBox="1"/>
            <p:nvPr/>
          </p:nvSpPr>
          <p:spPr>
            <a:xfrm>
              <a:off x="0" y="20679"/>
              <a:ext cx="2637518" cy="860444"/>
            </a:xfrm>
            <a:prstGeom prst="wedgeRoundRectCallout"/>
            <a:solidFill>
              <a:srgbClr val="DAE3F3">
                <a:alpha val="100000"/>
              </a:srgbClr>
            </a:solidFill>
            <a:ln w="12700">
              <a:solidFill>
                <a:srgbClr val="5B9BD5">
                  <a:alpha val="100000"/>
                </a:srgbClr>
              </a:solidFill>
              <a:prstDash val="solid"/>
              <a:headEnd type="none" w="med" len="med"/>
              <a:tailEnd type="none" w="med" len="med"/>
            </a:ln>
          </p:spPr>
          <p:txBody>
            <a:bodyPr anchor="ctr"/>
            <a:lstStyle/>
            <a:p>
              <a:pPr marL="0" algn="ctr"/>
            </a:p>
          </p:txBody>
        </p:sp>
        <p:sp>
          <p:nvSpPr>
            <p:cNvPr id="9" name="文本3"/>
            <p:cNvSpPr txBox="1"/>
            <p:nvPr/>
          </p:nvSpPr>
          <p:spPr>
            <a:xfrm>
              <a:off x="38193" y="0"/>
              <a:ext cx="2553511" cy="802742"/>
            </a:xfrm>
            <a:prstGeom prst="rect">
              <a:avLst/>
            </a:prstGeom>
            <a:noFill/>
          </p:spPr>
          <p:txBody>
            <a:bodyPr anchor="ctr"/>
            <a:lstStyle/>
            <a:p>
              <a:pPr marL="0" algn="l">
                <a:lnSpc>
                  <a:spcPts val="2400"/>
                </a:lnSpc>
              </a:pPr>
              <a:r>
                <a:rPr lang="zh-CN" altLang="en-US" sz="2000" b="0" i="0" dirty="0">
                  <a:solidFill>
                    <a:srgbClr val="000000">
                      <a:alpha val="100000"/>
                    </a:srgbClr>
                  </a:solidFill>
                  <a:latin typeface="楷体"/>
                  <a:ea typeface="楷体"/>
                </a:rPr>
                <a:t>越来越多的网络应用开始融合多种服务。</a:t>
              </a:r>
            </a:p>
          </p:txBody>
        </p:sp>
      </p:grpSp>
      <p:grpSp>
        <p:nvGrpSpPr>
          <p:cNvPr id="10" name="组合3"/>
          <p:cNvGrpSpPr/>
          <p:nvPr/>
        </p:nvGrpSpPr>
        <p:grpSpPr>
          <a:xfrm>
            <a:off x="701530" y="2008692"/>
            <a:ext cx="5102513" cy="1007035"/>
            <a:chOff x="0" y="0"/>
            <a:chExt cx="5102513" cy="1007035"/>
          </a:xfrm>
        </p:grpSpPr>
        <p:sp>
          <p:nvSpPr>
            <p:cNvPr id="11" name="形状3"/>
            <p:cNvSpPr txBox="1"/>
            <p:nvPr/>
          </p:nvSpPr>
          <p:spPr>
            <a:xfrm>
              <a:off x="0" y="31675"/>
              <a:ext cx="5088468" cy="975360"/>
            </a:xfrm>
            <a:prstGeom prst="roundRect"/>
            <a:solidFill>
              <a:srgbClr val="DEEBF7">
                <a:alpha val="100000"/>
              </a:srgbClr>
            </a:solidFill>
            <a:ln w="9525">
              <a:solidFill>
                <a:srgbClr val="2E75B6">
                  <a:alpha val="100000"/>
                </a:srgbClr>
              </a:solidFill>
              <a:prstDash val="solid"/>
              <a:headEnd type="none" w="med" len="med"/>
              <a:tailEnd type="none" w="med" len="med"/>
            </a:ln>
            <a:effectLst>
              <a:outerShdw blurRad="50800" dist="38100" dir="13500000" rotWithShape="0">
                <a:srgbClr val="000000">
                  <a:alpha val="40000"/>
                </a:srgbClr>
              </a:outerShdw>
            </a:effectLst>
          </p:spPr>
          <p:txBody>
            <a:bodyPr anchor="ctr"/>
            <a:lstStyle/>
            <a:p>
              <a:pPr marL="0" algn="ctr"/>
            </a:p>
          </p:txBody>
        </p:sp>
        <p:sp>
          <p:nvSpPr>
            <p:cNvPr id="12" name="文本4"/>
            <p:cNvSpPr txBox="1"/>
            <p:nvPr/>
          </p:nvSpPr>
          <p:spPr>
            <a:xfrm>
              <a:off x="14045" y="0"/>
              <a:ext cx="5088468" cy="939651"/>
            </a:xfrm>
            <a:prstGeom prst="rect">
              <a:avLst/>
            </a:prstGeom>
            <a:noFill/>
          </p:spPr>
          <p:txBody>
            <a:bodyPr anchor="ctr"/>
            <a:lstStyle/>
            <a:p>
              <a:pPr marL="0" algn="ctr">
                <a:lnSpc>
                  <a:spcPts val="2800"/>
                </a:lnSpc>
              </a:pPr>
              <a:r>
                <a:rPr lang="zh-CN" altLang="en-US" sz="2400" b="0" i="0" dirty="0">
                  <a:solidFill>
                    <a:srgbClr val="000000">
                      <a:alpha val="100000"/>
                    </a:srgbClr>
                  </a:solidFill>
                  <a:latin typeface="Times New Roman"/>
                  <a:ea typeface="Times New Roman"/>
                </a:rPr>
                <a:t>3</a:t>
              </a:r>
              <a:r>
                <a:rPr lang="zh-CN" altLang="en-US" sz="2400" b="0" i="0" dirty="0">
                  <a:solidFill>
                    <a:srgbClr val="000000">
                      <a:alpha val="100000"/>
                    </a:srgbClr>
                  </a:solidFill>
                  <a:latin typeface="黑体"/>
                  <a:ea typeface="黑体"/>
                </a:rPr>
                <a:t>．从单一应用到应用融合</a:t>
              </a:r>
            </a:p>
          </p:txBody>
        </p:sp>
      </p:grpSp>
      <p:grpSp>
        <p:nvGrpSpPr>
          <p:cNvPr id="13" name="组合4"/>
          <p:cNvGrpSpPr/>
          <p:nvPr/>
        </p:nvGrpSpPr>
        <p:grpSpPr>
          <a:xfrm>
            <a:off x="3309356" y="1041362"/>
            <a:ext cx="5543424" cy="904712"/>
            <a:chOff x="0" y="0"/>
            <a:chExt cx="5543424" cy="904712"/>
          </a:xfrm>
        </p:grpSpPr>
        <p:sp>
          <p:nvSpPr>
            <p:cNvPr id="14" name="形状4"/>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15" name="形状5"/>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16" name="形状6"/>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17" name="文本5"/>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pic>
        <p:nvPicPr>
          <p:cNvPr id="18"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6423752" y="2075926"/>
            <a:ext cx="4691815" cy="3928751"/>
          </a:xfrm>
          <a:prstGeom prst="rect">
            <a:avLst/>
          </a:prstGeom>
        </p:spPr>
      </p:pic>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 presetClass="entr" presetSubtype="4"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 calcmode="lin" valueType="num">
                                      <p:cBhvr>
                                        <p:cTn id="4" dur="500" fill="hold"/>
                                        <p:tgtEl>
                                          <p:spTgt spid="10"/>
                                        </p:tgtEl>
                                        <p:attrNameLst>
                                          <p:attrName>ppt_x</p:attrName>
                                        </p:attrNameLst>
                                      </p:cBhvr>
                                      <p:tavLst>
                                        <p:tav tm="0">
                                          <p:val>
                                            <p:strVal val="#ppt_x"/>
                                          </p:val>
                                        </p:tav>
                                        <p:tav tm="100000">
                                          <p:val>
                                            <p:strVal val="#ppt_x"/>
                                          </p:val>
                                        </p:tav>
                                      </p:tavLst>
                                    </p:anim>
                                    <p:anim calcmode="lin" valueType="num">
                                      <p:cBhvr>
                                        <p:cTn id="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5"/>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学习内容</a:t>
            </a:r>
          </a:p>
        </p:txBody>
      </p:sp>
      <p:grpSp>
        <p:nvGrpSpPr>
          <p:cNvPr id="6" name="组合2"/>
          <p:cNvGrpSpPr/>
          <p:nvPr/>
        </p:nvGrpSpPr>
        <p:grpSpPr>
          <a:xfrm>
            <a:off x="3309356" y="1041362"/>
            <a:ext cx="5543424" cy="904712"/>
            <a:chOff x="0" y="0"/>
            <a:chExt cx="5543424" cy="904712"/>
          </a:xfrm>
        </p:grpSpPr>
        <p:sp>
          <p:nvSpPr>
            <p:cNvPr id="7" name="形状2"/>
            <p:cNvSpPr txBox="1"/>
            <p:nvPr/>
          </p:nvSpPr>
          <p:spPr>
            <a:xfrm flipH="1">
              <a:off x="562711" y="717143"/>
              <a:ext cx="4794022" cy="12700"/>
            </a:xfrm>
            <a:prstGeom prst="line"/>
            <a:solidFill>
              <a:srgbClr val="FFFFFF">
                <a:alpha val="0"/>
              </a:srgbClr>
            </a:solidFill>
            <a:ln w="12700">
              <a:solidFill>
                <a:srgbClr val="01431D">
                  <a:alpha val="100000"/>
                </a:srgbClr>
              </a:solidFill>
              <a:prstDash val="solid"/>
            </a:ln>
          </p:spPr>
          <p:txBody>
            <a:bodyPr anchor="ctr"/>
            <a:lstStyle/>
            <a:p>
              <a:pPr marL="0" algn="ctr"/>
            </a:p>
          </p:txBody>
        </p:sp>
        <p:sp>
          <p:nvSpPr>
            <p:cNvPr id="8" name="形状3"/>
            <p:cNvSpPr txBox="1"/>
            <p:nvPr/>
          </p:nvSpPr>
          <p:spPr>
            <a:xfrm>
              <a:off x="0" y="435099"/>
              <a:ext cx="363415" cy="363415"/>
            </a:xfrm>
            <a:prstGeom prst="rect"/>
            <a:solidFill>
              <a:srgbClr val="01431D">
                <a:alpha val="100000"/>
              </a:srgbClr>
            </a:solidFill>
            <a:ln w="9525">
              <a:solidFill>
                <a:srgbClr val="FFFFFF">
                  <a:alpha val="0"/>
                </a:srgbClr>
              </a:solidFill>
            </a:ln>
          </p:spPr>
          <p:txBody>
            <a:bodyPr anchor="ctr"/>
            <a:lstStyle/>
            <a:p>
              <a:pPr marL="0" algn="ctr"/>
            </a:p>
          </p:txBody>
        </p:sp>
        <p:sp>
          <p:nvSpPr>
            <p:cNvPr id="9" name="形状4"/>
            <p:cNvSpPr txBox="1"/>
            <p:nvPr/>
          </p:nvSpPr>
          <p:spPr>
            <a:xfrm>
              <a:off x="199298" y="658529"/>
              <a:ext cx="246183" cy="246183"/>
            </a:xfrm>
            <a:prstGeom prst="rect"/>
            <a:solidFill>
              <a:srgbClr val="01621F">
                <a:alpha val="100000"/>
              </a:srgbClr>
            </a:solidFill>
            <a:ln w="9525">
              <a:solidFill>
                <a:srgbClr val="FFFFFF">
                  <a:alpha val="0"/>
                </a:srgbClr>
              </a:solidFill>
            </a:ln>
          </p:spPr>
          <p:txBody>
            <a:bodyPr anchor="ctr"/>
            <a:lstStyle/>
            <a:p>
              <a:pPr marL="0" algn="ctr"/>
            </a:p>
          </p:txBody>
        </p:sp>
        <p:sp>
          <p:nvSpPr>
            <p:cNvPr id="10" name="文本6"/>
            <p:cNvSpPr txBox="1"/>
            <p:nvPr/>
          </p:nvSpPr>
          <p:spPr>
            <a:xfrm>
              <a:off x="558902" y="0"/>
              <a:ext cx="4984522"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一、互联网应用特征的变迁</a:t>
              </a:r>
            </a:p>
          </p:txBody>
        </p:sp>
      </p:grpSp>
      <p:sp>
        <p:nvSpPr>
          <p:cNvPr id="11" name="文本2"/>
          <p:cNvSpPr txBox="1"/>
          <p:nvPr/>
        </p:nvSpPr>
        <p:spPr>
          <a:xfrm>
            <a:off x="1249832" y="1945662"/>
            <a:ext cx="10265257" cy="717261"/>
          </a:xfrm>
          <a:prstGeom prst="rect">
            <a:avLst/>
          </a:prstGeom>
          <a:noFill/>
        </p:spPr>
        <p:txBody>
          <a:bodyPr anchor="t"/>
          <a:lstStyle/>
          <a:p>
            <a:pPr marL="-608400" algn="l">
              <a:lnSpc>
                <a:spcPts val="3600"/>
              </a:lnSpc>
              <a:buFont typeface="Arial"/>
              <a:buChar char=" "/>
            </a:pPr>
            <a:r>
              <a:rPr lang="zh-CN" altLang="en-US" sz="2400" b="0" i="0" dirty="0">
                <a:solidFill>
                  <a:srgbClr val="000000">
                    <a:alpha val="100000"/>
                  </a:srgbClr>
                </a:solidFill>
                <a:latin typeface="楷体"/>
                <a:ea typeface="楷体"/>
              </a:rPr>
              <a:t>请同学们参照下表，依据使用体验梳理互联网应用的特征。</a:t>
            </a:r>
          </a:p>
        </p:txBody>
      </p:sp>
      <p:graphicFrame>
        <p:nvGraphicFramePr>
          <p:cNvPr id="12" name="表格1">
            <a:extLst>
              <a:ext uri="{FF2B5EF4-FFF2-40B4-BE49-F238E27FC236}">
                <a16:creationId xmlns:a16="http://schemas.microsoft.com/office/drawing/2014/main" id="{62B2FBE6-5C8C-E811-489E-1440CA960B7D}"/>
              </a:ext>
            </a:extLst>
          </p:cNvPr>
          <p:cNvGraphicFramePr>
            <a:graphicFrameLocks noGrp="1"/>
          </p:cNvGraphicFramePr>
          <p:nvPr>
            <p:extLst>
              <p:ext uri="{D42A27DB-BD31-4B8C-83A1-F6EECF244321}">
                <p14:modId xmlns:p14="http://schemas.microsoft.com/office/powerpoint/2010/main" val="3345567701"/>
              </p:ext>
            </p:extLst>
          </p:nvPr>
        </p:nvGraphicFramePr>
        <p:xfrm>
          <a:off x="1112939" y="2662685"/>
          <a:ext cx="9415364" cy="2632224"/>
        </p:xfrm>
        <a:graphic>
          <a:graphicData uri="http://schemas.openxmlformats.org/drawingml/2006/table">
            <a:tbl>
              <a:tblPr firstRow="1" bandRow="1">
                <a:tableStyleId>{5C22544A-7EE6-4342-B048-85BDC9FD1C3A}</a:tableStyleId>
              </a:tblPr>
              <a:tblGrid>
                <a:gridCol w="2353841">
                  <a:extLst>
                    <a:ext uri="{9D8B030D-6E8A-4147-A177-3AD203B41FA5}">
                      <a16:colId xmlns:a16="http://schemas.microsoft.com/office/drawing/2014/main" val="2854172943"/>
                    </a:ext>
                  </a:extLst>
                </a:gridCol>
                <a:gridCol w="2353841">
                  <a:extLst>
                    <a:ext uri="{9D8B030D-6E8A-4147-A177-3AD203B41FA5}">
                      <a16:colId xmlns:a16="http://schemas.microsoft.com/office/drawing/2014/main" val="2854172943"/>
                    </a:ext>
                  </a:extLst>
                </a:gridCol>
                <a:gridCol w="2353841">
                  <a:extLst>
                    <a:ext uri="{9D8B030D-6E8A-4147-A177-3AD203B41FA5}">
                      <a16:colId xmlns:a16="http://schemas.microsoft.com/office/drawing/2014/main" val="2854172943"/>
                    </a:ext>
                  </a:extLst>
                </a:gridCol>
                <a:gridCol w="2353841">
                  <a:extLst>
                    <a:ext uri="{9D8B030D-6E8A-4147-A177-3AD203B41FA5}">
                      <a16:colId xmlns:a16="http://schemas.microsoft.com/office/drawing/2014/main" val="2854172943"/>
                    </a:ext>
                  </a:extLst>
                </a:gridCol>
              </a:tblGrid>
              <a:tr h="724730">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互联网应用</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内容形式</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交互方式</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功能特征</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r>
              <a:tr h="999444">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文本为主</a:t>
                      </a:r>
                    </a:p>
                    <a:p>
                      <a:pPr marL="0" algn="l">
                        <a:lnSpc>
                          <a:spcPts val="2400"/>
                        </a:lnSpc>
                      </a:pPr>
                      <a:r>
                        <a:rPr lang="zh-CN" altLang="en-US" sz="2000" b="0" i="0" dirty="0">
                          <a:solidFill>
                            <a:srgbClr val="000000">
                              <a:alpha val="100000"/>
                            </a:srgbClr>
                          </a:solidFill>
                          <a:latin typeface="楷体"/>
                          <a:ea typeface="楷体"/>
                        </a:rPr>
                        <a:t>□ 图文声像并茂</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字符界面</a:t>
                      </a:r>
                    </a:p>
                    <a:p>
                      <a:pPr marL="0" algn="l">
                        <a:lnSpc>
                          <a:spcPts val="2400"/>
                        </a:lnSpc>
                      </a:pPr>
                      <a:r>
                        <a:rPr lang="zh-CN" altLang="en-US" sz="2000" b="0" i="0" dirty="0">
                          <a:solidFill>
                            <a:srgbClr val="000000">
                              <a:alpha val="100000"/>
                            </a:srgbClr>
                          </a:solidFill>
                          <a:latin typeface="楷体"/>
                          <a:ea typeface="楷体"/>
                        </a:rPr>
                        <a:t>□ 图形化界面</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单一应用</a:t>
                      </a:r>
                    </a:p>
                    <a:p>
                      <a:pPr marL="0" algn="l">
                        <a:lnSpc>
                          <a:spcPts val="2400"/>
                        </a:lnSpc>
                      </a:pPr>
                      <a:r>
                        <a:rPr lang="zh-CN" altLang="en-US" sz="2000" b="0" i="0" dirty="0">
                          <a:solidFill>
                            <a:srgbClr val="000000">
                              <a:alpha val="100000"/>
                            </a:srgbClr>
                          </a:solidFill>
                          <a:latin typeface="楷体"/>
                          <a:ea typeface="楷体"/>
                        </a:rPr>
                        <a:t>□ 应用融合</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r>
              <a:tr h="908050">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文本为主</a:t>
                      </a:r>
                    </a:p>
                    <a:p>
                      <a:pPr marL="0" algn="l">
                        <a:lnSpc>
                          <a:spcPts val="2400"/>
                        </a:lnSpc>
                      </a:pPr>
                      <a:r>
                        <a:rPr lang="zh-CN" altLang="en-US" sz="2000" b="0" i="0" dirty="0">
                          <a:solidFill>
                            <a:srgbClr val="000000">
                              <a:alpha val="100000"/>
                            </a:srgbClr>
                          </a:solidFill>
                          <a:latin typeface="楷体"/>
                          <a:ea typeface="楷体"/>
                        </a:rPr>
                        <a:t>□ 图文声像并茂</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字符界面</a:t>
                      </a:r>
                    </a:p>
                    <a:p>
                      <a:pPr marL="0" algn="l">
                        <a:lnSpc>
                          <a:spcPts val="2400"/>
                        </a:lnSpc>
                      </a:pPr>
                      <a:r>
                        <a:rPr lang="zh-CN" altLang="en-US" sz="2000" b="0" i="0" dirty="0">
                          <a:solidFill>
                            <a:srgbClr val="000000">
                              <a:alpha val="100000"/>
                            </a:srgbClr>
                          </a:solidFill>
                          <a:latin typeface="楷体"/>
                          <a:ea typeface="楷体"/>
                        </a:rPr>
                        <a:t>□ 图形化界面</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ctr"/>
                    <a:lstStyle/>
                    <a:p>
                      <a:pPr marL="0" algn="l">
                        <a:lnSpc>
                          <a:spcPts val="2400"/>
                        </a:lnSpc>
                      </a:pPr>
                      <a:r>
                        <a:rPr lang="zh-CN" altLang="en-US" sz="2000" b="0" i="0" dirty="0">
                          <a:solidFill>
                            <a:srgbClr val="000000">
                              <a:alpha val="100000"/>
                            </a:srgbClr>
                          </a:solidFill>
                          <a:latin typeface="楷体"/>
                          <a:ea typeface="楷体"/>
                        </a:rPr>
                        <a:t>□ 单一应用</a:t>
                      </a:r>
                    </a:p>
                    <a:p>
                      <a:pPr marL="0" algn="l">
                        <a:lnSpc>
                          <a:spcPts val="2400"/>
                        </a:lnSpc>
                      </a:pPr>
                      <a:r>
                        <a:rPr lang="zh-CN" altLang="en-US" sz="2000" b="0" i="0" dirty="0">
                          <a:solidFill>
                            <a:srgbClr val="000000">
                              <a:alpha val="100000"/>
                            </a:srgbClr>
                          </a:solidFill>
                          <a:latin typeface="楷体"/>
                          <a:ea typeface="楷体"/>
                        </a:rPr>
                        <a:t>□ 应用融合</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r>
            </a:tbl>
          </a:graphicData>
        </a:graphic>
      </p:graphicFrame>
      <p:sp>
        <p:nvSpPr>
          <p:cNvPr id="13" name="文本3"/>
          <p:cNvSpPr txBox="1"/>
          <p:nvPr/>
        </p:nvSpPr>
        <p:spPr>
          <a:xfrm>
            <a:off x="1112834" y="5512984"/>
            <a:ext cx="6096000" cy="944785"/>
          </a:xfrm>
          <a:prstGeom prst="rect">
            <a:avLst/>
          </a:prstGeom>
          <a:noFill/>
        </p:spPr>
        <p:txBody>
          <a:bodyPr anchor="t"/>
          <a:lstStyle/>
          <a:p>
            <a:pPr marL="0" algn="l"/>
            <a:r>
              <a:rPr lang="zh-CN" altLang="en-US" sz="1499" b="0" i="0" dirty="0">
                <a:solidFill>
                  <a:srgbClr val="000000">
                    <a:alpha val="100000"/>
                  </a:srgbClr>
                </a:solidFill>
                <a:latin typeface="Microsoft YaHei"/>
                <a:ea typeface="Microsoft YaHei"/>
              </a:rPr>
              <a:t>A组：高德地图  https://www.amap.com/</a:t>
            </a:r>
          </a:p>
          <a:p>
            <a:pPr marL="0" algn="l"/>
            <a:r>
              <a:rPr lang="zh-CN" altLang="en-US" sz="1499" b="0" i="0" dirty="0">
                <a:solidFill>
                  <a:srgbClr val="000000">
                    <a:alpha val="100000"/>
                  </a:srgbClr>
                </a:solidFill>
                <a:latin typeface="Microsoft YaHei"/>
                <a:ea typeface="Microsoft YaHei"/>
              </a:rPr>
              <a:t>B组：当当网    https://www.dangdang.com/</a:t>
            </a:r>
          </a:p>
          <a:p>
            <a:pPr marL="0" algn="l"/>
          </a:p>
        </p:txBody>
      </p:sp>
      <p:sp>
        <p:nvSpPr>
          <p:cNvPr id="14" name="文本4"/>
          <p:cNvSpPr txBox="1"/>
          <p:nvPr/>
        </p:nvSpPr>
        <p:spPr>
          <a:xfrm>
            <a:off x="5842006" y="5512784"/>
            <a:ext cx="5419090" cy="693356"/>
          </a:xfrm>
          <a:prstGeom prst="rect">
            <a:avLst/>
          </a:prstGeom>
          <a:noFill/>
        </p:spPr>
        <p:txBody>
          <a:bodyPr anchor="t"/>
          <a:lstStyle/>
          <a:p>
            <a:pPr marL="0" algn="l"/>
            <a:r>
              <a:rPr lang="zh-CN" altLang="en-US" sz="1499" b="0" i="0" dirty="0">
                <a:solidFill>
                  <a:srgbClr val="000000">
                    <a:alpha val="100000"/>
                  </a:srgbClr>
                </a:solidFill>
                <a:latin typeface="Microsoft YaHei"/>
                <a:ea typeface="Microsoft YaHei"/>
              </a:rPr>
              <a:t>C组：国家智慧教育公共服务平台 https://www.smartedu.cn/</a:t>
            </a:r>
          </a:p>
          <a:p>
            <a:pPr marL="0" algn="l"/>
            <a:r>
              <a:rPr lang="zh-CN" altLang="en-US" sz="1499" b="0" i="0" dirty="0">
                <a:solidFill>
                  <a:srgbClr val="000000">
                    <a:alpha val="100000"/>
                  </a:srgbClr>
                </a:solidFill>
                <a:latin typeface="Microsoft YaHei"/>
                <a:ea typeface="Microsoft YaHei"/>
              </a:rPr>
              <a:t>D组：携程旅行网  https://www.ctrip.com/</a:t>
            </a:r>
          </a:p>
        </p:txBody>
      </p:sp>
      <p:pic>
        <p:nvPicPr>
          <p:cNvPr id="15" name="在线文档1"/>
          <p:cNvPicPr>
            <a:picLocks noChangeAspect="1"/>
          </p:cNvPicPr>
          <p:nvPr/>
        </p:nvPicPr>
        <p:blipFill>
          <a:fillRect/>
          <a:blip r:embed="rId2"/>
          <a:stretch/>
        </p:blipFill>
        <p:spPr>
          <a:xfrm>
            <a:off x="8115700" y="6344050"/>
            <a:ext cx="4076700" cy="514350"/>
          </a:xfrm>
          <a:prstGeom prst="rect">
            <a:avLst/>
          </a:prstGeom>
        </p:spPr>
      </p:pic>
    </p:spTree>
    <p:extLst>
      <p:ext uri="{BB962C8B-B14F-4D97-AF65-F5344CB8AC3E}">
        <p14:creationId xmlns:p14="http://schemas.microsoft.com/office/powerpoint/2010/main" val="840519474"/>
      </p:ext>
    </p:extLst>
  </p:cSld>
  <p:clrMapOvr>
    <a:masterClrMapping/>
  </p:clrMapOvr>
</p:sld>
</file>

<file path=ppt/slides/slide12.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blipFill>
          <a:blip r:embed="rId17"/>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2"/>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6"/>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a:t>
            </a:r>
            <a:r>
              <a:rPr lang="zh-CN" altLang="en-US" sz="2400" b="0" i="0" dirty="0">
                <a:solidFill>
                  <a:srgbClr val="FFFFFF">
                    <a:alpha val="100000"/>
                  </a:srgbClr>
                </a:solidFill>
                <a:latin typeface="楷体"/>
                <a:ea typeface="楷体"/>
              </a:rPr>
              <a:t>  </a:t>
            </a:r>
            <a:r>
              <a:rPr lang="zh-CN" altLang="en-US" sz="2400" b="0" i="0" dirty="0">
                <a:solidFill>
                  <a:srgbClr val="FFFFFF">
                    <a:alpha val="100000"/>
                  </a:srgbClr>
                </a:solidFill>
                <a:latin typeface="黑体"/>
                <a:ea typeface="黑体"/>
              </a:rPr>
              <a:t>学习内容</a:t>
            </a:r>
          </a:p>
        </p:txBody>
      </p:sp>
      <p:grpSp>
        <p:nvGrpSpPr>
          <p:cNvPr id="6" name="组合2"/>
          <p:cNvGrpSpPr/>
          <p:nvPr/>
        </p:nvGrpSpPr>
        <p:grpSpPr>
          <a:xfrm>
            <a:off x="700716" y="3285033"/>
            <a:ext cx="1782213" cy="1303493"/>
            <a:chOff x="0" y="0"/>
            <a:chExt cx="1782213" cy="1303493"/>
          </a:xfrm>
        </p:grpSpPr>
        <p:sp>
          <p:nvSpPr>
            <p:cNvPr id="7" name="形状3"/>
            <p:cNvSpPr txBox="1"/>
            <p:nvPr/>
          </p:nvSpPr>
          <p:spPr>
            <a:xfrm>
              <a:off x="0" y="88103"/>
              <a:ext cx="1697990" cy="1215390"/>
            </a:xfrm>
            <a:prstGeom prst="roundRect"/>
            <a:solidFill>
              <a:srgbClr val="92D050">
                <a:alpha val="100000"/>
              </a:srgbClr>
            </a:solidFill>
            <a:ln w="12700">
              <a:solidFill>
                <a:srgbClr val="41719C">
                  <a:alpha val="100000"/>
                </a:srgbClr>
              </a:solidFill>
              <a:prstDash val="solid"/>
              <a:headEnd type="none" w="med" len="med"/>
              <a:tailEnd type="none" w="med" len="med"/>
            </a:ln>
          </p:spPr>
          <p:txBody>
            <a:bodyPr anchor="ctr"/>
            <a:lstStyle/>
            <a:p>
              <a:pPr marL="0" algn="ctr"/>
            </a:p>
          </p:txBody>
        </p:sp>
        <p:sp>
          <p:nvSpPr>
            <p:cNvPr id="8" name="文本7"/>
            <p:cNvSpPr txBox="1"/>
            <p:nvPr/>
          </p:nvSpPr>
          <p:spPr>
            <a:xfrm>
              <a:off x="84223" y="0"/>
              <a:ext cx="1697990" cy="1292535"/>
            </a:xfrm>
            <a:prstGeom prst="rect">
              <a:avLst/>
            </a:prstGeom>
            <a:noFill/>
          </p:spPr>
          <p:txBody>
            <a:bodyPr anchor="ctr"/>
            <a:lstStyle/>
            <a:p>
              <a:pPr marL="0" algn="ctr">
                <a:lnSpc>
                  <a:spcPts val="2800"/>
                </a:lnSpc>
              </a:pPr>
              <a:r>
                <a:rPr lang="zh-CN" altLang="en-US" sz="2400" b="1" i="0" dirty="0">
                  <a:solidFill>
                    <a:srgbClr val="000000">
                      <a:alpha val="100000"/>
                    </a:srgbClr>
                  </a:solidFill>
                  <a:latin typeface="楷体"/>
                  <a:ea typeface="楷体"/>
                </a:rPr>
                <a:t>互联网应用的使用状况</a:t>
              </a:r>
            </a:p>
          </p:txBody>
        </p:sp>
      </p:grpSp>
      <p:sp>
        <p:nvSpPr>
          <p:cNvPr id="9" name="形状1"/>
          <p:cNvSpPr txBox="1"/>
          <p:nvPr/>
        </p:nvSpPr>
        <p:spPr>
          <a:xfrm>
            <a:off x="2503990" y="2313123"/>
            <a:ext cx="154940" cy="3606800"/>
          </a:xfrm>
          <a:prstGeom prst="leftBrace"/>
          <a:solidFill>
            <a:srgbClr val="FFFFFF">
              <a:alpha val="0"/>
            </a:srgbClr>
          </a:solidFill>
          <a:ln w="9525">
            <a:solidFill>
              <a:srgbClr val="595959">
                <a:alpha val="100000"/>
              </a:srgbClr>
            </a:solidFill>
            <a:prstDash val="solid"/>
            <a:headEnd type="none" w="med" len="med"/>
            <a:tailEnd type="none" w="med" len="med"/>
          </a:ln>
        </p:spPr>
        <p:txBody>
          <a:bodyPr anchor="ctr"/>
          <a:lstStyle/>
          <a:p>
            <a:pPr marL="0" algn="ctr"/>
          </a:p>
        </p:txBody>
      </p:sp>
      <p:grpSp>
        <p:nvGrpSpPr>
          <p:cNvPr id="10" name="组合3"/>
          <p:cNvGrpSpPr/>
          <p:nvPr/>
        </p:nvGrpSpPr>
        <p:grpSpPr>
          <a:xfrm>
            <a:off x="2764340" y="2116750"/>
            <a:ext cx="1500820" cy="624363"/>
            <a:chOff x="0" y="0"/>
            <a:chExt cx="1500820" cy="624363"/>
          </a:xfrm>
        </p:grpSpPr>
        <p:sp>
          <p:nvSpPr>
            <p:cNvPr id="11" name="形状4"/>
            <p:cNvSpPr txBox="1"/>
            <p:nvPr/>
          </p:nvSpPr>
          <p:spPr>
            <a:xfrm>
              <a:off x="0" y="32543"/>
              <a:ext cx="1475740" cy="591820"/>
            </a:xfrm>
            <a:prstGeom prst="roundRect"/>
            <a:solidFill>
              <a:srgbClr val="00B050">
                <a:alpha val="100000"/>
              </a:srgbClr>
            </a:solidFill>
            <a:ln w="12700">
              <a:solidFill>
                <a:srgbClr val="41719C">
                  <a:alpha val="100000"/>
                </a:srgbClr>
              </a:solidFill>
              <a:prstDash val="solid"/>
              <a:headEnd type="none" w="med" len="med"/>
              <a:tailEnd type="none" w="med" len="med"/>
            </a:ln>
          </p:spPr>
          <p:txBody>
            <a:bodyPr anchor="ctr"/>
            <a:lstStyle/>
            <a:p>
              <a:pPr marL="0" algn="ctr"/>
            </a:p>
          </p:txBody>
        </p:sp>
        <p:sp>
          <p:nvSpPr>
            <p:cNvPr id="12" name="文本8"/>
            <p:cNvSpPr txBox="1"/>
            <p:nvPr/>
          </p:nvSpPr>
          <p:spPr>
            <a:xfrm>
              <a:off x="25080" y="0"/>
              <a:ext cx="1475740" cy="557845"/>
            </a:xfrm>
            <a:prstGeom prst="rect">
              <a:avLst/>
            </a:prstGeom>
            <a:noFill/>
          </p:spPr>
          <p:txBody>
            <a:bodyPr anchor="ctr"/>
            <a:lstStyle/>
            <a:p>
              <a:pPr marL="0" algn="ctr">
                <a:lnSpc>
                  <a:spcPts val="2800"/>
                </a:lnSpc>
              </a:pPr>
              <a:r>
                <a:rPr lang="zh-CN" altLang="en-US" sz="2400" b="1" i="0" dirty="0">
                  <a:solidFill>
                    <a:srgbClr val="FFFFFF">
                      <a:alpha val="100000"/>
                    </a:srgbClr>
                  </a:solidFill>
                  <a:latin typeface="楷体"/>
                  <a:ea typeface="楷体"/>
                </a:rPr>
                <a:t>基础应用</a:t>
              </a:r>
            </a:p>
          </p:txBody>
        </p:sp>
      </p:grpSp>
      <p:grpSp>
        <p:nvGrpSpPr>
          <p:cNvPr id="13" name="组合4"/>
          <p:cNvGrpSpPr/>
          <p:nvPr/>
        </p:nvGrpSpPr>
        <p:grpSpPr>
          <a:xfrm>
            <a:off x="2764340" y="3157713"/>
            <a:ext cx="1500820" cy="624363"/>
            <a:chOff x="0" y="0"/>
            <a:chExt cx="1500820" cy="624363"/>
          </a:xfrm>
        </p:grpSpPr>
        <p:sp>
          <p:nvSpPr>
            <p:cNvPr id="14" name="形状5"/>
            <p:cNvSpPr txBox="1"/>
            <p:nvPr/>
          </p:nvSpPr>
          <p:spPr>
            <a:xfrm>
              <a:off x="0" y="32543"/>
              <a:ext cx="1475740" cy="591820"/>
            </a:xfrm>
            <a:prstGeom prst="roundRect"/>
            <a:solidFill>
              <a:srgbClr val="00B050">
                <a:alpha val="100000"/>
              </a:srgbClr>
            </a:solidFill>
            <a:ln w="12700">
              <a:solidFill>
                <a:srgbClr val="41719C">
                  <a:alpha val="100000"/>
                </a:srgbClr>
              </a:solidFill>
              <a:prstDash val="solid"/>
              <a:headEnd type="none" w="med" len="med"/>
              <a:tailEnd type="none" w="med" len="med"/>
            </a:ln>
          </p:spPr>
          <p:txBody>
            <a:bodyPr anchor="ctr"/>
            <a:lstStyle/>
            <a:p>
              <a:pPr marL="0" algn="ctr"/>
            </a:p>
          </p:txBody>
        </p:sp>
        <p:sp>
          <p:nvSpPr>
            <p:cNvPr id="15" name="文本9"/>
            <p:cNvSpPr txBox="1"/>
            <p:nvPr/>
          </p:nvSpPr>
          <p:spPr>
            <a:xfrm>
              <a:off x="25080" y="0"/>
              <a:ext cx="1475740" cy="557845"/>
            </a:xfrm>
            <a:prstGeom prst="rect">
              <a:avLst/>
            </a:prstGeom>
            <a:noFill/>
          </p:spPr>
          <p:txBody>
            <a:bodyPr anchor="ctr"/>
            <a:lstStyle/>
            <a:p>
              <a:pPr marL="0" algn="ctr">
                <a:lnSpc>
                  <a:spcPts val="2800"/>
                </a:lnSpc>
              </a:pPr>
              <a:r>
                <a:rPr lang="zh-CN" altLang="en-US" sz="2400" b="1" i="0" dirty="0">
                  <a:solidFill>
                    <a:srgbClr val="FFFFFF">
                      <a:alpha val="100000"/>
                    </a:srgbClr>
                  </a:solidFill>
                  <a:latin typeface="楷体"/>
                  <a:ea typeface="楷体"/>
                </a:rPr>
                <a:t>商务交易</a:t>
              </a:r>
            </a:p>
          </p:txBody>
        </p:sp>
      </p:grpSp>
      <p:grpSp>
        <p:nvGrpSpPr>
          <p:cNvPr id="16" name="组合5"/>
          <p:cNvGrpSpPr/>
          <p:nvPr/>
        </p:nvGrpSpPr>
        <p:grpSpPr>
          <a:xfrm>
            <a:off x="2764340" y="4258605"/>
            <a:ext cx="1500820" cy="624363"/>
            <a:chOff x="0" y="0"/>
            <a:chExt cx="1500820" cy="624363"/>
          </a:xfrm>
        </p:grpSpPr>
        <p:sp>
          <p:nvSpPr>
            <p:cNvPr id="17" name="形状6"/>
            <p:cNvSpPr txBox="1"/>
            <p:nvPr/>
          </p:nvSpPr>
          <p:spPr>
            <a:xfrm>
              <a:off x="0" y="32543"/>
              <a:ext cx="1475740" cy="591820"/>
            </a:xfrm>
            <a:prstGeom prst="roundRect"/>
            <a:solidFill>
              <a:srgbClr val="00B050">
                <a:alpha val="100000"/>
              </a:srgbClr>
            </a:solidFill>
            <a:ln w="12700">
              <a:solidFill>
                <a:srgbClr val="41719C">
                  <a:alpha val="100000"/>
                </a:srgbClr>
              </a:solidFill>
              <a:prstDash val="solid"/>
              <a:headEnd type="none" w="med" len="med"/>
              <a:tailEnd type="none" w="med" len="med"/>
            </a:ln>
          </p:spPr>
          <p:txBody>
            <a:bodyPr anchor="ctr"/>
            <a:lstStyle/>
            <a:p>
              <a:pPr marL="0" algn="ctr"/>
            </a:p>
          </p:txBody>
        </p:sp>
        <p:sp>
          <p:nvSpPr>
            <p:cNvPr id="18" name="文本10"/>
            <p:cNvSpPr txBox="1"/>
            <p:nvPr/>
          </p:nvSpPr>
          <p:spPr>
            <a:xfrm>
              <a:off x="25080" y="0"/>
              <a:ext cx="1475740" cy="557845"/>
            </a:xfrm>
            <a:prstGeom prst="rect">
              <a:avLst/>
            </a:prstGeom>
            <a:noFill/>
          </p:spPr>
          <p:txBody>
            <a:bodyPr anchor="ctr"/>
            <a:lstStyle/>
            <a:p>
              <a:pPr marL="0" algn="ctr">
                <a:lnSpc>
                  <a:spcPts val="2800"/>
                </a:lnSpc>
              </a:pPr>
              <a:r>
                <a:rPr lang="zh-CN" altLang="en-US" sz="2400" b="1" i="0" dirty="0">
                  <a:solidFill>
                    <a:srgbClr val="FFFFFF">
                      <a:alpha val="100000"/>
                    </a:srgbClr>
                  </a:solidFill>
                  <a:latin typeface="楷体"/>
                  <a:ea typeface="楷体"/>
                </a:rPr>
                <a:t>公共服务</a:t>
              </a:r>
            </a:p>
          </p:txBody>
        </p:sp>
      </p:grpSp>
      <p:grpSp>
        <p:nvGrpSpPr>
          <p:cNvPr id="19" name="组合6"/>
          <p:cNvGrpSpPr/>
          <p:nvPr/>
        </p:nvGrpSpPr>
        <p:grpSpPr>
          <a:xfrm>
            <a:off x="2764340" y="5377475"/>
            <a:ext cx="1500820" cy="624363"/>
            <a:chOff x="0" y="0"/>
            <a:chExt cx="1500820" cy="624363"/>
          </a:xfrm>
        </p:grpSpPr>
        <p:sp>
          <p:nvSpPr>
            <p:cNvPr id="20" name="形状7"/>
            <p:cNvSpPr txBox="1"/>
            <p:nvPr/>
          </p:nvSpPr>
          <p:spPr>
            <a:xfrm>
              <a:off x="0" y="32543"/>
              <a:ext cx="1475740" cy="591820"/>
            </a:xfrm>
            <a:prstGeom prst="roundRect"/>
            <a:solidFill>
              <a:srgbClr val="00B050">
                <a:alpha val="100000"/>
              </a:srgbClr>
            </a:solidFill>
            <a:ln w="12700">
              <a:solidFill>
                <a:srgbClr val="41719C">
                  <a:alpha val="100000"/>
                </a:srgbClr>
              </a:solidFill>
              <a:prstDash val="solid"/>
              <a:headEnd type="none" w="med" len="med"/>
              <a:tailEnd type="none" w="med" len="med"/>
            </a:ln>
          </p:spPr>
          <p:txBody>
            <a:bodyPr anchor="ctr"/>
            <a:lstStyle/>
            <a:p>
              <a:pPr marL="0" algn="ctr"/>
            </a:p>
          </p:txBody>
        </p:sp>
        <p:sp>
          <p:nvSpPr>
            <p:cNvPr id="21" name="文本11"/>
            <p:cNvSpPr txBox="1"/>
            <p:nvPr/>
          </p:nvSpPr>
          <p:spPr>
            <a:xfrm>
              <a:off x="25080" y="0"/>
              <a:ext cx="1475740" cy="557845"/>
            </a:xfrm>
            <a:prstGeom prst="rect">
              <a:avLst/>
            </a:prstGeom>
            <a:noFill/>
          </p:spPr>
          <p:txBody>
            <a:bodyPr anchor="ctr"/>
            <a:lstStyle/>
            <a:p>
              <a:pPr marL="0" algn="ctr">
                <a:lnSpc>
                  <a:spcPts val="2800"/>
                </a:lnSpc>
              </a:pPr>
              <a:r>
                <a:rPr lang="zh-CN" altLang="en-US" sz="2400" b="1" i="0" dirty="0">
                  <a:solidFill>
                    <a:srgbClr val="FFFFFF">
                      <a:alpha val="100000"/>
                    </a:srgbClr>
                  </a:solidFill>
                  <a:latin typeface="楷体"/>
                  <a:ea typeface="楷体"/>
                </a:rPr>
                <a:t>网络娱乐</a:t>
              </a:r>
            </a:p>
          </p:txBody>
        </p:sp>
      </p:grpSp>
      <p:sp>
        <p:nvSpPr>
          <p:cNvPr id="22" name="文本2"/>
          <p:cNvSpPr txBox="1"/>
          <p:nvPr/>
        </p:nvSpPr>
        <p:spPr>
          <a:xfrm>
            <a:off x="4664443" y="2091983"/>
            <a:ext cx="3159128" cy="1108862"/>
          </a:xfrm>
          <a:prstGeom prst="rect">
            <a:avLst/>
          </a:prstGeom>
          <a:noFill/>
        </p:spPr>
        <p:txBody>
          <a:bodyPr anchor="t"/>
          <a:lstStyle/>
          <a:p>
            <a:pPr marL="0" algn="l">
              <a:lnSpc>
                <a:spcPts val="2400"/>
              </a:lnSpc>
            </a:pPr>
            <a:r>
              <a:rPr lang="zh-CN" altLang="en-US" sz="2000" b="0" i="0" dirty="0">
                <a:solidFill>
                  <a:srgbClr val="000000">
                    <a:alpha val="100000"/>
                  </a:srgbClr>
                </a:solidFill>
                <a:latin typeface="楷体"/>
                <a:ea typeface="楷体"/>
              </a:rPr>
              <a:t>如即时通信、搜索引擎、网络新闻、社交应用等</a:t>
            </a:r>
          </a:p>
        </p:txBody>
      </p:sp>
      <p:sp>
        <p:nvSpPr>
          <p:cNvPr id="23" name="文本3"/>
          <p:cNvSpPr txBox="1"/>
          <p:nvPr/>
        </p:nvSpPr>
        <p:spPr>
          <a:xfrm>
            <a:off x="4505139" y="3061437"/>
            <a:ext cx="3004939" cy="802742"/>
          </a:xfrm>
          <a:prstGeom prst="rect">
            <a:avLst/>
          </a:prstGeom>
          <a:noFill/>
        </p:spPr>
        <p:txBody>
          <a:bodyPr anchor="t"/>
          <a:lstStyle/>
          <a:p>
            <a:pPr marL="0" algn="l">
              <a:lnSpc>
                <a:spcPts val="2400"/>
              </a:lnSpc>
            </a:pPr>
            <a:r>
              <a:rPr lang="zh-CN" altLang="en-US" sz="2000" b="0" i="0" dirty="0">
                <a:solidFill>
                  <a:srgbClr val="000000">
                    <a:alpha val="100000"/>
                  </a:srgbClr>
                </a:solidFill>
                <a:latin typeface="楷体"/>
                <a:ea typeface="楷体"/>
              </a:rPr>
              <a:t>如网上外卖、网络购物、旅行预订、网络支付等</a:t>
            </a:r>
          </a:p>
        </p:txBody>
      </p:sp>
      <p:sp>
        <p:nvSpPr>
          <p:cNvPr id="24" name="文本4"/>
          <p:cNvSpPr txBox="1"/>
          <p:nvPr/>
        </p:nvSpPr>
        <p:spPr>
          <a:xfrm>
            <a:off x="4505138" y="4184150"/>
            <a:ext cx="3004939" cy="897255"/>
          </a:xfrm>
          <a:prstGeom prst="rect">
            <a:avLst/>
          </a:prstGeom>
          <a:noFill/>
        </p:spPr>
        <p:txBody>
          <a:bodyPr anchor="t"/>
          <a:lstStyle/>
          <a:p>
            <a:pPr marL="0" algn="l">
              <a:lnSpc>
                <a:spcPts val="2400"/>
              </a:lnSpc>
            </a:pPr>
            <a:r>
              <a:rPr lang="zh-CN" altLang="en-US" sz="2000" b="0" i="0" dirty="0">
                <a:solidFill>
                  <a:srgbClr val="000000">
                    <a:alpha val="100000"/>
                  </a:srgbClr>
                </a:solidFill>
                <a:latin typeface="楷体"/>
                <a:ea typeface="楷体"/>
              </a:rPr>
              <a:t>如网约车、在线教育、在线医疗等</a:t>
            </a:r>
          </a:p>
        </p:txBody>
      </p:sp>
      <p:sp>
        <p:nvSpPr>
          <p:cNvPr id="25" name="文本5"/>
          <p:cNvSpPr txBox="1"/>
          <p:nvPr/>
        </p:nvSpPr>
        <p:spPr>
          <a:xfrm>
            <a:off x="4505138" y="5292401"/>
            <a:ext cx="2940817" cy="897255"/>
          </a:xfrm>
          <a:prstGeom prst="rect">
            <a:avLst/>
          </a:prstGeom>
          <a:noFill/>
        </p:spPr>
        <p:txBody>
          <a:bodyPr anchor="t"/>
          <a:lstStyle/>
          <a:p>
            <a:pPr marL="0" algn="l">
              <a:lnSpc>
                <a:spcPts val="2400"/>
              </a:lnSpc>
            </a:pPr>
            <a:r>
              <a:rPr lang="zh-CN" altLang="en-US" sz="2000" b="0" i="0" dirty="0">
                <a:solidFill>
                  <a:srgbClr val="000000">
                    <a:alpha val="100000"/>
                  </a:srgbClr>
                </a:solidFill>
                <a:latin typeface="楷体"/>
                <a:ea typeface="楷体"/>
              </a:rPr>
              <a:t>如网络音乐、网络视频、网络游戏等</a:t>
            </a:r>
          </a:p>
        </p:txBody>
      </p:sp>
      <p:grpSp>
        <p:nvGrpSpPr>
          <p:cNvPr id="26" name="组合7"/>
          <p:cNvGrpSpPr/>
          <p:nvPr/>
        </p:nvGrpSpPr>
        <p:grpSpPr>
          <a:xfrm>
            <a:off x="2399065" y="1150583"/>
            <a:ext cx="7580559" cy="837356"/>
            <a:chOff x="0" y="0"/>
            <a:chExt cx="7580559" cy="837356"/>
          </a:xfrm>
        </p:grpSpPr>
        <p:sp>
          <p:nvSpPr>
            <p:cNvPr id="27" name="形状8"/>
            <p:cNvSpPr txBox="1"/>
            <p:nvPr/>
          </p:nvSpPr>
          <p:spPr>
            <a:xfrm flipH="1">
              <a:off x="597046" y="649787"/>
              <a:ext cx="6482497" cy="12700"/>
            </a:xfrm>
            <a:prstGeom prst="line"/>
            <a:solidFill>
              <a:srgbClr val="FFFFFF">
                <a:alpha val="0"/>
              </a:srgbClr>
            </a:solidFill>
            <a:ln w="12700">
              <a:solidFill>
                <a:srgbClr val="014E6A">
                  <a:alpha val="100000"/>
                </a:srgbClr>
              </a:solidFill>
              <a:prstDash val="solid"/>
            </a:ln>
          </p:spPr>
          <p:txBody>
            <a:bodyPr anchor="ctr"/>
            <a:lstStyle/>
            <a:p>
              <a:pPr marL="0" algn="ctr"/>
            </a:p>
          </p:txBody>
        </p:sp>
        <p:sp>
          <p:nvSpPr>
            <p:cNvPr id="28" name="文本12"/>
            <p:cNvSpPr txBox="1"/>
            <p:nvPr/>
          </p:nvSpPr>
          <p:spPr>
            <a:xfrm>
              <a:off x="338251" y="0"/>
              <a:ext cx="7242308"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二、我国互联网应用的发展状况</a:t>
              </a:r>
            </a:p>
          </p:txBody>
        </p:sp>
        <p:sp>
          <p:nvSpPr>
            <p:cNvPr id="29" name="形状9"/>
            <p:cNvSpPr txBox="1"/>
            <p:nvPr/>
          </p:nvSpPr>
          <p:spPr>
            <a:xfrm>
              <a:off x="0" y="367743"/>
              <a:ext cx="385589" cy="363415"/>
            </a:xfrm>
            <a:prstGeom prst="rect"/>
            <a:solidFill>
              <a:srgbClr val="014E6A">
                <a:alpha val="100000"/>
              </a:srgbClr>
            </a:solidFill>
            <a:ln w="9525">
              <a:solidFill>
                <a:srgbClr val="FFFFFF">
                  <a:alpha val="0"/>
                </a:srgbClr>
              </a:solidFill>
            </a:ln>
          </p:spPr>
          <p:txBody>
            <a:bodyPr anchor="ctr"/>
            <a:lstStyle/>
            <a:p>
              <a:pPr marL="0" algn="ctr"/>
            </a:p>
          </p:txBody>
        </p:sp>
        <p:sp>
          <p:nvSpPr>
            <p:cNvPr id="30" name="形状10"/>
            <p:cNvSpPr txBox="1"/>
            <p:nvPr/>
          </p:nvSpPr>
          <p:spPr>
            <a:xfrm>
              <a:off x="211459" y="591173"/>
              <a:ext cx="261204" cy="246183"/>
            </a:xfrm>
            <a:prstGeom prst="rect"/>
            <a:solidFill>
              <a:srgbClr val="1784AD">
                <a:alpha val="100000"/>
              </a:srgbClr>
            </a:solidFill>
            <a:ln w="9525">
              <a:solidFill>
                <a:srgbClr val="FFFFFF">
                  <a:alpha val="0"/>
                </a:srgbClr>
              </a:solidFill>
            </a:ln>
          </p:spPr>
          <p:txBody>
            <a:bodyPr anchor="ctr"/>
            <a:lstStyle/>
            <a:p>
              <a:pPr marL="0" algn="ctr"/>
            </a:p>
          </p:txBody>
        </p:sp>
      </p:grpSp>
      <p:grpSp>
        <p:nvGrpSpPr>
          <p:cNvPr id="31" name="组合8"/>
          <p:cNvGrpSpPr/>
          <p:nvPr/>
        </p:nvGrpSpPr>
        <p:grpSpPr>
          <a:xfrm>
            <a:off x="7823530" y="2041808"/>
            <a:ext cx="3025169" cy="827494"/>
            <a:chOff x="0" y="0"/>
            <a:chExt cx="3025169" cy="827494"/>
          </a:xfrm>
        </p:grpSpPr>
        <p:pic>
          <p:nvPicPr>
            <p:cNvPr id="32"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0" y="0"/>
              <a:ext cx="438973" cy="438964"/>
            </a:xfrm>
            <a:prstGeom prst="rect">
              <a:avLst/>
            </a:prstGeom>
          </p:spPr>
        </p:pic>
        <p:pic>
          <p:nvPicPr>
            <p:cNvPr id="33" name="图片2">
              <a:extLst>
                <a:ext uri="{FF2B5EF4-FFF2-40B4-BE49-F238E27FC236}">
                  <a16:creationId xmlns:a16="http://schemas.microsoft.com/office/drawing/2014/main" id="{69ED34C6-1862-8A8A-03F9-2D1EFC8C3215}"/>
                </a:ext>
              </a:extLst>
            </p:cNvPr>
            <p:cNvPicPr>
              <a:picLocks noChangeAspect="1"/>
            </p:cNvPicPr>
            <p:nvPr/>
          </p:nvPicPr>
          <p:blipFill>
            <a:blip r:embed="rId3"/>
            <a:stretch>
              <a:fillRect/>
            </a:stretch>
          </p:blipFill>
          <p:spPr>
            <a:xfrm>
              <a:off x="567130" y="16338"/>
              <a:ext cx="407309" cy="407308"/>
            </a:xfrm>
            <a:prstGeom prst="rect">
              <a:avLst/>
            </a:prstGeom>
          </p:spPr>
        </p:pic>
        <p:pic>
          <p:nvPicPr>
            <p:cNvPr id="34" name="图片3">
              <a:extLst>
                <a:ext uri="{FF2B5EF4-FFF2-40B4-BE49-F238E27FC236}">
                  <a16:creationId xmlns:a16="http://schemas.microsoft.com/office/drawing/2014/main" id="{69ED34C6-1862-8A8A-03F9-2D1EFC8C3215}"/>
                </a:ext>
              </a:extLst>
            </p:cNvPr>
            <p:cNvPicPr>
              <a:picLocks noChangeAspect="1"/>
            </p:cNvPicPr>
            <p:nvPr/>
          </p:nvPicPr>
          <p:blipFill>
            <a:blip r:embed="rId4"/>
            <a:stretch>
              <a:fillRect/>
            </a:stretch>
          </p:blipFill>
          <p:spPr>
            <a:xfrm>
              <a:off x="42348" y="460839"/>
              <a:ext cx="931502" cy="304348"/>
            </a:xfrm>
            <a:prstGeom prst="rect">
              <a:avLst/>
            </a:prstGeom>
          </p:spPr>
        </p:pic>
        <p:pic>
          <p:nvPicPr>
            <p:cNvPr id="35" name="图片4">
              <a:extLst>
                <a:ext uri="{FF2B5EF4-FFF2-40B4-BE49-F238E27FC236}">
                  <a16:creationId xmlns:a16="http://schemas.microsoft.com/office/drawing/2014/main" id="{69ED34C6-1862-8A8A-03F9-2D1EFC8C3215}"/>
                </a:ext>
              </a:extLst>
            </p:cNvPr>
            <p:cNvPicPr>
              <a:picLocks noChangeAspect="1"/>
            </p:cNvPicPr>
            <p:nvPr/>
          </p:nvPicPr>
          <p:blipFill>
            <a:blip r:embed="rId5"/>
            <a:stretch>
              <a:fillRect/>
            </a:stretch>
          </p:blipFill>
          <p:spPr>
            <a:xfrm>
              <a:off x="1201398" y="367608"/>
              <a:ext cx="931742" cy="414622"/>
            </a:xfrm>
            <a:prstGeom prst="rect">
              <a:avLst/>
            </a:prstGeom>
          </p:spPr>
        </p:pic>
        <p:pic>
          <p:nvPicPr>
            <p:cNvPr id="36" name="图片5">
              <a:extLst>
                <a:ext uri="{FF2B5EF4-FFF2-40B4-BE49-F238E27FC236}">
                  <a16:creationId xmlns:a16="http://schemas.microsoft.com/office/drawing/2014/main" id="{69ED34C6-1862-8A8A-03F9-2D1EFC8C3215}"/>
                </a:ext>
              </a:extLst>
            </p:cNvPr>
            <p:cNvPicPr>
              <a:picLocks noChangeAspect="1"/>
            </p:cNvPicPr>
            <p:nvPr/>
          </p:nvPicPr>
          <p:blipFill>
            <a:blip r:embed="rId6"/>
            <a:stretch>
              <a:fillRect/>
            </a:stretch>
          </p:blipFill>
          <p:spPr>
            <a:xfrm>
              <a:off x="2224640" y="327774"/>
              <a:ext cx="800529" cy="499720"/>
            </a:xfrm>
            <a:prstGeom prst="rect">
              <a:avLst/>
            </a:prstGeom>
          </p:spPr>
        </p:pic>
      </p:grpSp>
      <p:grpSp>
        <p:nvGrpSpPr>
          <p:cNvPr id="37" name="组合9"/>
          <p:cNvGrpSpPr/>
          <p:nvPr/>
        </p:nvGrpSpPr>
        <p:grpSpPr>
          <a:xfrm>
            <a:off x="7766352" y="3061526"/>
            <a:ext cx="3476815" cy="1089260"/>
            <a:chOff x="0" y="0"/>
            <a:chExt cx="3476815" cy="1089260"/>
          </a:xfrm>
        </p:grpSpPr>
        <p:pic>
          <p:nvPicPr>
            <p:cNvPr id="38" name="图片6">
              <a:extLst>
                <a:ext uri="{FF2B5EF4-FFF2-40B4-BE49-F238E27FC236}">
                  <a16:creationId xmlns:a16="http://schemas.microsoft.com/office/drawing/2014/main" id="{69ED34C6-1862-8A8A-03F9-2D1EFC8C3215}"/>
                </a:ext>
              </a:extLst>
            </p:cNvPr>
            <p:cNvPicPr>
              <a:picLocks noChangeAspect="1"/>
            </p:cNvPicPr>
            <p:nvPr/>
          </p:nvPicPr>
          <p:blipFill>
            <a:blip r:embed="rId7"/>
            <a:stretch>
              <a:fillRect/>
            </a:stretch>
          </p:blipFill>
          <p:spPr>
            <a:xfrm>
              <a:off x="0" y="166485"/>
              <a:ext cx="755854" cy="755857"/>
            </a:xfrm>
            <a:prstGeom prst="rect">
              <a:avLst/>
            </a:prstGeom>
          </p:spPr>
        </p:pic>
        <p:pic>
          <p:nvPicPr>
            <p:cNvPr id="39" name="图片7">
              <a:extLst>
                <a:ext uri="{FF2B5EF4-FFF2-40B4-BE49-F238E27FC236}">
                  <a16:creationId xmlns:a16="http://schemas.microsoft.com/office/drawing/2014/main" id="{69ED34C6-1862-8A8A-03F9-2D1EFC8C3215}"/>
                </a:ext>
              </a:extLst>
            </p:cNvPr>
            <p:cNvPicPr>
              <a:picLocks noChangeAspect="1"/>
            </p:cNvPicPr>
            <p:nvPr/>
          </p:nvPicPr>
          <p:blipFill>
            <a:blip r:embed="rId8"/>
            <a:stretch>
              <a:fillRect/>
            </a:stretch>
          </p:blipFill>
          <p:spPr>
            <a:xfrm>
              <a:off x="665960" y="0"/>
              <a:ext cx="1089256" cy="1089260"/>
            </a:xfrm>
            <a:prstGeom prst="rect">
              <a:avLst/>
            </a:prstGeom>
          </p:spPr>
        </p:pic>
        <p:pic>
          <p:nvPicPr>
            <p:cNvPr id="40" name="图片8">
              <a:extLst>
                <a:ext uri="{FF2B5EF4-FFF2-40B4-BE49-F238E27FC236}">
                  <a16:creationId xmlns:a16="http://schemas.microsoft.com/office/drawing/2014/main" id="{69ED34C6-1862-8A8A-03F9-2D1EFC8C3215}"/>
                </a:ext>
              </a:extLst>
            </p:cNvPr>
            <p:cNvPicPr>
              <a:picLocks noChangeAspect="1"/>
            </p:cNvPicPr>
            <p:nvPr/>
          </p:nvPicPr>
          <p:blipFill>
            <a:blip r:embed="rId9"/>
            <a:stretch>
              <a:fillRect/>
            </a:stretch>
          </p:blipFill>
          <p:spPr>
            <a:xfrm>
              <a:off x="1754418" y="242046"/>
              <a:ext cx="829528" cy="553031"/>
            </a:xfrm>
            <a:prstGeom prst="rect">
              <a:avLst/>
            </a:prstGeom>
          </p:spPr>
        </p:pic>
        <p:pic>
          <p:nvPicPr>
            <p:cNvPr id="41" name="图片9">
              <a:extLst>
                <a:ext uri="{FF2B5EF4-FFF2-40B4-BE49-F238E27FC236}">
                  <a16:creationId xmlns:a16="http://schemas.microsoft.com/office/drawing/2014/main" id="{69ED34C6-1862-8A8A-03F9-2D1EFC8C3215}"/>
                </a:ext>
              </a:extLst>
            </p:cNvPr>
            <p:cNvPicPr>
              <a:picLocks noChangeAspect="1"/>
            </p:cNvPicPr>
            <p:nvPr/>
          </p:nvPicPr>
          <p:blipFill>
            <a:blip r:embed="rId10"/>
            <a:stretch>
              <a:fillRect/>
            </a:stretch>
          </p:blipFill>
          <p:spPr>
            <a:xfrm>
              <a:off x="2525596" y="69138"/>
              <a:ext cx="951219" cy="951237"/>
            </a:xfrm>
            <a:prstGeom prst="rect">
              <a:avLst/>
            </a:prstGeom>
          </p:spPr>
        </p:pic>
      </p:grpSp>
      <p:grpSp>
        <p:nvGrpSpPr>
          <p:cNvPr id="42" name="组合10"/>
          <p:cNvGrpSpPr/>
          <p:nvPr/>
        </p:nvGrpSpPr>
        <p:grpSpPr>
          <a:xfrm>
            <a:off x="7608199" y="4258427"/>
            <a:ext cx="4123591" cy="881282"/>
            <a:chOff x="0" y="0"/>
            <a:chExt cx="4123591" cy="881282"/>
          </a:xfrm>
        </p:grpSpPr>
        <p:pic>
          <p:nvPicPr>
            <p:cNvPr id="43" name="图片10">
              <a:extLst>
                <a:ext uri="{FF2B5EF4-FFF2-40B4-BE49-F238E27FC236}">
                  <a16:creationId xmlns:a16="http://schemas.microsoft.com/office/drawing/2014/main" id="{69ED34C6-1862-8A8A-03F9-2D1EFC8C3215}"/>
                </a:ext>
              </a:extLst>
            </p:cNvPr>
            <p:cNvPicPr>
              <a:picLocks noChangeAspect="1"/>
            </p:cNvPicPr>
            <p:nvPr/>
          </p:nvPicPr>
          <p:blipFill>
            <a:blip r:embed="rId11"/>
            <a:stretch>
              <a:fillRect/>
            </a:stretch>
          </p:blipFill>
          <p:spPr>
            <a:xfrm>
              <a:off x="0" y="0"/>
              <a:ext cx="1419692" cy="869280"/>
            </a:xfrm>
            <a:prstGeom prst="rect">
              <a:avLst/>
            </a:prstGeom>
          </p:spPr>
        </p:pic>
        <p:pic>
          <p:nvPicPr>
            <p:cNvPr id="44" name="图片11">
              <a:extLst>
                <a:ext uri="{FF2B5EF4-FFF2-40B4-BE49-F238E27FC236}">
                  <a16:creationId xmlns:a16="http://schemas.microsoft.com/office/drawing/2014/main" id="{69ED34C6-1862-8A8A-03F9-2D1EFC8C3215}"/>
                </a:ext>
              </a:extLst>
            </p:cNvPr>
            <p:cNvPicPr>
              <a:picLocks noChangeAspect="1"/>
            </p:cNvPicPr>
            <p:nvPr/>
          </p:nvPicPr>
          <p:blipFill>
            <a:blip r:embed="rId12"/>
            <a:srcRect l="22023" t="39523" r="21472" b="41656"/>
            <a:stretch>
              <a:fillRect/>
            </a:stretch>
          </p:blipFill>
          <p:spPr>
            <a:xfrm>
              <a:off x="1297914" y="250698"/>
              <a:ext cx="2014080" cy="368608"/>
            </a:xfrm>
            <a:prstGeom prst="rect">
              <a:avLst/>
            </a:prstGeom>
          </p:spPr>
        </p:pic>
        <p:pic>
          <p:nvPicPr>
            <p:cNvPr id="45" name="图片12">
              <a:extLst>
                <a:ext uri="{FF2B5EF4-FFF2-40B4-BE49-F238E27FC236}">
                  <a16:creationId xmlns:a16="http://schemas.microsoft.com/office/drawing/2014/main" id="{69ED34C6-1862-8A8A-03F9-2D1EFC8C3215}"/>
                </a:ext>
              </a:extLst>
            </p:cNvPr>
            <p:cNvPicPr>
              <a:picLocks noChangeAspect="1"/>
            </p:cNvPicPr>
            <p:nvPr/>
          </p:nvPicPr>
          <p:blipFill>
            <a:blip r:embed="rId13"/>
            <a:stretch>
              <a:fillRect/>
            </a:stretch>
          </p:blipFill>
          <p:spPr>
            <a:xfrm>
              <a:off x="3335988" y="93679"/>
              <a:ext cx="787603" cy="787603"/>
            </a:xfrm>
            <a:prstGeom prst="rect">
              <a:avLst/>
            </a:prstGeom>
          </p:spPr>
        </p:pic>
      </p:grpSp>
      <p:grpSp>
        <p:nvGrpSpPr>
          <p:cNvPr id="46" name="组合11"/>
          <p:cNvGrpSpPr/>
          <p:nvPr/>
        </p:nvGrpSpPr>
        <p:grpSpPr>
          <a:xfrm>
            <a:off x="7823464" y="5409562"/>
            <a:ext cx="2714120" cy="664188"/>
            <a:chOff x="0" y="0"/>
            <a:chExt cx="2714120" cy="664188"/>
          </a:xfrm>
        </p:grpSpPr>
        <p:pic>
          <p:nvPicPr>
            <p:cNvPr id="47" name="图片13">
              <a:extLst>
                <a:ext uri="{FF2B5EF4-FFF2-40B4-BE49-F238E27FC236}">
                  <a16:creationId xmlns:a16="http://schemas.microsoft.com/office/drawing/2014/main" id="{69ED34C6-1862-8A8A-03F9-2D1EFC8C3215}"/>
                </a:ext>
              </a:extLst>
            </p:cNvPr>
            <p:cNvPicPr>
              <a:picLocks noChangeAspect="1"/>
            </p:cNvPicPr>
            <p:nvPr/>
          </p:nvPicPr>
          <p:blipFill>
            <a:blip r:embed="rId14"/>
            <a:srcRect l="19259" t="12037" r="19259" b="13611"/>
            <a:stretch>
              <a:fillRect/>
            </a:stretch>
          </p:blipFill>
          <p:spPr>
            <a:xfrm>
              <a:off x="0" y="12303"/>
              <a:ext cx="528272" cy="639317"/>
            </a:xfrm>
            <a:prstGeom prst="rect">
              <a:avLst/>
            </a:prstGeom>
          </p:spPr>
        </p:pic>
        <p:pic>
          <p:nvPicPr>
            <p:cNvPr id="48" name="图片14">
              <a:extLst>
                <a:ext uri="{FF2B5EF4-FFF2-40B4-BE49-F238E27FC236}">
                  <a16:creationId xmlns:a16="http://schemas.microsoft.com/office/drawing/2014/main" id="{69ED34C6-1862-8A8A-03F9-2D1EFC8C3215}"/>
                </a:ext>
              </a:extLst>
            </p:cNvPr>
            <p:cNvPicPr>
              <a:picLocks noChangeAspect="1"/>
            </p:cNvPicPr>
            <p:nvPr/>
          </p:nvPicPr>
          <p:blipFill>
            <a:blip r:embed="rId15"/>
            <a:stretch>
              <a:fillRect/>
            </a:stretch>
          </p:blipFill>
          <p:spPr>
            <a:xfrm>
              <a:off x="528346" y="0"/>
              <a:ext cx="664193" cy="664188"/>
            </a:xfrm>
            <a:prstGeom prst="rect">
              <a:avLst/>
            </a:prstGeom>
          </p:spPr>
        </p:pic>
        <p:pic>
          <p:nvPicPr>
            <p:cNvPr id="49" name="图片15">
              <a:extLst>
                <a:ext uri="{FF2B5EF4-FFF2-40B4-BE49-F238E27FC236}">
                  <a16:creationId xmlns:a16="http://schemas.microsoft.com/office/drawing/2014/main" id="{69ED34C6-1862-8A8A-03F9-2D1EFC8C3215}"/>
                </a:ext>
              </a:extLst>
            </p:cNvPr>
            <p:cNvPicPr>
              <a:picLocks noChangeAspect="1"/>
            </p:cNvPicPr>
            <p:nvPr/>
          </p:nvPicPr>
          <p:blipFill>
            <a:blip r:embed="rId16"/>
            <a:srcRect l="7500" t="28749" r="13229" b="28333"/>
            <a:stretch>
              <a:fillRect/>
            </a:stretch>
          </p:blipFill>
          <p:spPr>
            <a:xfrm>
              <a:off x="1331113" y="51934"/>
              <a:ext cx="1383007" cy="561174"/>
            </a:xfrm>
            <a:prstGeom prst="rect">
              <a:avLst/>
            </a:prstGeom>
          </p:spPr>
        </p:pic>
      </p:grpSp>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0"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wipe(up)">
                                      <p:cBhvr>
                                        <p:cTn id="4"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1" presetID="2" presetClass="entr" presetSubtype="4" fill="hold" grpId="0" nodeType="click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p:cTn id="9" dur="500" fill="hold"/>
                                        <p:tgtEl>
                                          <p:spTgt spid="22"/>
                                        </p:tgtEl>
                                        <p:attrNameLst>
                                          <p:attrName>ppt_x</p:attrName>
                                        </p:attrNameLst>
                                      </p:cBhvr>
                                      <p:tavLst>
                                        <p:tav tm="0">
                                          <p:val>
                                            <p:strVal val="#ppt_x"/>
                                          </p:val>
                                        </p:tav>
                                        <p:tav tm="100000">
                                          <p:val>
                                            <p:strVal val="#ppt_x"/>
                                          </p:val>
                                        </p:tav>
                                      </p:tavLst>
                                    </p:anim>
                                    <p:anim calcmode="lin" valueType="num">
                                      <p:cBhvr>
                                        <p:cTn id="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 presetClass="entr" presetSubtype="4"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p:cTn id="15" dur="500" fill="hold"/>
                                        <p:tgtEl>
                                          <p:spTgt spid="23"/>
                                        </p:tgtEl>
                                        <p:attrNameLst>
                                          <p:attrName>ppt_x</p:attrName>
                                        </p:attrNameLst>
                                      </p:cBhvr>
                                      <p:tavLst>
                                        <p:tav tm="0">
                                          <p:val>
                                            <p:strVal val="#ppt_x"/>
                                          </p:val>
                                        </p:tav>
                                        <p:tav tm="100000">
                                          <p:val>
                                            <p:strVal val="#ppt_x"/>
                                          </p:val>
                                        </p:tav>
                                      </p:tavLst>
                                    </p:anim>
                                    <p:anim calcmode="lin" valueType="num">
                                      <p:cBhvr>
                                        <p:cTn id="1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3"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 fill="hold"/>
                                        <p:tgtEl>
                                          <p:spTgt spid="24"/>
                                        </p:tgtEl>
                                        <p:attrNameLst>
                                          <p:attrName>ppt_x</p:attrName>
                                        </p:attrNameLst>
                                      </p:cBhvr>
                                      <p:tavLst>
                                        <p:tav tm="0">
                                          <p:val>
                                            <p:strVal val="#ppt_x"/>
                                          </p:val>
                                        </p:tav>
                                        <p:tav tm="100000">
                                          <p:val>
                                            <p:strVal val="#ppt_x"/>
                                          </p:val>
                                        </p:tav>
                                      </p:tavLst>
                                    </p:anim>
                                    <p:anim calcmode="lin" valueType="num">
                                      <p:cBhvr>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ppt_x</p:attrName>
                                        </p:attrNameLst>
                                      </p:cBhvr>
                                      <p:tavLst>
                                        <p:tav tm="0">
                                          <p:val>
                                            <p:strVal val="#ppt_x"/>
                                          </p:val>
                                        </p:tav>
                                        <p:tav tm="100000">
                                          <p:val>
                                            <p:strVal val="#ppt_x"/>
                                          </p:val>
                                        </p:tav>
                                      </p:tavLst>
                                    </p:anim>
                                    <p:anim calcmode="lin" valueType="num">
                                      <p:cBhvr>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ppt_x</p:attrName>
                                        </p:attrNameLst>
                                      </p:cBhvr>
                                      <p:tavLst>
                                        <p:tav tm="0">
                                          <p:val>
                                            <p:strVal val="#ppt_x"/>
                                          </p:val>
                                        </p:tav>
                                        <p:tav tm="100000">
                                          <p:val>
                                            <p:strVal val="#ppt_x"/>
                                          </p:val>
                                        </p:tav>
                                      </p:tavLst>
                                    </p:anim>
                                    <p:anim calcmode="lin" valueType="num">
                                      <p:cBhvr>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1"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ppt_x</p:attrName>
                                        </p:attrNameLst>
                                      </p:cBhvr>
                                      <p:tavLst>
                                        <p:tav tm="0">
                                          <p:val>
                                            <p:strVal val="#ppt_x"/>
                                          </p:val>
                                        </p:tav>
                                        <p:tav tm="100000">
                                          <p:val>
                                            <p:strVal val="#ppt_x"/>
                                          </p:val>
                                        </p:tav>
                                      </p:tavLst>
                                    </p:anim>
                                    <p:anim calcmode="lin" valueType="num">
                                      <p:cBhvr>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7" presetID="2" presetClass="entr" presetSubtype="4"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ppt_x</p:attrName>
                                        </p:attrNameLst>
                                      </p:cBhvr>
                                      <p:tavLst>
                                        <p:tav tm="0">
                                          <p:val>
                                            <p:strVal val="#ppt_x"/>
                                          </p:val>
                                        </p:tav>
                                        <p:tav tm="100000">
                                          <p:val>
                                            <p:strVal val="#ppt_x"/>
                                          </p:val>
                                        </p:tav>
                                      </p:tavLst>
                                    </p:anim>
                                    <p:anim calcmode="lin" valueType="num">
                                      <p:cBhvr>
                                        <p:cTn id="4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3" presetID="2" presetClass="entr" presetSubtype="4"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ppt_x</p:attrName>
                                        </p:attrNameLst>
                                      </p:cBhvr>
                                      <p:tavLst>
                                        <p:tav tm="0">
                                          <p:val>
                                            <p:strVal val="#ppt_x"/>
                                          </p:val>
                                        </p:tav>
                                        <p:tav tm="100000">
                                          <p:val>
                                            <p:strVal val="#ppt_x"/>
                                          </p:val>
                                        </p:tav>
                                      </p:tavLst>
                                    </p:anim>
                                    <p:anim calcmode="lin" valueType="num">
                                      <p:cBhvr>
                                        <p:cTn id="5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59" presetID="2" presetClass="entr" presetSubtype="4"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ppt_x</p:attrName>
                                        </p:attrNameLst>
                                      </p:cBhvr>
                                      <p:tavLst>
                                        <p:tav tm="0">
                                          <p:val>
                                            <p:strVal val="#ppt_x"/>
                                          </p:val>
                                        </p:tav>
                                        <p:tav tm="100000">
                                          <p:val>
                                            <p:strVal val="#ppt_x"/>
                                          </p:val>
                                        </p:tav>
                                      </p:tavLst>
                                    </p:anim>
                                    <p:anim calcmode="lin" valueType="num">
                                      <p:cBhvr>
                                        <p:cTn id="5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4"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300"/>
                                        <p:tgtEl>
                                          <p:spTgt spid="31"/>
                                        </p:tgtEl>
                                      </p:cBhvr>
                                    </p:animEffect>
                                  </p:childTnLst>
                                </p:cTn>
                              </p:par>
                            </p:childTnLst>
                          </p:cTn>
                        </p:par>
                      </p:childTnLst>
                    </p:cTn>
                  </p:par>
                  <p:par>
                    <p:cTn id="70" fill="hold">
                      <p:stCondLst>
                        <p:cond delay="indefinite"/>
                      </p:stCondLst>
                      <p:childTnLst>
                        <p:par>
                          <p:cTn id="71" fill="hold">
                            <p:stCondLst>
                              <p:cond delay="0"/>
                            </p:stCondLst>
                            <p:childTnLst>
                              <p:par>
                                <p:cTn id="69" presetID="10" presetClass="entr" presetSubtype="0" fill="hold" grpId="0" nodeType="click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300"/>
                                        <p:tgtEl>
                                          <p:spTgt spid="37"/>
                                        </p:tgtEl>
                                      </p:cBhvr>
                                    </p:animEffect>
                                  </p:childTnLst>
                                </p:cTn>
                              </p:par>
                            </p:childTnLst>
                          </p:cTn>
                        </p:par>
                      </p:childTnLst>
                    </p:cTn>
                  </p:par>
                  <p:par>
                    <p:cTn id="75" fill="hold">
                      <p:stCondLst>
                        <p:cond delay="indefinite"/>
                      </p:stCondLst>
                      <p:childTnLst>
                        <p:par>
                          <p:cTn id="76" fill="hold">
                            <p:stCondLst>
                              <p:cond delay="0"/>
                            </p:stCondLst>
                            <p:childTnLst>
                              <p:par>
                                <p:cTn id="74" presetID="10"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300"/>
                                        <p:tgtEl>
                                          <p:spTgt spid="42"/>
                                        </p:tgtEl>
                                      </p:cBhvr>
                                    </p:animEffect>
                                  </p:childTnLst>
                                </p:cTn>
                              </p:par>
                            </p:childTnLst>
                          </p:cTn>
                        </p:par>
                      </p:childTnLst>
                    </p:cTn>
                  </p:par>
                  <p:par>
                    <p:cTn id="80" fill="hold">
                      <p:stCondLst>
                        <p:cond delay="indefinite"/>
                      </p:stCondLst>
                      <p:childTnLst>
                        <p:par>
                          <p:cTn id="81" fill="hold">
                            <p:stCondLst>
                              <p:cond delay="0"/>
                            </p:stCondLst>
                            <p:childTnLst>
                              <p:par>
                                <p:cTn id="79" presetID="10" presetClass="entr" presetSubtype="0" fill="hold" grpId="0" nodeType="click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3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P spid="23" grpId="0" animBg="1"/>
      <p:bldP spid="24" grpId="0" animBg="1"/>
      <p:bldP spid="25" grpId="0" animBg="1"/>
      <p:bldP spid="6" grpId="0" animBg="1"/>
      <p:bldP spid="10" grpId="0" animBg="1"/>
      <p:bldP spid="13" grpId="0" animBg="1"/>
      <p:bldP spid="16" grpId="0" animBg="1"/>
      <p:bldP spid="19" grpId="0" animBg="1"/>
      <p:bldP spid="31" grpId="0" animBg="1"/>
      <p:bldP spid="37" grpId="0" animBg="1"/>
      <p:bldP spid="42" grpId="0" animBg="1"/>
      <p:bldP spid="46" grpId="0" animBg="1"/>
    </p:bldLst>
  </p:timing>
</p:sld>
</file>

<file path=ppt/slides/slide13.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4"/>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a:t>
            </a:r>
            <a:r>
              <a:rPr lang="zh-CN" altLang="en-US" sz="2400" b="0" i="0" dirty="0">
                <a:solidFill>
                  <a:srgbClr val="FFFFFF">
                    <a:alpha val="100000"/>
                  </a:srgbClr>
                </a:solidFill>
                <a:latin typeface="楷体"/>
                <a:ea typeface="楷体"/>
              </a:rPr>
              <a:t>  </a:t>
            </a:r>
            <a:r>
              <a:rPr lang="zh-CN" altLang="en-US" sz="2400" b="0" i="0" dirty="0">
                <a:solidFill>
                  <a:srgbClr val="FFFFFF">
                    <a:alpha val="100000"/>
                  </a:srgbClr>
                </a:solidFill>
                <a:latin typeface="黑体"/>
                <a:ea typeface="黑体"/>
              </a:rPr>
              <a:t>学习内容</a:t>
            </a:r>
          </a:p>
        </p:txBody>
      </p:sp>
      <p:sp>
        <p:nvSpPr>
          <p:cNvPr id="6" name="文本2"/>
          <p:cNvSpPr txBox="1"/>
          <p:nvPr/>
        </p:nvSpPr>
        <p:spPr>
          <a:xfrm>
            <a:off x="1110129" y="2076260"/>
            <a:ext cx="10265257" cy="1104900"/>
          </a:xfrm>
          <a:prstGeom prst="rect">
            <a:avLst/>
          </a:prstGeom>
          <a:noFill/>
        </p:spPr>
        <p:txBody>
          <a:bodyPr anchor="t"/>
          <a:lstStyle/>
          <a:p>
            <a:pPr marL="0" algn="l">
              <a:lnSpc>
                <a:spcPts val="3600"/>
              </a:lnSpc>
            </a:pPr>
            <a:r>
              <a:rPr lang="zh-CN" altLang="en-US" sz="2400" b="0" i="0" dirty="0">
                <a:solidFill>
                  <a:srgbClr val="000000">
                    <a:alpha val="100000"/>
                  </a:srgbClr>
                </a:solidFill>
                <a:latin typeface="楷体"/>
                <a:ea typeface="楷体"/>
              </a:rPr>
              <a:t>    通过阅读2025年《中国互联网络发展状况统计报告》，了解我国网民主要使用的互联网应用，并填写下表。</a:t>
            </a:r>
          </a:p>
        </p:txBody>
      </p:sp>
      <p:grpSp>
        <p:nvGrpSpPr>
          <p:cNvPr id="7" name="组合2"/>
          <p:cNvGrpSpPr/>
          <p:nvPr/>
        </p:nvGrpSpPr>
        <p:grpSpPr>
          <a:xfrm>
            <a:off x="2399065" y="1150583"/>
            <a:ext cx="7580559" cy="837356"/>
            <a:chOff x="0" y="0"/>
            <a:chExt cx="7580559" cy="837356"/>
          </a:xfrm>
        </p:grpSpPr>
        <p:sp>
          <p:nvSpPr>
            <p:cNvPr id="8" name="形状2"/>
            <p:cNvSpPr txBox="1"/>
            <p:nvPr/>
          </p:nvSpPr>
          <p:spPr>
            <a:xfrm flipH="1">
              <a:off x="597046" y="649787"/>
              <a:ext cx="6482497" cy="12700"/>
            </a:xfrm>
            <a:prstGeom prst="line"/>
            <a:solidFill>
              <a:srgbClr val="FFFFFF">
                <a:alpha val="0"/>
              </a:srgbClr>
            </a:solidFill>
            <a:ln w="12700">
              <a:solidFill>
                <a:srgbClr val="014E6A">
                  <a:alpha val="100000"/>
                </a:srgbClr>
              </a:solidFill>
              <a:prstDash val="solid"/>
            </a:ln>
          </p:spPr>
          <p:txBody>
            <a:bodyPr anchor="ctr"/>
            <a:lstStyle/>
            <a:p>
              <a:pPr marL="0" algn="ctr"/>
            </a:p>
          </p:txBody>
        </p:sp>
        <p:sp>
          <p:nvSpPr>
            <p:cNvPr id="9" name="文本5"/>
            <p:cNvSpPr txBox="1"/>
            <p:nvPr/>
          </p:nvSpPr>
          <p:spPr>
            <a:xfrm>
              <a:off x="338251" y="0"/>
              <a:ext cx="7242308" cy="744498"/>
            </a:xfrm>
            <a:prstGeom prst="rect">
              <a:avLst/>
            </a:prstGeom>
            <a:noFill/>
          </p:spPr>
          <p:txBody>
            <a:bodyPr anchor="t"/>
            <a:lstStyle/>
            <a:p>
              <a:pPr marL="0" algn="ctr">
                <a:lnSpc>
                  <a:spcPts val="3600"/>
                </a:lnSpc>
              </a:pPr>
              <a:r>
                <a:rPr lang="zh-CN" altLang="en-US" sz="3000" b="0" i="0" dirty="0">
                  <a:solidFill>
                    <a:srgbClr val="000000">
                      <a:alpha val="100000"/>
                    </a:srgbClr>
                  </a:solidFill>
                  <a:latin typeface="黑体"/>
                  <a:ea typeface="黑体"/>
                </a:rPr>
                <a:t>二、我国互联网应用的发展状况</a:t>
              </a:r>
            </a:p>
          </p:txBody>
        </p:sp>
        <p:sp>
          <p:nvSpPr>
            <p:cNvPr id="10" name="形状3"/>
            <p:cNvSpPr txBox="1"/>
            <p:nvPr/>
          </p:nvSpPr>
          <p:spPr>
            <a:xfrm>
              <a:off x="0" y="367743"/>
              <a:ext cx="385589" cy="363415"/>
            </a:xfrm>
            <a:prstGeom prst="rect"/>
            <a:solidFill>
              <a:srgbClr val="014E6A">
                <a:alpha val="100000"/>
              </a:srgbClr>
            </a:solidFill>
            <a:ln w="9525">
              <a:solidFill>
                <a:srgbClr val="FFFFFF">
                  <a:alpha val="0"/>
                </a:srgbClr>
              </a:solidFill>
            </a:ln>
          </p:spPr>
          <p:txBody>
            <a:bodyPr anchor="ctr"/>
            <a:lstStyle/>
            <a:p>
              <a:pPr marL="0" algn="ctr"/>
            </a:p>
          </p:txBody>
        </p:sp>
        <p:sp>
          <p:nvSpPr>
            <p:cNvPr id="11" name="形状4"/>
            <p:cNvSpPr txBox="1"/>
            <p:nvPr/>
          </p:nvSpPr>
          <p:spPr>
            <a:xfrm>
              <a:off x="211459" y="591173"/>
              <a:ext cx="261204" cy="246183"/>
            </a:xfrm>
            <a:prstGeom prst="rect"/>
            <a:solidFill>
              <a:srgbClr val="1784AD">
                <a:alpha val="100000"/>
              </a:srgbClr>
            </a:solidFill>
            <a:ln w="9525">
              <a:solidFill>
                <a:srgbClr val="FFFFFF">
                  <a:alpha val="0"/>
                </a:srgbClr>
              </a:solidFill>
            </a:ln>
          </p:spPr>
          <p:txBody>
            <a:bodyPr anchor="ctr"/>
            <a:lstStyle/>
            <a:p>
              <a:pPr marL="0" algn="ctr"/>
            </a:p>
          </p:txBody>
        </p:sp>
      </p:grpSp>
      <p:graphicFrame>
        <p:nvGraphicFramePr>
          <p:cNvPr id="12" name="表格1">
            <a:extLst>
              <a:ext uri="{FF2B5EF4-FFF2-40B4-BE49-F238E27FC236}">
                <a16:creationId xmlns:a16="http://schemas.microsoft.com/office/drawing/2014/main" id="{62B2FBE6-5C8C-E811-489E-1440CA960B7D}"/>
              </a:ext>
            </a:extLst>
          </p:cNvPr>
          <p:cNvGraphicFramePr>
            <a:graphicFrameLocks noGrp="1"/>
          </p:cNvGraphicFramePr>
          <p:nvPr>
            <p:extLst>
              <p:ext uri="{D42A27DB-BD31-4B8C-83A1-F6EECF244321}">
                <p14:modId xmlns:p14="http://schemas.microsoft.com/office/powerpoint/2010/main" val="3345567701"/>
              </p:ext>
            </p:extLst>
          </p:nvPr>
        </p:nvGraphicFramePr>
        <p:xfrm>
          <a:off x="2031854" y="3334979"/>
          <a:ext cx="8127999" cy="2252136"/>
        </p:xfrm>
        <a:graphic>
          <a:graphicData uri="http://schemas.openxmlformats.org/drawingml/2006/table">
            <a:tbl>
              <a:tblPr firstRow="1" bandRow="1">
                <a:tableStyleId>{5C22544A-7EE6-4342-B048-85BDC9FD1C3A}</a:tableStyleId>
              </a:tblPr>
              <a:tblGrid>
                <a:gridCol w="1443268">
                  <a:extLst>
                    <a:ext uri="{9D8B030D-6E8A-4147-A177-3AD203B41FA5}">
                      <a16:colId xmlns:a16="http://schemas.microsoft.com/office/drawing/2014/main" val="2854172943"/>
                    </a:ext>
                  </a:extLst>
                </a:gridCol>
                <a:gridCol w="1547456">
                  <a:extLst>
                    <a:ext uri="{9D8B030D-6E8A-4147-A177-3AD203B41FA5}">
                      <a16:colId xmlns:a16="http://schemas.microsoft.com/office/drawing/2014/main" val="2854172943"/>
                    </a:ext>
                  </a:extLst>
                </a:gridCol>
                <a:gridCol w="1547456">
                  <a:extLst>
                    <a:ext uri="{9D8B030D-6E8A-4147-A177-3AD203B41FA5}">
                      <a16:colId xmlns:a16="http://schemas.microsoft.com/office/drawing/2014/main" val="2854172943"/>
                    </a:ext>
                  </a:extLst>
                </a:gridCol>
                <a:gridCol w="3589819">
                  <a:extLst>
                    <a:ext uri="{9D8B030D-6E8A-4147-A177-3AD203B41FA5}">
                      <a16:colId xmlns:a16="http://schemas.microsoft.com/office/drawing/2014/main" val="2854172943"/>
                    </a:ext>
                  </a:extLst>
                </a:gridCol>
              </a:tblGrid>
              <a:tr h="563034">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类　　别</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应　　用</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使用率</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1" i="0" dirty="0">
                          <a:solidFill>
                            <a:srgbClr val="FFFFFF">
                              <a:alpha val="100000"/>
                            </a:srgbClr>
                          </a:solidFill>
                          <a:latin typeface="楷体"/>
                          <a:ea typeface="楷体"/>
                        </a:rPr>
                        <a:t>当前发展状况</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38100" cap="flat">
                      <a:solidFill>
                        <a:srgbClr val="FFFFFF">
                          <a:alpha val="100000"/>
                        </a:srgbClr>
                      </a:solidFill>
                    </a:lnB>
                    <a:solidFill>
                      <a:srgbClr val="5B9BD5">
                        <a:alpha val="100000"/>
                      </a:srgbClr>
                    </a:solidFill>
                  </a:tcPr>
                  <a:extLst>
                    <a:ext uri="{0D108BD9-81ED-4DB2-BD59-A6C34878D82A}">
                      <a16:rowId xmlns:a16="http://schemas.microsoft.com/office/drawing/2014/main" val="2661222183"/>
                    </a:ext>
                  </a:extLst>
                </a:tc>
              </a:tr>
              <a:tr h="563034">
                <a:tc rowSpan="1" gridSpan="1">
                  <a:txBody>
                    <a:bodyPr anchor="ctr"/>
                    <a:lstStyle/>
                    <a:p>
                      <a:pPr marL="0" algn="ctr">
                        <a:lnSpc>
                          <a:spcPts val="2400"/>
                        </a:lnSpc>
                      </a:pPr>
                      <a:r>
                        <a:rPr lang="zh-CN" altLang="en-US" sz="2000" b="0" i="0" dirty="0">
                          <a:solidFill>
                            <a:srgbClr val="000000">
                              <a:alpha val="100000"/>
                            </a:srgbClr>
                          </a:solidFill>
                          <a:latin typeface="楷体"/>
                          <a:ea typeface="楷体"/>
                        </a:rPr>
                        <a:t>基础应用</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ctr"/>
                    <a:lstStyle/>
                    <a:p>
                      <a:pPr marL="0" algn="ctr">
                        <a:lnSpc>
                          <a:spcPts val="2400"/>
                        </a:lnSpc>
                      </a:pPr>
                      <a:r>
                        <a:rPr lang="zh-CN" altLang="en-US" sz="2000" b="0" i="0" dirty="0">
                          <a:solidFill>
                            <a:srgbClr val="000000">
                              <a:alpha val="100000"/>
                            </a:srgbClr>
                          </a:solidFill>
                          <a:latin typeface="楷体"/>
                          <a:ea typeface="楷体"/>
                        </a:rPr>
                        <a:t>即时通信</a:t>
                      </a:r>
                    </a:p>
                  </a:txBody>
                  <a:tcPr anchor="ctr">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r>
              <a:tr h="563034">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EAEFF7">
                        <a:alpha val="100000"/>
                      </a:srgbClr>
                    </a:solidFill>
                  </a:tcPr>
                  <a:extLst>
                    <a:ext uri="{0D108BD9-81ED-4DB2-BD59-A6C34878D82A}">
                      <a16:rowId xmlns:a16="http://schemas.microsoft.com/office/drawing/2014/main" val="2661222183"/>
                    </a:ext>
                  </a:extLst>
                </a:tc>
              </a:tr>
              <a:tr h="563034">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c rowSpan="1" gridSpan="1">
                  <a:txBody>
                    <a:bodyPr anchor="t"/>
                    <a:lstStyle/>
                    <a:p>
                      <a:pPr marL="0" algn="l"/>
                    </a:p>
                  </a:txBody>
                  <a:tcPr anchor="t">
                    <a:lnL w="12700" cap="flat">
                      <a:solidFill>
                        <a:srgbClr val="FFFFFF">
                          <a:alpha val="100000"/>
                        </a:srgbClr>
                      </a:solidFill>
                    </a:lnL>
                    <a:lnR w="12700" cap="flat">
                      <a:solidFill>
                        <a:srgbClr val="FFFFFF">
                          <a:alpha val="100000"/>
                        </a:srgbClr>
                      </a:solidFill>
                    </a:lnR>
                    <a:lnT w="12700" cap="flat">
                      <a:solidFill>
                        <a:srgbClr val="FFFFFF">
                          <a:alpha val="100000"/>
                        </a:srgbClr>
                      </a:solidFill>
                    </a:lnT>
                    <a:lnB w="12700" cap="flat">
                      <a:solidFill>
                        <a:srgbClr val="FFFFFF">
                          <a:alpha val="100000"/>
                        </a:srgbClr>
                      </a:solidFill>
                    </a:lnB>
                    <a:solidFill>
                      <a:srgbClr val="D2DEEF">
                        <a:alpha val="100000"/>
                      </a:srgbClr>
                    </a:solidFill>
                  </a:tcPr>
                  <a:extLst>
                    <a:ext uri="{0D108BD9-81ED-4DB2-BD59-A6C34878D82A}">
                      <a16:rowId xmlns:a16="http://schemas.microsoft.com/office/drawing/2014/main" val="2661222183"/>
                    </a:ext>
                  </a:extLst>
                </a:tc>
              </a:tr>
            </a:tbl>
          </a:graphicData>
        </a:graphic>
      </p:graphicFrame>
      <p:sp>
        <p:nvSpPr>
          <p:cNvPr id="13" name="文本3">
            <a:hlinkClick r:id="rId2"/>
          </p:cNvPr>
          <p:cNvSpPr txBox="1"/>
          <p:nvPr/>
        </p:nvSpPr>
        <p:spPr>
          <a:xfrm>
            <a:off x="8179841" y="5912539"/>
            <a:ext cx="3686175" cy="425164"/>
          </a:xfrm>
          <a:prstGeom prst="rect">
            <a:avLst/>
          </a:prstGeom>
          <a:noFill/>
        </p:spPr>
        <p:txBody>
          <a:bodyPr anchor="t"/>
          <a:lstStyle/>
          <a:p>
            <a:pPr marL="0" algn="l"/>
            <a:r>
              <a:rPr lang="zh-CN" altLang="en-US" sz="1399" b="0" i="0" dirty="0">
                <a:solidFill>
                  <a:srgbClr val="626773">
                    <a:alpha val="100000"/>
                  </a:srgbClr>
                </a:solidFill>
                <a:latin typeface="Microsoft YaHei"/>
                <a:ea typeface="Microsoft YaHei"/>
              </a:rPr>
              <a:t>——访问中国互联网络信息中心网站</a:t>
            </a:r>
          </a:p>
        </p:txBody>
      </p:sp>
    </p:spTree>
    <p:extLst>
      <p:ext uri="{BB962C8B-B14F-4D97-AF65-F5344CB8AC3E}">
        <p14:creationId xmlns:p14="http://schemas.microsoft.com/office/powerpoint/2010/main" val="840519474"/>
      </p:ext>
    </p:extLst>
  </p:cSld>
  <p:clrMapOvr>
    <a:masterClrMapping/>
  </p:clrMapOvr>
</p:sld>
</file>

<file path=ppt/slides/slide14.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2"/>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2"/>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课堂总结</a:t>
            </a:r>
          </a:p>
        </p:txBody>
      </p:sp>
      <p:grpSp>
        <p:nvGrpSpPr>
          <p:cNvPr id="6" name="组合2"/>
          <p:cNvGrpSpPr/>
          <p:nvPr/>
        </p:nvGrpSpPr>
        <p:grpSpPr>
          <a:xfrm>
            <a:off x="1291590" y="1730375"/>
            <a:ext cx="9567707" cy="1946275"/>
            <a:chOff x="0" y="0"/>
            <a:chExt cx="9567707" cy="1946275"/>
          </a:xfrm>
        </p:grpSpPr>
        <p:sp>
          <p:nvSpPr>
            <p:cNvPr id="7" name="形状2"/>
            <p:cNvSpPr txBox="1"/>
            <p:nvPr/>
          </p:nvSpPr>
          <p:spPr>
            <a:xfrm>
              <a:off x="3810" y="0"/>
              <a:ext cx="9486900" cy="1946275"/>
            </a:xfrm>
            <a:prstGeom prst="snip1Rect"/>
            <a:solidFill>
              <a:srgbClr val="54D5DD">
                <a:alpha val="100000"/>
              </a:srgbClr>
            </a:solidFill>
            <a:ln w="9525">
              <a:solidFill>
                <a:srgbClr val="FFFFFF">
                  <a:alpha val="0"/>
                </a:srgbClr>
              </a:solidFill>
            </a:ln>
            <a:effectLst>
              <a:outerShdw blurRad="50800" dist="38100" dir="13500000" rotWithShape="0">
                <a:srgbClr val="000000">
                  <a:alpha val="40000"/>
                </a:srgbClr>
              </a:outerShdw>
            </a:effectLst>
          </p:spPr>
          <p:txBody>
            <a:bodyPr anchor="ctr"/>
            <a:lstStyle/>
            <a:p>
              <a:pPr marL="0" algn="ctr"/>
            </a:p>
          </p:txBody>
        </p:sp>
        <p:sp>
          <p:nvSpPr>
            <p:cNvPr id="8" name="文本4"/>
            <p:cNvSpPr txBox="1"/>
            <p:nvPr/>
          </p:nvSpPr>
          <p:spPr>
            <a:xfrm>
              <a:off x="0" y="112663"/>
              <a:ext cx="9324707" cy="1784082"/>
            </a:xfrm>
            <a:prstGeom prst="rect">
              <a:avLst/>
            </a:prstGeom>
            <a:noFill/>
          </p:spPr>
          <p:txBody>
            <a:bodyPr anchor="t"/>
            <a:lstStyle/>
            <a:p>
              <a:pPr marL="0" algn="l">
                <a:lnSpc>
                  <a:spcPts val="3200"/>
                </a:lnSpc>
              </a:pPr>
              <a:r>
                <a:rPr lang="zh-CN" altLang="en-US" sz="1800" b="0" i="0" dirty="0">
                  <a:solidFill>
                    <a:srgbClr val="000000">
                      <a:alpha val="100000"/>
                    </a:srgbClr>
                  </a:solidFill>
                  <a:latin typeface="黑体"/>
                  <a:ea typeface="黑体"/>
                </a:rPr>
                <a:t> </a:t>
              </a:r>
            </a:p>
          </p:txBody>
        </p:sp>
        <p:sp>
          <p:nvSpPr>
            <p:cNvPr id="9" name="文本3"/>
            <p:cNvSpPr txBox="1"/>
            <p:nvPr/>
          </p:nvSpPr>
          <p:spPr>
            <a:xfrm>
              <a:off x="205902" y="11354"/>
              <a:ext cx="9361805" cy="1894550"/>
            </a:xfrm>
            <a:prstGeom prst="rect">
              <a:avLst/>
            </a:prstGeom>
            <a:noFill/>
          </p:spPr>
          <p:txBody>
            <a:bodyPr anchor="t"/>
            <a:lstStyle/>
            <a:p>
              <a:pPr marL="0" algn="l">
                <a:lnSpc>
                  <a:spcPts val="4300"/>
                </a:lnSpc>
              </a:pPr>
              <a:r>
                <a:rPr lang="zh-CN" altLang="en-US" sz="2400" b="0" i="0" dirty="0">
                  <a:solidFill>
                    <a:srgbClr val="000000">
                      <a:alpha val="100000"/>
                    </a:srgbClr>
                  </a:solidFill>
                  <a:latin typeface="Times New Roman"/>
                  <a:ea typeface="Times New Roman"/>
                </a:rPr>
                <a:t>1</a:t>
              </a:r>
              <a:r>
                <a:rPr lang="zh-CN" altLang="en-US" sz="2400" b="0" i="0" dirty="0">
                  <a:solidFill>
                    <a:srgbClr val="000000">
                      <a:alpha val="100000"/>
                    </a:srgbClr>
                  </a:solidFill>
                  <a:latin typeface="楷体"/>
                  <a:ea typeface="楷体"/>
                </a:rPr>
                <a:t>．互联网应用的特征在不断发展变化。</a:t>
              </a:r>
            </a:p>
            <a:p>
              <a:pPr marL="0" algn="l">
                <a:lnSpc>
                  <a:spcPts val="4300"/>
                </a:lnSpc>
              </a:pPr>
              <a:r>
                <a:rPr lang="zh-CN" altLang="en-US" sz="2400" b="0" i="0" dirty="0">
                  <a:solidFill>
                    <a:srgbClr val="000000">
                      <a:alpha val="100000"/>
                    </a:srgbClr>
                  </a:solidFill>
                  <a:latin typeface="Times New Roman"/>
                  <a:ea typeface="Times New Roman"/>
                </a:rPr>
                <a:t>2</a:t>
              </a:r>
              <a:r>
                <a:rPr lang="zh-CN" altLang="en-US" sz="2400" b="0" i="0" dirty="0">
                  <a:solidFill>
                    <a:srgbClr val="000000">
                      <a:alpha val="100000"/>
                    </a:srgbClr>
                  </a:solidFill>
                  <a:latin typeface="楷体"/>
                  <a:ea typeface="楷体"/>
                </a:rPr>
                <a:t>．互联网成为连接社会成员的非常重要的信息交流方式。</a:t>
              </a:r>
            </a:p>
            <a:p>
              <a:pPr marL="0" algn="l">
                <a:lnSpc>
                  <a:spcPts val="4300"/>
                </a:lnSpc>
              </a:pPr>
              <a:r>
                <a:rPr lang="zh-CN" altLang="en-US" sz="2400" b="0" i="0" dirty="0">
                  <a:solidFill>
                    <a:srgbClr val="000000">
                      <a:alpha val="100000"/>
                    </a:srgbClr>
                  </a:solidFill>
                  <a:latin typeface="Times New Roman"/>
                  <a:ea typeface="Times New Roman"/>
                </a:rPr>
                <a:t>3</a:t>
              </a:r>
              <a:r>
                <a:rPr lang="zh-CN" altLang="en-US" sz="2400" b="0" i="0" dirty="0">
                  <a:solidFill>
                    <a:srgbClr val="000000">
                      <a:alpha val="100000"/>
                    </a:srgbClr>
                  </a:solidFill>
                  <a:latin typeface="楷体"/>
                  <a:ea typeface="楷体"/>
                </a:rPr>
                <a:t>．网络应用有</a:t>
              </a:r>
              <a:r>
                <a:rPr lang="zh-CN" altLang="en-US" sz="2400" b="1" i="0" dirty="0">
                  <a:solidFill>
                    <a:srgbClr val="FF0000">
                      <a:alpha val="100000"/>
                    </a:srgbClr>
                  </a:solidFill>
                  <a:latin typeface="楷体"/>
                  <a:ea typeface="楷体"/>
                </a:rPr>
                <a:t>基础应用、商务交易、网络娱乐、公共服务</a:t>
              </a:r>
              <a:r>
                <a:rPr lang="zh-CN" altLang="en-US" sz="2400" b="0" i="0" dirty="0">
                  <a:solidFill>
                    <a:srgbClr val="000000">
                      <a:alpha val="100000"/>
                    </a:srgbClr>
                  </a:solidFill>
                  <a:latin typeface="楷体"/>
                  <a:ea typeface="楷体"/>
                </a:rPr>
                <a:t>等大类。</a:t>
              </a:r>
            </a:p>
          </p:txBody>
        </p:sp>
      </p:grpSp>
    </p:spTree>
    <p:extLst>
      <p:ext uri="{BB962C8B-B14F-4D97-AF65-F5344CB8AC3E}">
        <p14:creationId xmlns:p14="http://schemas.microsoft.com/office/powerpoint/2010/main" val="840519474"/>
      </p:ext>
    </p:extLst>
  </p:cSld>
  <p:clrMapOvr>
    <a:masterClrMapping/>
  </p:clrMapOvr>
</p:sld>
</file>

<file path=ppt/slides/slide15.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3"/>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750804" y="1366014"/>
            <a:ext cx="4947686" cy="3929152"/>
          </a:xfrm>
          <a:prstGeom prst="rect">
            <a:avLst/>
          </a:prstGeom>
          <a:noFill/>
        </p:spPr>
        <p:txBody>
          <a:bodyPr anchor="t"/>
          <a:lstStyle/>
          <a:p>
            <a:pPr marL="-608330" algn="l">
              <a:lnSpc>
                <a:spcPts val="3600"/>
              </a:lnSpc>
              <a:buFont typeface="Arial"/>
              <a:buChar char=" "/>
            </a:pPr>
            <a:r>
              <a:rPr lang="zh-CN" altLang="en-US" sz="2400" b="0" i="0" dirty="0">
                <a:solidFill>
                  <a:srgbClr val="000000">
                    <a:alpha val="100000"/>
                  </a:srgbClr>
                </a:solidFill>
                <a:latin typeface="Times New Roman"/>
                <a:ea typeface="Times New Roman"/>
              </a:rPr>
              <a:t> 1</a:t>
            </a:r>
            <a:r>
              <a:rPr lang="zh-CN" altLang="en-US" sz="2400" b="0" i="0" dirty="0">
                <a:solidFill>
                  <a:srgbClr val="000000">
                    <a:alpha val="100000"/>
                  </a:srgbClr>
                </a:solidFill>
                <a:latin typeface="楷体"/>
                <a:ea typeface="楷体"/>
              </a:rPr>
              <a:t>．查阅相关资料，了解我国互联网政务的发展状况，总结互联网政务带来的便利。</a:t>
            </a:r>
          </a:p>
          <a:p>
            <a:pPr marL="-608330" algn="l">
              <a:lnSpc>
                <a:spcPts val="3600"/>
              </a:lnSpc>
              <a:buFont typeface="Arial"/>
              <a:buChar char=" "/>
            </a:pPr>
            <a:r>
              <a:rPr lang="zh-CN" altLang="en-US" sz="2400" b="0" i="0" dirty="0">
                <a:solidFill>
                  <a:srgbClr val="000000">
                    <a:alpha val="100000"/>
                  </a:srgbClr>
                </a:solidFill>
                <a:latin typeface="Times New Roman"/>
                <a:ea typeface="Times New Roman"/>
              </a:rPr>
              <a:t/>
            </a:r>
          </a:p>
          <a:p>
            <a:pPr marL="-608330" algn="l">
              <a:lnSpc>
                <a:spcPts val="3600"/>
              </a:lnSpc>
              <a:buFont typeface="Arial"/>
              <a:buChar char=" "/>
            </a:pPr>
            <a:r>
              <a:rPr lang="zh-CN" altLang="en-US" sz="2400" b="0" i="0" dirty="0">
                <a:solidFill>
                  <a:srgbClr val="000000">
                    <a:alpha val="100000"/>
                  </a:srgbClr>
                </a:solidFill>
                <a:latin typeface="Times New Roman"/>
                <a:ea typeface="Times New Roman"/>
              </a:rPr>
              <a:t/>
            </a:r>
          </a:p>
          <a:p>
            <a:pPr marL="-608330" algn="l">
              <a:lnSpc>
                <a:spcPts val="3600"/>
              </a:lnSpc>
              <a:buFont typeface="Arial"/>
              <a:buChar char=" "/>
            </a:pPr>
            <a:r>
              <a:rPr lang="zh-CN" altLang="en-US" sz="2400" b="0" i="0" dirty="0">
                <a:solidFill>
                  <a:srgbClr val="000000">
                    <a:alpha val="100000"/>
                  </a:srgbClr>
                </a:solidFill>
                <a:latin typeface="Times New Roman"/>
                <a:ea typeface="Times New Roman"/>
              </a:rPr>
              <a:t> 2</a:t>
            </a:r>
            <a:r>
              <a:rPr lang="zh-CN" altLang="en-US" sz="2400" b="0" i="0" dirty="0">
                <a:solidFill>
                  <a:srgbClr val="000000">
                    <a:alpha val="100000"/>
                  </a:srgbClr>
                </a:solidFill>
                <a:latin typeface="楷体"/>
                <a:ea typeface="楷体"/>
              </a:rPr>
              <a:t>．查阅关于青少年上网情况的调查报告，然后谈谈自己对上网成瘾的看法。</a:t>
            </a:r>
          </a:p>
        </p:txBody>
      </p:sp>
      <p:sp>
        <p:nvSpPr>
          <p:cNvPr id="6" name="文本2"/>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拓展与提升</a:t>
            </a:r>
          </a:p>
        </p:txBody>
      </p:sp>
      <p:pic>
        <p:nvPicPr>
          <p:cNvPr id="7"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9460544" y="1920553"/>
            <a:ext cx="1894641" cy="2905969"/>
          </a:xfrm>
          <a:prstGeom prst="rect">
            <a:avLst/>
          </a:prstGeom>
        </p:spPr>
      </p:pic>
      <p:grpSp>
        <p:nvGrpSpPr>
          <p:cNvPr id="8" name="组合2"/>
          <p:cNvGrpSpPr/>
          <p:nvPr/>
        </p:nvGrpSpPr>
        <p:grpSpPr>
          <a:xfrm>
            <a:off x="5790656" y="1595370"/>
            <a:ext cx="3669888" cy="1255780"/>
            <a:chOff x="0" y="0"/>
            <a:chExt cx="3669888" cy="1255780"/>
          </a:xfrm>
        </p:grpSpPr>
        <p:sp>
          <p:nvSpPr>
            <p:cNvPr id="9" name="形状2"/>
            <p:cNvSpPr txBox="1"/>
            <p:nvPr/>
          </p:nvSpPr>
          <p:spPr>
            <a:xfrm>
              <a:off x="0" y="0"/>
              <a:ext cx="3669888" cy="1255780"/>
            </a:xfrm>
            <a:prstGeom prst="wedgeRoundRectCallout"/>
            <a:solidFill>
              <a:srgbClr val="DAE3F3">
                <a:alpha val="100000"/>
              </a:srgbClr>
            </a:solidFill>
            <a:ln w="12700">
              <a:solidFill>
                <a:srgbClr val="5B9BD5">
                  <a:alpha val="100000"/>
                </a:srgbClr>
              </a:solidFill>
              <a:prstDash val="solid"/>
              <a:headEnd type="none" w="med" len="med"/>
              <a:tailEnd type="none" w="med" len="med"/>
            </a:ln>
          </p:spPr>
          <p:txBody>
            <a:bodyPr anchor="ctr"/>
            <a:lstStyle/>
            <a:p>
              <a:pPr marL="0" algn="ctr"/>
            </a:p>
          </p:txBody>
        </p:sp>
        <p:sp>
          <p:nvSpPr>
            <p:cNvPr id="10" name="文本4"/>
            <p:cNvSpPr txBox="1"/>
            <p:nvPr/>
          </p:nvSpPr>
          <p:spPr>
            <a:xfrm>
              <a:off x="57492" y="11772"/>
              <a:ext cx="3547284" cy="1133176"/>
            </a:xfrm>
            <a:prstGeom prst="rect">
              <a:avLst/>
            </a:prstGeom>
            <a:noFill/>
          </p:spPr>
          <p:txBody>
            <a:bodyPr anchor="ctr"/>
            <a:lstStyle/>
            <a:p>
              <a:pPr marL="0" algn="l">
                <a:lnSpc>
                  <a:spcPts val="2400"/>
                </a:lnSpc>
              </a:pPr>
              <a:r>
                <a:rPr lang="zh-CN" altLang="en-US" sz="2000" b="0" i="0" dirty="0">
                  <a:solidFill>
                    <a:srgbClr val="000000">
                      <a:alpha val="100000"/>
                    </a:srgbClr>
                  </a:solidFill>
                  <a:latin typeface="楷体"/>
                  <a:ea typeface="楷体"/>
                </a:rPr>
                <a:t>可以通过实现方式（网站、公众号）、服务领域（医保、生活缴费）等角度进行梳理。</a:t>
              </a:r>
            </a:p>
          </p:txBody>
        </p:sp>
      </p:grpSp>
      <p:grpSp>
        <p:nvGrpSpPr>
          <p:cNvPr id="11" name="组合3"/>
          <p:cNvGrpSpPr/>
          <p:nvPr/>
        </p:nvGrpSpPr>
        <p:grpSpPr>
          <a:xfrm>
            <a:off x="5790656" y="3795382"/>
            <a:ext cx="3528374" cy="1180604"/>
            <a:chOff x="0" y="0"/>
            <a:chExt cx="3528374" cy="1180604"/>
          </a:xfrm>
        </p:grpSpPr>
        <p:sp>
          <p:nvSpPr>
            <p:cNvPr id="12" name="形状3"/>
            <p:cNvSpPr txBox="1"/>
            <p:nvPr/>
          </p:nvSpPr>
          <p:spPr>
            <a:xfrm>
              <a:off x="0" y="27318"/>
              <a:ext cx="3528374" cy="1153286"/>
            </a:xfrm>
            <a:prstGeom prst="wedgeRoundRectCallout"/>
            <a:solidFill>
              <a:srgbClr val="DAE3F3">
                <a:alpha val="100000"/>
              </a:srgbClr>
            </a:solidFill>
            <a:ln w="12700">
              <a:solidFill>
                <a:srgbClr val="5B9BD5">
                  <a:alpha val="100000"/>
                </a:srgbClr>
              </a:solidFill>
              <a:prstDash val="solid"/>
              <a:headEnd type="none" w="med" len="med"/>
              <a:tailEnd type="none" w="med" len="med"/>
            </a:ln>
          </p:spPr>
          <p:txBody>
            <a:bodyPr anchor="ctr"/>
            <a:lstStyle/>
            <a:p>
              <a:pPr marL="0" algn="ctr"/>
            </a:p>
          </p:txBody>
        </p:sp>
        <p:sp>
          <p:nvSpPr>
            <p:cNvPr id="13" name="文本5"/>
            <p:cNvSpPr txBox="1"/>
            <p:nvPr/>
          </p:nvSpPr>
          <p:spPr>
            <a:xfrm>
              <a:off x="52489" y="0"/>
              <a:ext cx="3415776" cy="1108862"/>
            </a:xfrm>
            <a:prstGeom prst="rect">
              <a:avLst/>
            </a:prstGeom>
            <a:noFill/>
          </p:spPr>
          <p:txBody>
            <a:bodyPr anchor="ctr"/>
            <a:lstStyle/>
            <a:p>
              <a:pPr marL="0" algn="l">
                <a:lnSpc>
                  <a:spcPts val="2400"/>
                </a:lnSpc>
              </a:pPr>
              <a:r>
                <a:rPr lang="zh-CN" altLang="en-US" sz="2000" b="0" i="0" dirty="0">
                  <a:solidFill>
                    <a:srgbClr val="000000">
                      <a:alpha val="100000"/>
                    </a:srgbClr>
                  </a:solidFill>
                  <a:latin typeface="楷体"/>
                  <a:ea typeface="楷体"/>
                </a:rPr>
                <a:t>同学们只要能从依赖、身心健康、适度使用等角度提出自己的见解就行。</a:t>
              </a:r>
            </a:p>
          </p:txBody>
        </p:sp>
      </p:grpSp>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1"/>
                                        <p:tgtEl>
                                          <p:spTgt spid="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
                                        <p:tgtEl>
                                          <p:spTgt spid="8"/>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Lst>
  </p:timing>
</p:sld>
</file>

<file path=ppt/slides/slide16.xml><?xml version="1.0" encoding="utf-8"?>
<p:sld xmlns:p14="http://schemas.microsoft.com/office/powerpoint/2010/main" xmlns:a="http://schemas.openxmlformats.org/drawingml/2006/main" xmlns:r="http://schemas.openxmlformats.org/officeDocument/2006/relationships" xmlns:p="http://schemas.openxmlformats.org/presentationml/2006/main">
  <p:cSld>
    <p:bg>
      <p:bgPr>
        <a:blipFill>
          <a:blip r:embed="rId3"/>
          <a:stretch>
            <a:fillRect/>
          </a:stretch>
        </a:blipFill>
      </p:bgPr>
    </p:bg>
    <p:spTree>
      <p:nvGrpSpPr>
        <p:cNvPr id="1" name=""/>
        <p:cNvGrpSpPr/>
        <p:nvPr/>
      </p:nvGrpSpPr>
      <p:grpSpPr>
        <a:xfrm>
          <a:off x="0" y="0"/>
          <a:ext cx="0" cy="0"/>
          <a:chOff x="0" y="0"/>
          <a:chExt cx="0" cy="0"/>
        </a:xfrm>
      </p:grpSpPr>
      <p:grpSp>
        <p:nvGrpSpPr>
          <p:cNvPr id="2" name="组合1"/>
          <p:cNvGrpSpPr/>
          <p:nvPr/>
        </p:nvGrpSpPr>
        <p:grpSpPr>
          <a:xfrm>
            <a:off x="7929880" y="109855"/>
            <a:ext cx="4020185" cy="680085"/>
            <a:chOff x="0" y="0"/>
            <a:chExt cx="4020185" cy="680085"/>
          </a:xfrm>
        </p:grpSpPr>
        <p:sp>
          <p:nvSpPr>
            <p:cNvPr id="3" name="形状1"/>
            <p:cNvSpPr txBox="1"/>
            <p:nvPr/>
          </p:nvSpPr>
          <p:spPr>
            <a:xfrm>
              <a:off x="3810" y="49530"/>
              <a:ext cx="4016375" cy="630555"/>
            </a:xfrm>
            <a:prstGeom prst="rect"/>
            <a:solidFill>
              <a:srgbClr val="3B5643">
                <a:alpha val="100000"/>
              </a:srgbClr>
            </a:solidFill>
            <a:ln w="9525">
              <a:solidFill>
                <a:srgbClr val="FFFFFF">
                  <a:alpha val="0"/>
                </a:srgbClr>
              </a:solidFill>
            </a:ln>
          </p:spPr>
          <p:txBody>
            <a:bodyPr anchor="ctr"/>
            <a:lstStyle/>
            <a:p>
              <a:pPr marL="0" algn="ctr"/>
            </a:p>
          </p:txBody>
        </p:sp>
        <p:sp>
          <p:nvSpPr>
            <p:cNvPr id="4" name="文本4"/>
            <p:cNvSpPr txBox="1"/>
            <p:nvPr/>
          </p:nvSpPr>
          <p:spPr>
            <a:xfrm>
              <a:off x="0" y="0"/>
              <a:ext cx="4016375" cy="630555"/>
            </a:xfrm>
            <a:prstGeom prst="rect">
              <a:avLst/>
            </a:prstGeom>
            <a:noFill/>
          </p:spPr>
          <p:txBody>
            <a:bodyPr anchor="ctr"/>
            <a:lstStyle/>
            <a:p>
              <a:pPr marL="0" algn="r">
                <a:lnSpc>
                  <a:spcPts val="2600"/>
                </a:lnSpc>
              </a:pPr>
              <a:r>
                <a:rPr lang="zh-CN" altLang="en-US" sz="2199" b="0" i="0" dirty="0">
                  <a:solidFill>
                    <a:srgbClr val="FFFFFF">
                      <a:alpha val="100000"/>
                    </a:srgbClr>
                  </a:solidFill>
                  <a:latin typeface="黑体"/>
                  <a:ea typeface="黑体"/>
                </a:rPr>
                <a:t>义务教育信息科技课程资源</a:t>
              </a:r>
            </a:p>
          </p:txBody>
        </p:sp>
      </p:grpSp>
      <p:sp>
        <p:nvSpPr>
          <p:cNvPr id="5" name="文本1"/>
          <p:cNvSpPr txBox="1"/>
          <p:nvPr/>
        </p:nvSpPr>
        <p:spPr>
          <a:xfrm>
            <a:off x="94137" y="228416"/>
            <a:ext cx="4125482" cy="762682"/>
          </a:xfrm>
          <a:prstGeom prst="rect">
            <a:avLst/>
          </a:prstGeom>
          <a:noFill/>
        </p:spPr>
        <p:txBody>
          <a:bodyPr anchor="t"/>
          <a:lstStyle/>
          <a:p>
            <a:pPr marL="0" algn="l">
              <a:lnSpc>
                <a:spcPts val="2600"/>
              </a:lnSpc>
            </a:pPr>
            <a:r>
              <a:rPr lang="zh-CN" altLang="en-US" sz="2400" b="0" i="0" dirty="0">
                <a:solidFill>
                  <a:srgbClr val="FFFFFF">
                    <a:alpha val="100000"/>
                  </a:srgbClr>
                </a:solidFill>
                <a:latin typeface="黑体"/>
                <a:ea typeface="黑体"/>
              </a:rPr>
              <a:t>第</a:t>
            </a:r>
            <a:r>
              <a:rPr lang="zh-CN" altLang="en-US" sz="2400" b="0" i="0" dirty="0">
                <a:solidFill>
                  <a:srgbClr val="FFFFFF">
                    <a:alpha val="100000"/>
                  </a:srgbClr>
                </a:solidFill>
                <a:latin typeface="Times New Roman"/>
                <a:ea typeface="Times New Roman"/>
              </a:rPr>
              <a:t>2</a:t>
            </a:r>
            <a:r>
              <a:rPr lang="zh-CN" altLang="en-US" sz="2400" b="0" i="0" dirty="0">
                <a:solidFill>
                  <a:srgbClr val="FFFFFF">
                    <a:alpha val="100000"/>
                  </a:srgbClr>
                </a:solidFill>
                <a:latin typeface="黑体"/>
                <a:ea typeface="黑体"/>
              </a:rPr>
              <a:t>课  拓展与提升</a:t>
            </a:r>
          </a:p>
        </p:txBody>
      </p:sp>
      <p:pic>
        <p:nvPicPr>
          <p:cNvPr id="6" name="图片1">
            <a:extLst>
              <a:ext uri="{FF2B5EF4-FFF2-40B4-BE49-F238E27FC236}">
                <a16:creationId xmlns:a16="http://schemas.microsoft.com/office/drawing/2014/main" id="{69ED34C6-1862-8A8A-03F9-2D1EFC8C3215}"/>
              </a:ext>
            </a:extLst>
          </p:cNvPr>
          <p:cNvPicPr>
            <a:picLocks noChangeAspect="1"/>
          </p:cNvPicPr>
          <p:nvPr/>
        </p:nvPicPr>
        <p:blipFill>
          <a:blip r:embed="rId2"/>
          <a:stretch>
            <a:fillRect/>
          </a:stretch>
        </p:blipFill>
        <p:spPr>
          <a:xfrm>
            <a:off x="10435857" y="3241358"/>
            <a:ext cx="1894641" cy="2905969"/>
          </a:xfrm>
          <a:prstGeom prst="rect">
            <a:avLst/>
          </a:prstGeom>
        </p:spPr>
      </p:pic>
      <p:sp>
        <p:nvSpPr>
          <p:cNvPr id="7" name="文本2"/>
          <p:cNvSpPr txBox="1"/>
          <p:nvPr/>
        </p:nvSpPr>
        <p:spPr>
          <a:xfrm>
            <a:off x="454019" y="1422806"/>
            <a:ext cx="9229725" cy="4013283"/>
          </a:xfrm>
          <a:prstGeom prst="rect">
            <a:avLst/>
          </a:prstGeom>
          <a:noFill/>
        </p:spPr>
        <p:txBody>
          <a:bodyPr anchor="t"/>
          <a:lstStyle/>
          <a:p>
            <a:pPr marL="0" algn="l">
              <a:lnSpc>
                <a:spcPts val="4300"/>
              </a:lnSpc>
            </a:pPr>
            <a:r>
              <a:rPr lang="zh-CN" altLang="en-US" sz="2899" b="0" i="0" dirty="0">
                <a:solidFill>
                  <a:srgbClr val="000000">
                    <a:alpha val="100000"/>
                  </a:srgbClr>
                </a:solidFill>
                <a:latin typeface="楷体"/>
                <a:ea typeface="楷体"/>
              </a:rPr>
              <a:t>    网络产品和服务提供者不得向未成年人提供诱导其沉迷的产品和服务。网络游戏、网络直播、网络音视频、网络社交等网络服务提供者应当针对未成年人使用其服务设置相应的时间管理、权限管理、消费管理等功能。以未成年人为服务对象的在线教育网络产品和服务，不得插入网络游戏链接，不得推送广告等与教</a:t>
            </a:r>
          </a:p>
          <a:p>
            <a:pPr marL="0" algn="l">
              <a:lnSpc>
                <a:spcPts val="4300"/>
              </a:lnSpc>
            </a:pPr>
            <a:r>
              <a:rPr lang="zh-CN" altLang="en-US" sz="2899" b="0" i="0" dirty="0">
                <a:solidFill>
                  <a:srgbClr val="000000">
                    <a:alpha val="100000"/>
                  </a:srgbClr>
                </a:solidFill>
                <a:latin typeface="楷体"/>
                <a:ea typeface="楷体"/>
              </a:rPr>
              <a:t>学无关的信息。</a:t>
            </a:r>
          </a:p>
        </p:txBody>
      </p:sp>
      <p:sp>
        <p:nvSpPr>
          <p:cNvPr id="8" name="文本3"/>
          <p:cNvSpPr txBox="1"/>
          <p:nvPr/>
        </p:nvSpPr>
        <p:spPr>
          <a:xfrm>
            <a:off x="3340094" y="5527672"/>
            <a:ext cx="6096000" cy="509175"/>
          </a:xfrm>
          <a:prstGeom prst="rect">
            <a:avLst/>
          </a:prstGeom>
          <a:noFill/>
        </p:spPr>
        <p:txBody>
          <a:bodyPr anchor="t"/>
          <a:lstStyle/>
          <a:p>
            <a:pPr marL="0" algn="l"/>
            <a:r>
              <a:rPr lang="zh-CN" altLang="en-US" sz="2199" b="0" i="0" dirty="0">
                <a:solidFill>
                  <a:srgbClr val="000000">
                    <a:alpha val="100000"/>
                  </a:srgbClr>
                </a:solidFill>
                <a:latin typeface="楷体"/>
                <a:ea typeface="楷体"/>
              </a:rPr>
              <a:t>《中华人民共和国未成年人保护法》第七十四条</a:t>
            </a:r>
          </a:p>
        </p:txBody>
      </p:sp>
    </p:spTree>
    <p:extLst>
      <p:ext uri="{BB962C8B-B14F-4D97-AF65-F5344CB8AC3E}">
        <p14:creationId xmlns:p14="http://schemas.microsoft.com/office/powerpoint/2010/main" val="840519474"/>
      </p:ext>
    </p:extLst>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1"/>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thm15="http://schemas.microsoft.com/office/thememl/2012/main"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ap:TotalTime>0</ap:TotalTime>
  <ap:Words>0</ap:Words>
  <ap:Application>Microsoft Office PowerPoint</ap:Application>
  <ap:PresentationFormat>宽屏</ap:PresentationFormat>
  <ap:Paragraphs>0</ap:Paragraphs>
  <ap:Slides>1</ap:Slides>
  <ap:Notes>0</ap:Notes>
  <ap:HiddenSlides>0</ap:HiddenSlides>
  <ap:MMClips>0</ap:MMClips>
  <ap:ScaleCrop>false</ap:ScaleCrop>
  <ap:HeadingPairs>
    <vt:vector baseType="variant" size="6">
      <vt:variant>
        <vt:lpstr>已用的字体</vt:lpstr>
      </vt:variant>
      <vt:variant>
        <vt:i4>1</vt:i4>
      </vt:variant>
      <vt:variant>
        <vt:lpstr>主题</vt:lpstr>
      </vt:variant>
      <vt:variant>
        <vt:i4>1</vt:i4>
      </vt:variant>
      <vt:variant>
        <vt:lpstr>幻灯片标题</vt:lpstr>
      </vt:variant>
      <vt:variant>
        <vt:i4>1</vt:i4>
      </vt:variant>
    </vt:vector>
  </ap:HeadingPairs>
  <ap:TitlesOfParts>
    <vt:vector baseType="lpstr" size="3">
      <vt:lpstr>Arial</vt:lpstr>
      <vt:lpstr>Office 主题​​</vt:lpstr>
      <vt:lpstr>PowerPoint 演示文稿</vt:lpstr>
    </vt:vector>
  </ap:TitlesOfParts>
  <ap:Company/>
  <ap:LinksUpToDate>false</ap:LinksUpToDate>
  <ap:SharedDoc>false</ap:SharedDoc>
  <ap:HyperlinksChanged>false</ap:HyperlinksChanged>
  <ap:AppVersion>16.0000</ap:AppVersion>
</ap:Properties>
</file>

<file path=docProps/core.xml><?xml version="1.0" encoding="utf-8"?>
<coreProperties xmlns:dc="http://purl.org/dc/elements/1.1/" xmlns:dcterms="http://purl.org/dc/terms/" xmlns:xsi="http://www.w3.org/2001/XMLSchema-instance" xmlns="http://schemas.openxmlformats.org/package/2006/metadata/core-properties">
  <dc:creator>seewo_9224</dc:creator>
  <dc:title>第2课 互联网应用新特征 魏婷</dc:title>
  <revision>1</revision>
  <dcterms:created xsi:type="dcterms:W3CDTF">2026-04-27T03:42:36.6418931Z</dcterms:created>
  <dcterms:modified xsi:type="dcterms:W3CDTF">2026-04-27T03:42:36.6418969Z</dcterms:modified>
  <lastModifiedBy>seewo_9224</lastModifiedBy>
</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ApplicationName">
    <vt:lpwstr>EasiNote5</vt:lpwstr>
  </op:property>
  <op:property fmtid="{D5CDD505-2E9C-101B-9397-08002B2CF9AE}" pid="3" name="ApplicationVersion">
    <vt:lpwstr>5.2.4.8615</vt:lpwstr>
  </op:property>
  <op:property fmtid="{D5CDD505-2E9C-101B-9397-08002B2CF9AE}" pid="4" name="EasiNoteCoursewareInfo">
    <vt:lpwstr>a43a62fd-b4a8-4a2c-a73b-65eac0ca7e12:1</vt:lpwstr>
  </op:property>
  <op:property fmtid="{D5CDD505-2E9C-101B-9397-08002B2CF9AE}" pid="5" name="EasiNoteDocumentName">
    <vt:lpwstr>第2课 互联网应用新特征 魏婷</vt:lpwstr>
  </op:property>
  <op:property fmtid="{D5CDD505-2E9C-101B-9397-08002B2CF9AE}" pid="6" name="EasiNoteAuthor">
    <vt:lpwstr>sgwuouqznhttsiouqsnvlz35297969k1</vt:lpwstr>
  </op:property>
  <op:property fmtid="{D5CDD505-2E9C-101B-9397-08002B2CF9AE}" pid="7" name="EasiNoteUpstreamCoursewareInfo_0">
    <vt:lpwstr>00841705-41a5-420d-b0f0-2cbb493ecd6d</vt:lpwstr>
  </op:property>
</op:Properties>
</file>