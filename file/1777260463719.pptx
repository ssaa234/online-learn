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mp4" ContentType="video/mp4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1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6cce318814c4a99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956429fa6f234860" /><Relationship Type="http://schemas.openxmlformats.org/officeDocument/2006/relationships/custom-properties" Target="/docProps/custom.xml" Id="R5d55afeb8bb148a5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" /><Relationship Type="http://schemas.openxmlformats.org/officeDocument/2006/relationships/viewProps" Target="/ppt/viewProps.xml" Id="rId2" /><Relationship Type="http://schemas.openxmlformats.org/officeDocument/2006/relationships/theme" Target="/ppt/theme/theme1.xml" Id="rId3" /><Relationship Type="http://schemas.openxmlformats.org/officeDocument/2006/relationships/tableStyles" Target="/ppt/tableStyles.xml" Id="rId4" /><Relationship Type="http://schemas.openxmlformats.org/officeDocument/2006/relationships/slideMaster" Target="/ppt/slideMasters/slideMaster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slide" Target="/ppt/slides/slide15.xml" Id="rId20" /><Relationship Type="http://schemas.openxmlformats.org/officeDocument/2006/relationships/slide" Target="/ppt/slides/slide16.xml" Id="rId21" /><Relationship Type="http://schemas.openxmlformats.org/officeDocument/2006/relationships/slide" Target="/ppt/slides/slide17.xml" Id="rId22" /><Relationship Type="http://schemas.openxmlformats.org/officeDocument/2006/relationships/slide" Target="/ppt/slides/slide18.xml" Id="rId23" /><Relationship Type="http://schemas.openxmlformats.org/officeDocument/2006/relationships/slide" Target="/ppt/slides/slide19.xml" Id="rId24" /><Relationship Type="http://schemas.openxmlformats.org/officeDocument/2006/relationships/slide" Target="/ppt/slides/slide20.xml" Id="rId25" /><Relationship Type="http://schemas.openxmlformats.org/officeDocument/2006/relationships/slide" Target="/ppt/slides/slide21.xml" Id="rId2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Relationship Type="http://schemas.openxmlformats.org/officeDocument/2006/relationships/slideLayout" Target="/ppt/slideLayouts/slideLayout7.xml" Id="rId8" /><Relationship Type="http://schemas.openxmlformats.org/officeDocument/2006/relationships/slideLayout" Target="/ppt/slideLayouts/slideLayout8.xml" Id="rId9" /><Relationship Type="http://schemas.openxmlformats.org/officeDocument/2006/relationships/slideLayout" Target="/ppt/slideLayouts/slideLayout9.xml" Id="rId10" /><Relationship Type="http://schemas.openxmlformats.org/officeDocument/2006/relationships/slideLayout" Target="/ppt/slideLayouts/slideLayout10.xml" Id="rId11" /><Relationship Type="http://schemas.openxmlformats.org/officeDocument/2006/relationships/slideLayout" Target="/ppt/slideLayouts/slideLayout11.xml" Id="rId12" /><Relationship Type="http://schemas.openxmlformats.org/officeDocument/2006/relationships/slideLayout" Target="/ppt/slideLayouts/slideLayout12.xml" Id="rId13" /><Relationship Type="http://schemas.openxmlformats.org/officeDocument/2006/relationships/slideLayout" Target="/ppt/slideLayouts/slideLayout13.xml" Id="rId14" /><Relationship Type="http://schemas.openxmlformats.org/officeDocument/2006/relationships/slideLayout" Target="/ppt/slideLayouts/slideLayout14.xml" Id="rId15" /><Relationship Type="http://schemas.openxmlformats.org/officeDocument/2006/relationships/slideLayout" Target="/ppt/slideLayouts/slideLayout15.xml" Id="rId16" /><Relationship Type="http://schemas.openxmlformats.org/officeDocument/2006/relationships/slideLayout" Target="/ppt/slideLayouts/slideLayout16.xml" Id="rId17" /><Relationship Type="http://schemas.openxmlformats.org/officeDocument/2006/relationships/slideLayout" Target="/ppt/slideLayouts/slideLayout17.xml" Id="rId18" /><Relationship Type="http://schemas.openxmlformats.org/officeDocument/2006/relationships/slideLayout" Target="/ppt/slideLayouts/slideLayout18.xml" Id="rId19" /><Relationship Type="http://schemas.openxmlformats.org/officeDocument/2006/relationships/slideLayout" Target="/ppt/slideLayouts/slideLayout19.xml" Id="rId20" /><Relationship Type="http://schemas.openxmlformats.org/officeDocument/2006/relationships/slideLayout" Target="/ppt/slideLayouts/slideLayout20.xml" Id="rId21" /><Relationship Type="http://schemas.openxmlformats.org/officeDocument/2006/relationships/slideLayout" Target="/ppt/slideLayouts/slideLayout21.xml" Id="rId22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Id2" /><Relationship Type="http://schemas.openxmlformats.org/officeDocument/2006/relationships/image" Target="/ppt/media/image2.png" Id="rId3" /><Relationship Type="http://schemas.openxmlformats.org/officeDocument/2006/relationships/image" Target="/ppt/media/image3.png" Id="rId4" /><Relationship Type="http://schemas.openxmlformats.org/officeDocument/2006/relationships/image" Target="/ppt/media/image.jpg" Id="rI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4.png" Id="rId2" /><Relationship Type="http://schemas.openxmlformats.org/officeDocument/2006/relationships/image" Target="/ppt/media/image5.png" Id="rId3" /><Relationship Type="http://schemas.openxmlformats.org/officeDocument/2006/relationships/image" Target="/ppt/media/image6.png" Id="rId4" /><Relationship Type="http://schemas.openxmlformats.org/officeDocument/2006/relationships/image" Target="/ppt/media/image7.png" Id="rId5" /><Relationship Type="http://schemas.openxmlformats.org/officeDocument/2006/relationships/image" Target="/ppt/media/image8.png" Id="rId6" /><Relationship Type="http://schemas.openxmlformats.org/officeDocument/2006/relationships/image" Target="/ppt/media/image9.png" Id="rI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10.png" Id="rId2" /><Relationship Type="http://schemas.openxmlformats.org/officeDocument/2006/relationships/image" Target="/ppt/media/image11.png" Id="rId3" /><Relationship Type="http://schemas.openxmlformats.org/officeDocument/2006/relationships/image" Target="/ppt/media/image12.png" Id="rId6" /><Relationship Type="http://schemas.openxmlformats.org/officeDocument/2006/relationships/video" Target="/media/mediadata.mp4" Id="rId5" /><Relationship Type="http://schemas.microsoft.com/office/2007/relationships/media" Target="/media/mediadata.mp4" Id="rId4" /><Relationship Type="http://schemas.openxmlformats.org/officeDocument/2006/relationships/image" Target="/ppt/media/image2.jpg" Id="rI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13.png" Id="rId2" /><Relationship Type="http://schemas.openxmlformats.org/officeDocument/2006/relationships/image" Target="/ppt/media/image14.png" Id="rId3" /><Relationship Type="http://schemas.openxmlformats.org/officeDocument/2006/relationships/image" Target="/ppt/media/image15.png" Id="rId4" /><Relationship Type="http://schemas.openxmlformats.org/officeDocument/2006/relationships/image" Target="/ppt/media/image16.png" Id="rId5" /><Relationship Type="http://schemas.openxmlformats.org/officeDocument/2006/relationships/image" Target="/ppt/media/image3.jpg" Id="rI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17.png" Id="rId2" /><Relationship Type="http://schemas.openxmlformats.org/officeDocument/2006/relationships/image" Target="/ppt/media/image18.png" Id="rId3" /><Relationship Type="http://schemas.openxmlformats.org/officeDocument/2006/relationships/image" Target="/ppt/media/image19.png" Id="rId4" /><Relationship Type="http://schemas.openxmlformats.org/officeDocument/2006/relationships/image" Target="/ppt/media/image20.png" Id="rId5" /><Relationship Type="http://schemas.openxmlformats.org/officeDocument/2006/relationships/image" Target="/ppt/media/image21.png" Id="rId6" /><Relationship Type="http://schemas.openxmlformats.org/officeDocument/2006/relationships/image" Target="/ppt/media/image4.jpg" Id="rI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image" Target="/ppt/media/image22.png" Id="rId2" /><Relationship Type="http://schemas.openxmlformats.org/officeDocument/2006/relationships/image" Target="/ppt/media/image23.png" Id="rId3" /><Relationship Type="http://schemas.openxmlformats.org/officeDocument/2006/relationships/image" Target="/ppt/media/image24.png" Id="rId4" /><Relationship Type="http://schemas.openxmlformats.org/officeDocument/2006/relationships/image" Target="/ppt/media/image25.png" Id="rId5" /><Relationship Type="http://schemas.openxmlformats.org/officeDocument/2006/relationships/image" Target="/ppt/media/image5.jpg" Id="rId6" /><Relationship Type="http://schemas.openxmlformats.org/officeDocument/2006/relationships/image" Target="/ppt/media/image6.jpg" Id="rI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6.png" Id="rId2" /><Relationship Type="http://schemas.openxmlformats.org/officeDocument/2006/relationships/image" Target="/ppt/media/image27.png" Id="rId3" /><Relationship Type="http://schemas.openxmlformats.org/officeDocument/2006/relationships/image" Target="/ppt/media/image28.png" Id="rId4" /><Relationship Type="http://schemas.openxmlformats.org/officeDocument/2006/relationships/image" Target="/ppt/media/image29.png" Id="rId5" /><Relationship Type="http://schemas.openxmlformats.org/officeDocument/2006/relationships/image" Target="/ppt/media/image30.png" Id="rId6" /><Relationship Type="http://schemas.openxmlformats.org/officeDocument/2006/relationships/image" Target="/ppt/media/image7.jpg" Id="rI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image" Target="/ppt/media/image31.png" Id="rId2" /><Relationship Type="http://schemas.openxmlformats.org/officeDocument/2006/relationships/image" Target="/ppt/media/image32.png" Id="rId3" /><Relationship Type="http://schemas.openxmlformats.org/officeDocument/2006/relationships/image" Target="/ppt/media/image8.jpg" Id="rId4" /><Relationship Type="http://schemas.openxmlformats.org/officeDocument/2006/relationships/image" Target="/ppt/media/image33.png" Id="rId5" /><Relationship Type="http://schemas.openxmlformats.org/officeDocument/2006/relationships/image" Target="/ppt/media/image9.jpg" Id="rI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Relationship Type="http://schemas.openxmlformats.org/officeDocument/2006/relationships/image" Target="/ppt/media/image34.png" Id="rId2" /><Relationship Type="http://schemas.openxmlformats.org/officeDocument/2006/relationships/image" Target="/ppt/media/image35.png" Id="rId3" /><Relationship Type="http://schemas.openxmlformats.org/officeDocument/2006/relationships/image" Target="/ppt/media/image36.png" Id="rId4" /><Relationship Type="http://schemas.openxmlformats.org/officeDocument/2006/relationships/image" Target="/ppt/media/image37.png" Id="rId5" /><Relationship Type="http://schemas.openxmlformats.org/officeDocument/2006/relationships/image" Target="/ppt/media/image38.png" Id="rId6" /><Relationship Type="http://schemas.openxmlformats.org/officeDocument/2006/relationships/image" Target="/ppt/media/image39.png" Id="rId7" /><Relationship Type="http://schemas.openxmlformats.org/officeDocument/2006/relationships/image" Target="/ppt/media/image10.jpg" Id="rI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image" Target="/ppt/media/image40.png" Id="rId2" /><Relationship Type="http://schemas.openxmlformats.org/officeDocument/2006/relationships/image" Target="/ppt/media/image41.png" Id="rId3" /><Relationship Type="http://schemas.openxmlformats.org/officeDocument/2006/relationships/image" Target="/ppt/media/image42.png" Id="rId4" /><Relationship Type="http://schemas.openxmlformats.org/officeDocument/2006/relationships/image" Target="/ppt/media/image43.png" Id="rId5" /><Relationship Type="http://schemas.openxmlformats.org/officeDocument/2006/relationships/image" Target="/ppt/media/image44.png" Id="rId6" /><Relationship Type="http://schemas.openxmlformats.org/officeDocument/2006/relationships/image" Target="/ppt/media/image45.png" Id="rId7" /><Relationship Type="http://schemas.openxmlformats.org/officeDocument/2006/relationships/image" Target="/ppt/media/image11.jpg" Id="rI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image" Target="/ppt/media/image46.png" Id="rId2" /><Relationship Type="http://schemas.openxmlformats.org/officeDocument/2006/relationships/image" Target="/ppt/media/image47.png" Id="rId3" /><Relationship Type="http://schemas.openxmlformats.org/officeDocument/2006/relationships/image" Target="/ppt/media/image48.png" Id="rId4" /><Relationship Type="http://schemas.openxmlformats.org/officeDocument/2006/relationships/image" Target="/ppt/media/image49.png" Id="rId5" /><Relationship Type="http://schemas.openxmlformats.org/officeDocument/2006/relationships/image" Target="/ppt/media/image50.png" Id="rId6" /><Relationship Type="http://schemas.openxmlformats.org/officeDocument/2006/relationships/image" Target="/ppt/media/image51.png" Id="rId7" /><Relationship Type="http://schemas.openxmlformats.org/officeDocument/2006/relationships/image" Target="/ppt/media/image12.jpg" Id="rId8" /><Relationship Type="http://schemas.openxmlformats.org/officeDocument/2006/relationships/image" Target="/ppt/media/image13.jpg" Id="rI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Id1" /><Relationship Type="http://schemas.openxmlformats.org/officeDocument/2006/relationships/image" Target="/ppt/media/image52.png" Id="rId2" /><Relationship Type="http://schemas.openxmlformats.org/officeDocument/2006/relationships/image" Target="/ppt/media/image53.png" Id="rId3" /><Relationship Type="http://schemas.openxmlformats.org/officeDocument/2006/relationships/image" Target="/ppt/media/image54.png" Id="rId4" /><Relationship Type="http://schemas.openxmlformats.org/officeDocument/2006/relationships/image" Target="/ppt/media/image55.png" Id="rId5" /><Relationship Type="http://schemas.openxmlformats.org/officeDocument/2006/relationships/image" Target="/ppt/media/image56.png" Id="rId6" /><Relationship Type="http://schemas.openxmlformats.org/officeDocument/2006/relationships/image" Target="/ppt/media/image14.jpg" Id="rId7" /><Relationship Type="http://schemas.openxmlformats.org/officeDocument/2006/relationships/image" Target="/ppt/media/image15.jpg" Id="rI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Id1" /><Relationship Type="http://schemas.openxmlformats.org/officeDocument/2006/relationships/image" Target="/ppt/media/image57.png" Id="rId2" /><Relationship Type="http://schemas.openxmlformats.org/officeDocument/2006/relationships/image" Target="/ppt/media/image58.png" Id="rId3" /><Relationship Type="http://schemas.openxmlformats.org/officeDocument/2006/relationships/image" Target="/ppt/media/image59.png" Id="rId4" /><Relationship Type="http://schemas.openxmlformats.org/officeDocument/2006/relationships/image" Target="/ppt/media/image60.png" Id="rId5" /><Relationship Type="http://schemas.openxmlformats.org/officeDocument/2006/relationships/image" Target="/ppt/media/image16.jpg" Id="rId6" /><Relationship Type="http://schemas.openxmlformats.org/officeDocument/2006/relationships/image" Target="/ppt/media/image17.jpg" Id="rId7" /><Relationship Type="http://schemas.openxmlformats.org/officeDocument/2006/relationships/image" Target="/ppt/media/image18.jpg" Id="rI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Id1" /><Relationship Type="http://schemas.openxmlformats.org/officeDocument/2006/relationships/image" Target="/ppt/media/image61.png" Id="rId2" /><Relationship Type="http://schemas.openxmlformats.org/officeDocument/2006/relationships/image" Target="/ppt/media/image62.png" Id="rId3" /><Relationship Type="http://schemas.openxmlformats.org/officeDocument/2006/relationships/image" Target="/ppt/media/image63.png" Id="rId4" /><Relationship Type="http://schemas.openxmlformats.org/officeDocument/2006/relationships/image" Target="/ppt/media/image64.png" Id="rId5" /><Relationship Type="http://schemas.openxmlformats.org/officeDocument/2006/relationships/image" Target="/ppt/media/image65.png" Id="rId6" /><Relationship Type="http://schemas.openxmlformats.org/officeDocument/2006/relationships/image" Target="/ppt/media/image19.jpg" Id="rI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Id1" /><Relationship Type="http://schemas.openxmlformats.org/officeDocument/2006/relationships/image" Target="/ppt/media/image66.png" Id="rId2" /><Relationship Type="http://schemas.openxmlformats.org/officeDocument/2006/relationships/image" Target="/ppt/media/image67.png" Id="rId3" /><Relationship Type="http://schemas.openxmlformats.org/officeDocument/2006/relationships/image" Target="/ppt/media/image68.png" Id="rId4" /><Relationship Type="http://schemas.openxmlformats.org/officeDocument/2006/relationships/image" Target="/ppt/media/image69.png" Id="rId5" /><Relationship Type="http://schemas.openxmlformats.org/officeDocument/2006/relationships/image" Target="/ppt/media/image20.jpg" Id="rI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Id1" /><Relationship Type="http://schemas.openxmlformats.org/officeDocument/2006/relationships/image" Target="/ppt/media/image70.png" Id="rId2" /><Relationship Type="http://schemas.openxmlformats.org/officeDocument/2006/relationships/image" Target="/ppt/media/image71.png" Id="rId3" /><Relationship Type="http://schemas.openxmlformats.org/officeDocument/2006/relationships/image" Target="/ppt/media/image72.png" Id="rId4" /><Relationship Type="http://schemas.openxmlformats.org/officeDocument/2006/relationships/image" Target="/ppt/media/image73.png" Id="rId5" /><Relationship Type="http://schemas.openxmlformats.org/officeDocument/2006/relationships/image" Target="/ppt/media/image74.png" Id="rId6" /><Relationship Type="http://schemas.openxmlformats.org/officeDocument/2006/relationships/image" Target="/ppt/media/image21.jpg" Id="rI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Id1" /><Relationship Type="http://schemas.openxmlformats.org/officeDocument/2006/relationships/image" Target="/ppt/media/image75.png" Id="rId2" /><Relationship Type="http://schemas.openxmlformats.org/officeDocument/2006/relationships/image" Target="/ppt/media/image76.png" Id="rId3" /><Relationship Type="http://schemas.openxmlformats.org/officeDocument/2006/relationships/image" Target="/ppt/media/image77.png" Id="rId4" /><Relationship Type="http://schemas.openxmlformats.org/officeDocument/2006/relationships/image" Target="/ppt/media/image78.png" Id="rId5" /><Relationship Type="http://schemas.openxmlformats.org/officeDocument/2006/relationships/image" Target="/ppt/media/image22.jpg" Id="rI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Relationship Type="http://schemas.openxmlformats.org/officeDocument/2006/relationships/image" Target="/ppt/media/image79.png" Id="rId2" /><Relationship Type="http://schemas.openxmlformats.org/officeDocument/2006/relationships/image" Target="/ppt/media/image80.png" Id="rId3" /><Relationship Type="http://schemas.openxmlformats.org/officeDocument/2006/relationships/image" Target="/ppt/media/image81.png" Id="rId4" /><Relationship Type="http://schemas.openxmlformats.org/officeDocument/2006/relationships/image" Target="/ppt/media/image82.png" Id="rId5" /><Relationship Type="http://schemas.openxmlformats.org/officeDocument/2006/relationships/image" Target="/ppt/media/image23.jpg" Id="rId6" /><Relationship Type="http://schemas.openxmlformats.org/officeDocument/2006/relationships/image" Target="/ppt/media/image24.jpg" Id="rId7" /><Relationship Type="http://schemas.openxmlformats.org/officeDocument/2006/relationships/image" Target="/ppt/media/image25.jpg" Id="rI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Id1" /><Relationship Type="http://schemas.openxmlformats.org/officeDocument/2006/relationships/image" Target="/ppt/media/image83.png" Id="rId2" /><Relationship Type="http://schemas.openxmlformats.org/officeDocument/2006/relationships/image" Target="/ppt/media/image84.png" Id="rId3" /><Relationship Type="http://schemas.openxmlformats.org/officeDocument/2006/relationships/image" Target="/ppt/media/image26.jpg" Id="rId4" /><Relationship Type="http://schemas.openxmlformats.org/officeDocument/2006/relationships/image" Target="/ppt/media/image27.jpg" Id="rId5" /><Relationship Type="http://schemas.openxmlformats.org/officeDocument/2006/relationships/image" Target="/ppt/media/image28.jpg" Id="rI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Id1" /><Relationship Type="http://schemas.openxmlformats.org/officeDocument/2006/relationships/image" Target="/ppt/media/image85.png" Id="rId2" /><Relationship Type="http://schemas.openxmlformats.org/officeDocument/2006/relationships/image" Target="/ppt/media/image86.png" Id="rId3" /><Relationship Type="http://schemas.openxmlformats.org/officeDocument/2006/relationships/image" Target="/ppt/media/image87.png" Id="rId4" /><Relationship Type="http://schemas.openxmlformats.org/officeDocument/2006/relationships/image" Target="/ppt/media/image88.png" Id="rId5" /><Relationship Type="http://schemas.openxmlformats.org/officeDocument/2006/relationships/image" Target="/ppt/media/image29.jpg" Id="rI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Id1" /><Relationship Type="http://schemas.openxmlformats.org/officeDocument/2006/relationships/image" Target="/ppt/media/image89.png" Id="rId2" /><Relationship Type="http://schemas.openxmlformats.org/officeDocument/2006/relationships/image" Target="/ppt/media/image90.png" Id="rId3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1191010" y="469075"/>
            <a:ext cx="9989700" cy="2760900"/>
          </a:xfrm>
          <a:prstGeom prst="rect">
            <a:avLst/>
          </a:prstGeom>
          <a:noFill/>
        </p:spPr>
        <p:txBody>
          <a:bodyPr anchor="b"/>
          <a:lstStyle/>
          <a:p>
            <a:pPr marL="0" algn="ctr">
              <a:lnSpc>
                <a:spcPts val="9600"/>
              </a:lnSpc>
            </a:pPr>
            <a:r>
              <a:rPr lang="zh-CN" altLang="en-US" sz="8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数 据 宝 藏 在 身 边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-3980" y="469075"/>
            <a:ext cx="12381230" cy="2760980"/>
          </a:xfrm>
          <a:prstGeom prst="rect">
            <a:avLst/>
          </a:prstGeom>
          <a:noFill/>
        </p:spPr>
        <p:txBody>
          <a:bodyPr anchor="b"/>
          <a:lstStyle/>
          <a:p>
            <a:pPr marL="0" algn="ctr">
              <a:lnSpc>
                <a:spcPts val="9600"/>
              </a:lnSpc>
            </a:pPr>
            <a:r>
              <a:rPr lang="zh-CN" altLang="en-US" sz="8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数 据 宝 藏 在 身 边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-4615" y="3953955"/>
            <a:ext cx="12381865" cy="78867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3100"/>
              </a:lnSpc>
            </a:pPr>
            <a:r>
              <a:rPr lang="zh-CN" altLang="en-US" sz="2400" b="1" i="0" dirty="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</a:rPr>
              <a:t>授课教师：柏中华</a:t>
            </a:r>
          </a:p>
        </p:txBody>
      </p:sp>
      <p:sp>
        <p:nvSpPr>
          <p:cNvPr id="6" name="文本4"/>
          <p:cNvSpPr txBox="1"/>
          <p:nvPr/>
        </p:nvSpPr>
        <p:spPr>
          <a:xfrm>
            <a:off x="-3810" y="-49530"/>
            <a:ext cx="644150" cy="22107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00"/>
              </a:lnSpc>
            </a:pPr>
            <a:r>
              <a:rPr lang="zh-CN" altLang="en-US" sz="100" b="0" i="0" dirty="0">
                <a:solidFill>
                  <a:srgbClr val="000000">
                    <a:alpha val="0"/>
                  </a:srgbClr>
                </a:solidFill>
                <a:latin typeface="微软雅黑"/>
                <a:ea typeface="微软雅黑"/>
              </a:rPr>
              <a:t>行业</a:t>
            </a:r>
            <a:r>
              <a:rPr lang="zh-CN" altLang="en-US" sz="100" b="0" i="0" dirty="0">
                <a:solidFill>
                  <a:srgbClr val="000000">
                    <a:alpha val="0"/>
                  </a:srgbClr>
                </a:solidFill>
                <a:latin typeface="Arial"/>
                <a:ea typeface="Arial"/>
              </a:rPr>
              <a:t>PPT</a:t>
            </a:r>
            <a:r>
              <a:rPr lang="zh-CN" altLang="en-US" sz="100" b="0" i="0" dirty="0">
                <a:solidFill>
                  <a:srgbClr val="000000">
                    <a:alpha val="0"/>
                  </a:srgbClr>
                </a:solidFill>
                <a:latin typeface="微软雅黑"/>
                <a:ea typeface="微软雅黑"/>
              </a:rPr>
              <a:t>模板</a:t>
            </a:r>
            <a:r>
              <a:rPr lang="zh-CN" altLang="en-US" sz="100" b="0" i="0" dirty="0">
                <a:solidFill>
                  <a:srgbClr val="000000">
                    <a:alpha val="0"/>
                  </a:srgbClr>
                </a:solidFill>
                <a:latin typeface="Arial"/>
                <a:ea typeface="Arial"/>
              </a:rPr>
              <a:t>http:///hangye/</a:t>
            </a:r>
          </a:p>
        </p:txBody>
      </p: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333293" y="-1608396"/>
            <a:ext cx="2182155" cy="4859234"/>
          </a:xfrm>
          <a:prstGeom prst="rect">
            <a:avLst/>
          </a:prstGeom>
        </p:spPr>
      </p:pic>
      <p:sp>
        <p:nvSpPr>
          <p:cNvPr id="8" name="文本5"/>
          <p:cNvSpPr txBox="1"/>
          <p:nvPr/>
        </p:nvSpPr>
        <p:spPr>
          <a:xfrm>
            <a:off x="-3980" y="161735"/>
            <a:ext cx="12381230" cy="710565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3100"/>
              </a:lnSpc>
            </a:pPr>
            <a:r>
              <a:rPr lang="zh-CN" altLang="en-US" sz="2400" b="1" i="0" dirty="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</a:rPr>
              <a:t>人教版信息科技四年级上册</a:t>
            </a:r>
          </a:p>
        </p:txBody>
      </p:sp>
      <p:pic>
        <p:nvPicPr>
          <p:cNvPr id="9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0" t="25309" r="0" b="10796"/>
          <a:stretch>
            <a:fillRect/>
          </a:stretch>
        </p:blipFill>
        <p:spPr>
          <a:xfrm>
            <a:off x="-189230" y="3088005"/>
            <a:ext cx="5656580" cy="329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3066415" y="2399665"/>
            <a:ext cx="5085080" cy="7740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无处不在的数据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4878705" y="3577273"/>
            <a:ext cx="4123690" cy="7740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数据的表现形式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7284720" y="4597718"/>
            <a:ext cx="4123690" cy="7740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用数据介绍自己</a:t>
            </a:r>
          </a:p>
        </p:txBody>
      </p:sp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0" t="0" r="17407" b="0"/>
          <a:stretch>
            <a:fillRect/>
          </a:stretch>
        </p:blipFill>
        <p:spPr>
          <a:xfrm>
            <a:off x="8162925" y="619760"/>
            <a:ext cx="4029075" cy="2809240"/>
          </a:xfrm>
          <a:prstGeom prst="rect">
            <a:avLst/>
          </a:prstGeom>
        </p:spPr>
      </p:pic>
      <p:pic>
        <p:nvPicPr>
          <p:cNvPr id="7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240" y="1948180"/>
            <a:ext cx="1480820" cy="1480820"/>
          </a:xfrm>
          <a:prstGeom prst="rect">
            <a:avLst/>
          </a:prstGeom>
        </p:spPr>
      </p:pic>
      <p:pic>
        <p:nvPicPr>
          <p:cNvPr id="8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815" y="3166745"/>
            <a:ext cx="1480820" cy="1480820"/>
          </a:xfrm>
          <a:prstGeom prst="rect">
            <a:avLst/>
          </a:prstGeom>
        </p:spPr>
      </p:pic>
      <p:pic>
        <p:nvPicPr>
          <p:cNvPr id="9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790" y="4210685"/>
            <a:ext cx="1480820" cy="148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595120" y="556895"/>
            <a:ext cx="305054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导 入 新 课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09090" y="586105"/>
            <a:ext cx="30365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导 入 新 课</a:t>
            </a:r>
          </a:p>
        </p:txBody>
      </p:sp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pic>
        <p:nvPicPr>
          <p:cNvPr id="7" name="视频1">
            <a:hlinkClick r:id="" action="ppaction://media"/>
            <a:extLst>
              <a:ext uri="{FF2B5EF4-FFF2-40B4-BE49-F238E27FC236}">
                <a16:creationId xmlns:a16="http://schemas.microsoft.com/office/drawing/2014/main" id="{1F03D79B-8B87-F52B-D47B-B6FAC4D8C48D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12950" y="1429385"/>
            <a:ext cx="8409940" cy="473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595120" y="556895"/>
            <a:ext cx="305054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导 入 新 课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09090" y="586105"/>
            <a:ext cx="30365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导 入 新 课</a:t>
            </a:r>
          </a:p>
        </p:txBody>
      </p:sp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20" y="3111832"/>
            <a:ext cx="1726954" cy="2222093"/>
          </a:xfrm>
          <a:prstGeom prst="rect">
            <a:avLst/>
          </a:prstGeom>
        </p:spPr>
      </p:pic>
      <p:sp>
        <p:nvSpPr>
          <p:cNvPr id="7" name="形状2"/>
          <p:cNvSpPr txBox="1"/>
          <p:nvPr/>
        </p:nvSpPr>
        <p:spPr>
          <a:xfrm>
            <a:off x="2447925" y="1795145"/>
            <a:ext cx="7927975" cy="1979930"/>
          </a:xfrm>
          <a:prstGeom prst="wedgeRoundRectCallout"/>
          <a:solidFill>
            <a:srgbClr val="B6C7EA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文本3"/>
          <p:cNvSpPr txBox="1"/>
          <p:nvPr/>
        </p:nvSpPr>
        <p:spPr>
          <a:xfrm>
            <a:off x="2634615" y="1733718"/>
            <a:ext cx="7743190" cy="2871470"/>
          </a:xfrm>
          <a:prstGeom prst="rect">
            <a:avLst/>
          </a:prstGeom>
          <a:noFill/>
        </p:spPr>
        <p:txBody>
          <a:bodyPr anchor="t"/>
          <a:lstStyle/>
          <a:p>
            <a:pPr marL="-457200" algn="l">
              <a:lnSpc>
                <a:spcPts val="4300"/>
              </a:lnSpc>
              <a:buFont typeface="Arial"/>
              <a:buChar char=" "/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从视频里的各种数据能看到我们国家的发展和成就，数据与每个人的工作、学习、生活息息相关。</a:t>
            </a:r>
          </a:p>
          <a:p>
            <a:pPr marL="-457200" algn="l">
              <a:lnSpc>
                <a:spcPts val="4300"/>
              </a:lnSpc>
              <a:buFont typeface="Arial"/>
              <a:buChar char=" "/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那么数据有哪些表现形式呢？让我们一起学习吧！</a:t>
            </a:r>
          </a:p>
        </p:txBody>
      </p:sp>
      <p:pic>
        <p:nvPicPr>
          <p:cNvPr id="9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pic>
        <p:nvPicPr>
          <p:cNvPr id="10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320" y="3658553"/>
            <a:ext cx="59626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6" name="文本3"/>
          <p:cNvSpPr txBox="1"/>
          <p:nvPr/>
        </p:nvSpPr>
        <p:spPr>
          <a:xfrm>
            <a:off x="1402715" y="1423670"/>
            <a:ext cx="795401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找一找：下面有哪些数据呢？</a:t>
            </a:r>
          </a:p>
        </p:txBody>
      </p: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pic>
        <p:nvPicPr>
          <p:cNvPr id="9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pic>
        <p:nvPicPr>
          <p:cNvPr id="10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708" y="2435860"/>
            <a:ext cx="6052820" cy="3361690"/>
          </a:xfrm>
          <a:prstGeom prst="rect">
            <a:avLst/>
          </a:prstGeom>
        </p:spPr>
      </p:pic>
      <p:sp>
        <p:nvSpPr>
          <p:cNvPr id="11" name="文本4"/>
          <p:cNvSpPr txBox="1"/>
          <p:nvPr/>
        </p:nvSpPr>
        <p:spPr>
          <a:xfrm>
            <a:off x="1402715" y="2604770"/>
            <a:ext cx="2936875" cy="2520315"/>
          </a:xfrm>
          <a:prstGeom prst="rect">
            <a:avLst/>
          </a:prstGeom>
          <a:noFill/>
        </p:spPr>
        <p:txBody>
          <a:bodyPr anchor="b"/>
          <a:lstStyle/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五十四万亿</a:t>
            </a:r>
          </a:p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一百一十四万亿</a:t>
            </a:r>
          </a:p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国内生产总值</a:t>
            </a:r>
          </a:p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新华社</a:t>
            </a:r>
          </a:p>
        </p:txBody>
      </p:sp>
      <p:sp>
        <p:nvSpPr>
          <p:cNvPr id="12" name="形状2"/>
          <p:cNvSpPr txBox="1"/>
          <p:nvPr/>
        </p:nvSpPr>
        <p:spPr>
          <a:xfrm>
            <a:off x="4312920" y="2362835"/>
            <a:ext cx="1261745" cy="652780"/>
          </a:xfrm>
          <a:prstGeom prst="roundRect"/>
          <a:solidFill>
            <a:srgbClr val="FFFFFF">
              <a:alpha val="0"/>
            </a:srgbClr>
          </a:solidFill>
          <a:ln w="28575">
            <a:solidFill>
              <a:srgbClr val="C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3" name="形状3"/>
          <p:cNvSpPr txBox="1"/>
          <p:nvPr/>
        </p:nvSpPr>
        <p:spPr>
          <a:xfrm>
            <a:off x="9454515" y="2895600"/>
            <a:ext cx="1261745" cy="533400"/>
          </a:xfrm>
          <a:prstGeom prst="roundRect"/>
          <a:solidFill>
            <a:srgbClr val="FFFFFF">
              <a:alpha val="0"/>
            </a:srgbClr>
          </a:solidFill>
          <a:ln w="28575">
            <a:solidFill>
              <a:srgbClr val="C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4" name="形状4"/>
          <p:cNvSpPr txBox="1"/>
          <p:nvPr/>
        </p:nvSpPr>
        <p:spPr>
          <a:xfrm>
            <a:off x="5213985" y="3429000"/>
            <a:ext cx="4843145" cy="1706880"/>
          </a:xfrm>
          <a:prstGeom prst="roundRect"/>
          <a:solidFill>
            <a:srgbClr val="FFFFFF">
              <a:alpha val="0"/>
            </a:srgbClr>
          </a:solidFill>
          <a:ln w="28575">
            <a:solidFill>
              <a:srgbClr val="C0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6" name="文本3"/>
          <p:cNvSpPr txBox="1"/>
          <p:nvPr/>
        </p:nvSpPr>
        <p:spPr>
          <a:xfrm>
            <a:off x="1402715" y="1423670"/>
            <a:ext cx="795401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找一找：下面有哪些数据呢？</a:t>
            </a:r>
          </a:p>
        </p:txBody>
      </p: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pic>
        <p:nvPicPr>
          <p:cNvPr id="9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pic>
        <p:nvPicPr>
          <p:cNvPr id="10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0364" y="2135600"/>
            <a:ext cx="6745605" cy="3735114"/>
          </a:xfrm>
          <a:prstGeom prst="rect">
            <a:avLst/>
          </a:prstGeom>
        </p:spPr>
      </p:pic>
      <p:sp>
        <p:nvSpPr>
          <p:cNvPr id="11" name="文本4"/>
          <p:cNvSpPr txBox="1"/>
          <p:nvPr/>
        </p:nvSpPr>
        <p:spPr>
          <a:xfrm>
            <a:off x="1182370" y="2518410"/>
            <a:ext cx="3809365" cy="2400300"/>
          </a:xfrm>
          <a:prstGeom prst="rect">
            <a:avLst/>
          </a:prstGeom>
          <a:noFill/>
        </p:spPr>
        <p:txBody>
          <a:bodyPr anchor="b"/>
          <a:lstStyle/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CCTV-1电视频道</a:t>
            </a:r>
          </a:p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《开学第1课》</a:t>
            </a:r>
          </a:p>
          <a:p>
            <a:pPr marL="0" algn="l"/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/>
            </a:r>
          </a:p>
          <a:p>
            <a:pPr marL="0" algn="l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6" name="文本3"/>
          <p:cNvSpPr txBox="1"/>
          <p:nvPr/>
        </p:nvSpPr>
        <p:spPr>
          <a:xfrm>
            <a:off x="1402715" y="1423670"/>
            <a:ext cx="795401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找一找：下面有哪些数据呢？</a:t>
            </a:r>
          </a:p>
        </p:txBody>
      </p: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pic>
        <p:nvPicPr>
          <p:cNvPr id="9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pic>
        <p:nvPicPr>
          <p:cNvPr id="10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187" y="860546"/>
            <a:ext cx="3684908" cy="5242103"/>
          </a:xfrm>
          <a:prstGeom prst="rect">
            <a:avLst/>
          </a:prstGeom>
        </p:spPr>
      </p:pic>
      <p:sp>
        <p:nvSpPr>
          <p:cNvPr id="11" name="文本4"/>
          <p:cNvSpPr txBox="1"/>
          <p:nvPr/>
        </p:nvSpPr>
        <p:spPr>
          <a:xfrm>
            <a:off x="1709420" y="2155825"/>
            <a:ext cx="3809365" cy="3255645"/>
          </a:xfrm>
          <a:prstGeom prst="rect">
            <a:avLst/>
          </a:prstGeom>
          <a:noFill/>
        </p:spPr>
        <p:txBody>
          <a:bodyPr anchor="b"/>
          <a:lstStyle/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日期</a:t>
            </a:r>
          </a:p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气温</a:t>
            </a:r>
          </a:p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晴天、多云</a:t>
            </a:r>
          </a:p>
          <a:p>
            <a:pPr marL="0" algn="l">
              <a:lnSpc>
                <a:spcPts val="43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气温变化趋势</a:t>
            </a:r>
          </a:p>
          <a:p>
            <a:pPr marL="0" algn="l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sp>
        <p:nvSpPr>
          <p:cNvPr id="7" name="文本3"/>
          <p:cNvSpPr txBox="1"/>
          <p:nvPr/>
        </p:nvSpPr>
        <p:spPr>
          <a:xfrm>
            <a:off x="1402715" y="1423670"/>
            <a:ext cx="7954010" cy="83566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找一找：下面有哪些数据呢？</a:t>
            </a:r>
          </a:p>
        </p:txBody>
      </p:sp>
      <p:pic>
        <p:nvPicPr>
          <p:cNvPr id="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335" y="1683385"/>
            <a:ext cx="3060065" cy="4100195"/>
          </a:xfrm>
          <a:prstGeom prst="rect">
            <a:avLst/>
          </a:prstGeom>
        </p:spPr>
      </p:pic>
      <p:grpSp>
        <p:nvGrpSpPr>
          <p:cNvPr id="9" name="组合1"/>
          <p:cNvGrpSpPr/>
          <p:nvPr/>
        </p:nvGrpSpPr>
        <p:grpSpPr>
          <a:xfrm>
            <a:off x="3609340" y="5457705"/>
            <a:ext cx="5017650" cy="987545"/>
            <a:chOff x="0" y="0"/>
            <a:chExt cx="5017650" cy="987545"/>
          </a:xfrm>
        </p:grpSpPr>
        <p:sp>
          <p:nvSpPr>
            <p:cNvPr id="10" name="形状2"/>
            <p:cNvSpPr txBox="1"/>
            <p:nvPr/>
          </p:nvSpPr>
          <p:spPr>
            <a:xfrm>
              <a:off x="0" y="1390"/>
              <a:ext cx="4973320" cy="986155"/>
            </a:xfrm>
            <a:prstGeom prst="roundRect"/>
            <a:solidFill>
              <a:srgbClr val="FED96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文本4"/>
            <p:cNvSpPr txBox="1"/>
            <p:nvPr/>
          </p:nvSpPr>
          <p:spPr>
            <a:xfrm>
              <a:off x="44330" y="0"/>
              <a:ext cx="4973320" cy="88987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数据无处不在</a:t>
              </a:r>
            </a:p>
          </p:txBody>
        </p:sp>
      </p:grpSp>
      <p:pic>
        <p:nvPicPr>
          <p:cNvPr id="12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525" y="2766060"/>
            <a:ext cx="5948045" cy="234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2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4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二、数据的表示形式</a:t>
              </a:r>
            </a:p>
          </p:txBody>
        </p:sp>
      </p:grpSp>
      <p:sp>
        <p:nvSpPr>
          <p:cNvPr id="9" name="文本3"/>
          <p:cNvSpPr txBox="1"/>
          <p:nvPr/>
        </p:nvSpPr>
        <p:spPr>
          <a:xfrm>
            <a:off x="1609090" y="2313940"/>
            <a:ext cx="9146540" cy="120523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我们生活中的数据无处不在，这些数据的表现形式有哪些呢？整理记录在以下表格中。</a:t>
            </a:r>
          </a:p>
        </p:txBody>
      </p: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1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pic>
        <p:nvPicPr>
          <p:cNvPr id="12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graphicFrame>
        <p:nvGraphicFramePr>
          <p:cNvPr id="13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178685" y="3654425"/>
          <a:ext cx="6673850" cy="1120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415042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数据类型</a:t>
                      </a:r>
                    </a:p>
                  </a:txBody>
                  <a:tcPr anchor="ctr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05867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数据示例</a:t>
                      </a:r>
                    </a:p>
                  </a:txBody>
                  <a:tcPr anchor="ctr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B6C7EA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气温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</a:rPr>
                        <a:t>28℃</a:t>
                      </a:r>
                    </a:p>
                  </a:txBody>
                  <a:tcPr anchor="ctr">
                    <a:lnL w="9525" cap="flat">
                      <a:solidFill>
                        <a:srgbClr val="B6C7EA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B6C7EA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《开学第一课》</a:t>
                      </a:r>
                    </a:p>
                  </a:txBody>
                  <a:tcPr anchor="ctr">
                    <a:lnL w="9525" cap="flat">
                      <a:solidFill>
                        <a:srgbClr val="B6C7EA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B6C7EA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</a:rPr>
                        <a:t>CCTV1</a:t>
                      </a:r>
                    </a:p>
                  </a:txBody>
                  <a:tcPr anchor="ctr">
                    <a:lnL w="9525" cap="flat">
                      <a:solidFill>
                        <a:srgbClr val="B6C7EA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B6C7EA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B6C7EA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pic>
        <p:nvPicPr>
          <p:cNvPr id="14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2856" y="4895520"/>
            <a:ext cx="443342" cy="436886"/>
          </a:xfrm>
          <a:prstGeom prst="rect">
            <a:avLst/>
          </a:prstGeom>
        </p:spPr>
      </p:pic>
      <p:pic>
        <p:nvPicPr>
          <p:cNvPr id="15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3050" y="5659755"/>
            <a:ext cx="6381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2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4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二、数据的表示形式</a:t>
              </a:r>
            </a:p>
          </p:txBody>
        </p:sp>
      </p:grpSp>
      <p:sp>
        <p:nvSpPr>
          <p:cNvPr id="9" name="文本3"/>
          <p:cNvSpPr txBox="1"/>
          <p:nvPr/>
        </p:nvSpPr>
        <p:spPr>
          <a:xfrm>
            <a:off x="1609090" y="2313940"/>
            <a:ext cx="9146540" cy="120523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我们生活中的数据无处不在，这些数据的表现形式有哪些呢？整理记录在以下表格中。</a:t>
            </a:r>
          </a:p>
        </p:txBody>
      </p: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1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pic>
        <p:nvPicPr>
          <p:cNvPr id="12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graphicFrame>
        <p:nvGraphicFramePr>
          <p:cNvPr id="13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178685" y="3654425"/>
          <a:ext cx="6673850" cy="1105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33477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399734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数据类型</a:t>
                      </a:r>
                    </a:p>
                  </a:txBody>
                  <a:tcPr anchor="ctr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1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数字</a:t>
                      </a:r>
                    </a:p>
                  </a:txBody>
                  <a:tcPr anchor="ctr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1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文字</a:t>
                      </a:r>
                    </a:p>
                  </a:txBody>
                  <a:tcPr anchor="ctr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1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字母</a:t>
                      </a:r>
                    </a:p>
                  </a:txBody>
                  <a:tcPr anchor="ctr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1" i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符号</a:t>
                      </a:r>
                    </a:p>
                  </a:txBody>
                  <a:tcPr anchor="ctr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4874CB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4874C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05867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数据示例</a:t>
                      </a:r>
                    </a:p>
                  </a:txBody>
                  <a:tcPr anchor="ctr">
                    <a:lnL w="9525" cap="flat">
                      <a:solidFill>
                        <a:srgbClr val="4874CB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B6C7EA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气温</a:t>
                      </a: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</a:rPr>
                        <a:t>28℃</a:t>
                      </a:r>
                    </a:p>
                  </a:txBody>
                  <a:tcPr anchor="ctr">
                    <a:lnL w="9525" cap="flat">
                      <a:solidFill>
                        <a:srgbClr val="B6C7EA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B6C7EA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</a:rPr>
                        <a:t>《开学第一课》</a:t>
                      </a:r>
                    </a:p>
                  </a:txBody>
                  <a:tcPr anchor="ctr">
                    <a:lnL w="9525" cap="flat">
                      <a:solidFill>
                        <a:srgbClr val="B6C7EA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B6C7EA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</a:rPr>
                        <a:t>CCTV1</a:t>
                      </a:r>
                    </a:p>
                  </a:txBody>
                  <a:tcPr anchor="ctr">
                    <a:lnL w="9525" cap="flat">
                      <a:solidFill>
                        <a:srgbClr val="B6C7EA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B6C7EA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9525" cap="flat">
                      <a:solidFill>
                        <a:srgbClr val="B6C7EA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4874CB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B6C7EA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4874CB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pic>
        <p:nvPicPr>
          <p:cNvPr id="14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2856" y="4895520"/>
            <a:ext cx="443342" cy="436886"/>
          </a:xfrm>
          <a:prstGeom prst="rect">
            <a:avLst/>
          </a:prstGeom>
        </p:spPr>
      </p:pic>
      <p:pic>
        <p:nvPicPr>
          <p:cNvPr id="15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3050" y="5659755"/>
            <a:ext cx="6381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2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二、数据的表示形式</a:t>
              </a:r>
            </a:p>
          </p:txBody>
        </p:sp>
      </p:grpSp>
      <p:pic>
        <p:nvPicPr>
          <p:cNvPr id="9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0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grpSp>
        <p:nvGrpSpPr>
          <p:cNvPr id="11" name="组合2"/>
          <p:cNvGrpSpPr/>
          <p:nvPr/>
        </p:nvGrpSpPr>
        <p:grpSpPr>
          <a:xfrm>
            <a:off x="1547491" y="4550990"/>
            <a:ext cx="1243224" cy="587528"/>
            <a:chOff x="0" y="0"/>
            <a:chExt cx="1243224" cy="587528"/>
          </a:xfrm>
        </p:grpSpPr>
        <p:sp>
          <p:nvSpPr>
            <p:cNvPr id="12" name="形状3"/>
            <p:cNvSpPr txBox="1"/>
            <p:nvPr/>
          </p:nvSpPr>
          <p:spPr>
            <a:xfrm>
              <a:off x="0" y="69368"/>
              <a:ext cx="1221740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4"/>
            <p:cNvSpPr txBox="1"/>
            <p:nvPr/>
          </p:nvSpPr>
          <p:spPr>
            <a:xfrm>
              <a:off x="21484" y="0"/>
              <a:ext cx="1221740" cy="55783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图片</a:t>
              </a:r>
            </a:p>
          </p:txBody>
        </p:sp>
      </p:grpSp>
      <p:pic>
        <p:nvPicPr>
          <p:cNvPr id="14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grpSp>
        <p:nvGrpSpPr>
          <p:cNvPr id="15" name="组合3"/>
          <p:cNvGrpSpPr/>
          <p:nvPr/>
        </p:nvGrpSpPr>
        <p:grpSpPr>
          <a:xfrm>
            <a:off x="1909445" y="5442891"/>
            <a:ext cx="8476286" cy="773124"/>
            <a:chOff x="0" y="0"/>
            <a:chExt cx="8476286" cy="773124"/>
          </a:xfrm>
        </p:grpSpPr>
        <p:sp>
          <p:nvSpPr>
            <p:cNvPr id="16" name="形状4"/>
            <p:cNvSpPr txBox="1"/>
            <p:nvPr/>
          </p:nvSpPr>
          <p:spPr>
            <a:xfrm>
              <a:off x="0" y="12394"/>
              <a:ext cx="8442960" cy="760730"/>
            </a:xfrm>
            <a:prstGeom prst="roundRect"/>
            <a:solidFill>
              <a:srgbClr val="FED96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文本5"/>
            <p:cNvSpPr txBox="1"/>
            <p:nvPr/>
          </p:nvSpPr>
          <p:spPr>
            <a:xfrm>
              <a:off x="33326" y="0"/>
              <a:ext cx="8442960" cy="68645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图片、视频、声音也能表示数据</a:t>
              </a:r>
            </a:p>
          </p:txBody>
        </p:sp>
      </p:grpSp>
      <p:pic>
        <p:nvPicPr>
          <p:cNvPr id="18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230" y="2951013"/>
            <a:ext cx="2617470" cy="1496060"/>
          </a:xfrm>
          <a:prstGeom prst="rect">
            <a:avLst/>
          </a:prstGeom>
        </p:spPr>
      </p:pic>
      <p:pic>
        <p:nvPicPr>
          <p:cNvPr id="19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1805" y="2388907"/>
            <a:ext cx="1892300" cy="2184400"/>
          </a:xfrm>
          <a:prstGeom prst="rect">
            <a:avLst/>
          </a:prstGeom>
        </p:spPr>
      </p:pic>
      <p:grpSp>
        <p:nvGrpSpPr>
          <p:cNvPr id="20" name="组合4"/>
          <p:cNvGrpSpPr/>
          <p:nvPr/>
        </p:nvGrpSpPr>
        <p:grpSpPr>
          <a:xfrm>
            <a:off x="4951091" y="4551625"/>
            <a:ext cx="1243224" cy="587528"/>
            <a:chOff x="0" y="0"/>
            <a:chExt cx="1243224" cy="587528"/>
          </a:xfrm>
        </p:grpSpPr>
        <p:sp>
          <p:nvSpPr>
            <p:cNvPr id="21" name="形状5"/>
            <p:cNvSpPr txBox="1"/>
            <p:nvPr/>
          </p:nvSpPr>
          <p:spPr>
            <a:xfrm>
              <a:off x="0" y="69368"/>
              <a:ext cx="1221740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2" name="文本6"/>
            <p:cNvSpPr txBox="1"/>
            <p:nvPr/>
          </p:nvSpPr>
          <p:spPr>
            <a:xfrm>
              <a:off x="21484" y="0"/>
              <a:ext cx="1221740" cy="55783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视频</a:t>
              </a:r>
            </a:p>
          </p:txBody>
        </p:sp>
      </p:grpSp>
      <p:grpSp>
        <p:nvGrpSpPr>
          <p:cNvPr id="23" name="组合5"/>
          <p:cNvGrpSpPr/>
          <p:nvPr/>
        </p:nvGrpSpPr>
        <p:grpSpPr>
          <a:xfrm>
            <a:off x="8427081" y="4550990"/>
            <a:ext cx="1243224" cy="587528"/>
            <a:chOff x="0" y="0"/>
            <a:chExt cx="1243224" cy="587528"/>
          </a:xfrm>
        </p:grpSpPr>
        <p:sp>
          <p:nvSpPr>
            <p:cNvPr id="24" name="形状6"/>
            <p:cNvSpPr txBox="1"/>
            <p:nvPr/>
          </p:nvSpPr>
          <p:spPr>
            <a:xfrm>
              <a:off x="0" y="69368"/>
              <a:ext cx="1221740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5" name="文本7"/>
            <p:cNvSpPr txBox="1"/>
            <p:nvPr/>
          </p:nvSpPr>
          <p:spPr>
            <a:xfrm>
              <a:off x="21484" y="0"/>
              <a:ext cx="1221740" cy="55783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声音</a:t>
              </a:r>
            </a:p>
          </p:txBody>
        </p:sp>
      </p:grpSp>
      <p:pic>
        <p:nvPicPr>
          <p:cNvPr id="26" name="图片7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7145" y="2767330"/>
            <a:ext cx="1684020" cy="179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20" grpId="0" animBg="1"/>
      <p:bldP spid="23" grpId="0" animBg="1"/>
    </p:bldLst>
  </p:timing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2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5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二、数据的表示形式</a:t>
              </a:r>
            </a:p>
          </p:txBody>
        </p:sp>
      </p:grpSp>
      <p:sp>
        <p:nvSpPr>
          <p:cNvPr id="9" name="文本3"/>
          <p:cNvSpPr txBox="1"/>
          <p:nvPr/>
        </p:nvSpPr>
        <p:spPr>
          <a:xfrm>
            <a:off x="1223645" y="2299335"/>
            <a:ext cx="9712960" cy="74358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生活中存在一些数据，需要按照一定规则，才能理解它们的意思，这就是编码。</a:t>
            </a:r>
          </a:p>
        </p:txBody>
      </p: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1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sp>
        <p:nvSpPr>
          <p:cNvPr id="12" name="文本4"/>
          <p:cNvSpPr txBox="1"/>
          <p:nvPr/>
        </p:nvSpPr>
        <p:spPr>
          <a:xfrm>
            <a:off x="5905500" y="4454525"/>
            <a:ext cx="6249035" cy="166687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如车辆的车牌号，新能源汽车是绿牌</a:t>
            </a:r>
          </a:p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其中京代表北京，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D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代表纯电车</a:t>
            </a:r>
          </a:p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蒙代表内蒙古，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F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代表油电混动</a:t>
            </a:r>
          </a:p>
        </p:txBody>
      </p:sp>
      <p:pic>
        <p:nvPicPr>
          <p:cNvPr id="13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pic>
        <p:nvPicPr>
          <p:cNvPr id="14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0" t="23076" r="0" b="19623"/>
          <a:stretch>
            <a:fillRect/>
          </a:stretch>
        </p:blipFill>
        <p:spPr>
          <a:xfrm>
            <a:off x="5909310" y="3130550"/>
            <a:ext cx="3195955" cy="1373505"/>
          </a:xfrm>
          <a:prstGeom prst="rect">
            <a:avLst/>
          </a:prstGeom>
        </p:spPr>
      </p:pic>
      <p:pic>
        <p:nvPicPr>
          <p:cNvPr id="15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090" y="3440430"/>
            <a:ext cx="4190365" cy="263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6" grpId="0" animBg="1"/>
    </p:bldLst>
  </p:timing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2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5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二、数据的表示形式</a:t>
              </a:r>
            </a:p>
          </p:txBody>
        </p:sp>
      </p:grpSp>
      <p:sp>
        <p:nvSpPr>
          <p:cNvPr id="9" name="文本3"/>
          <p:cNvSpPr txBox="1"/>
          <p:nvPr/>
        </p:nvSpPr>
        <p:spPr>
          <a:xfrm>
            <a:off x="1223645" y="2299335"/>
            <a:ext cx="9712960" cy="74358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生活中存在一些数据，需要按照一定规则，才能理解它们的意思，这就是编码。</a:t>
            </a:r>
          </a:p>
        </p:txBody>
      </p: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1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sp>
        <p:nvSpPr>
          <p:cNvPr id="12" name="文本4"/>
          <p:cNvSpPr txBox="1"/>
          <p:nvPr/>
        </p:nvSpPr>
        <p:spPr>
          <a:xfrm>
            <a:off x="7486023" y="4545357"/>
            <a:ext cx="4335472" cy="120523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如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S323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、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S306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是省道的编码</a:t>
            </a:r>
          </a:p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G55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、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G56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是高速公路的编码</a:t>
            </a:r>
          </a:p>
        </p:txBody>
      </p:sp>
      <p:pic>
        <p:nvPicPr>
          <p:cNvPr id="13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pic>
        <p:nvPicPr>
          <p:cNvPr id="14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1185" y="3429000"/>
            <a:ext cx="2684145" cy="2749550"/>
          </a:xfrm>
          <a:prstGeom prst="rect">
            <a:avLst/>
          </a:prstGeom>
        </p:spPr>
      </p:pic>
      <p:pic>
        <p:nvPicPr>
          <p:cNvPr id="15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719830"/>
            <a:ext cx="3279140" cy="214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6" grpId="0" animBg="1"/>
    </p:bldLst>
  </p:timing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2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5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二、数据的表示形式</a:t>
              </a:r>
            </a:p>
          </p:txBody>
        </p:sp>
      </p:grpSp>
      <p:sp>
        <p:nvSpPr>
          <p:cNvPr id="9" name="文本3"/>
          <p:cNvSpPr txBox="1"/>
          <p:nvPr/>
        </p:nvSpPr>
        <p:spPr>
          <a:xfrm>
            <a:off x="1223645" y="2299335"/>
            <a:ext cx="9712960" cy="74358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生活中存在一些数据，需要按照一定规则，才能理解它们的意思，这就是编码。</a:t>
            </a:r>
          </a:p>
        </p:txBody>
      </p: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1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sp>
        <p:nvSpPr>
          <p:cNvPr id="12" name="文本4"/>
          <p:cNvSpPr txBox="1"/>
          <p:nvPr/>
        </p:nvSpPr>
        <p:spPr>
          <a:xfrm>
            <a:off x="5542280" y="3249930"/>
            <a:ext cx="5394325" cy="166687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如用手势表示数字</a:t>
            </a:r>
          </a:p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每种手势跟数字一一对应，人们约定俗成，看到手势就知道数字是几</a:t>
            </a:r>
          </a:p>
        </p:txBody>
      </p:sp>
      <p:pic>
        <p:nvPicPr>
          <p:cNvPr id="13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grpSp>
        <p:nvGrpSpPr>
          <p:cNvPr id="14" name="组合2"/>
          <p:cNvGrpSpPr/>
          <p:nvPr/>
        </p:nvGrpSpPr>
        <p:grpSpPr>
          <a:xfrm>
            <a:off x="5259070" y="5005705"/>
            <a:ext cx="5416582" cy="1340485"/>
            <a:chOff x="0" y="0"/>
            <a:chExt cx="5416582" cy="1340485"/>
          </a:xfrm>
        </p:grpSpPr>
        <p:sp>
          <p:nvSpPr>
            <p:cNvPr id="15" name="形状3"/>
            <p:cNvSpPr txBox="1"/>
            <p:nvPr/>
          </p:nvSpPr>
          <p:spPr>
            <a:xfrm>
              <a:off x="0" y="0"/>
              <a:ext cx="5354955" cy="1340485"/>
            </a:xfrm>
            <a:prstGeom prst="roundRect"/>
            <a:solidFill>
              <a:srgbClr val="FED96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文本6"/>
            <p:cNvSpPr txBox="1"/>
            <p:nvPr/>
          </p:nvSpPr>
          <p:spPr>
            <a:xfrm>
              <a:off x="61627" y="15907"/>
              <a:ext cx="5354955" cy="120961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编码通过建立唯一标识，与物理世界中的人、物等关联起来。</a:t>
              </a:r>
            </a:p>
          </p:txBody>
        </p:sp>
      </p:grpSp>
      <p:pic>
        <p:nvPicPr>
          <p:cNvPr id="17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220" y="3299460"/>
            <a:ext cx="45148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6" grpId="0" animBg="1"/>
      <p:bldP spid="14" grpId="0" animBg="1"/>
    </p:bldLst>
  </p:timing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2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6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三、用数据介绍自己</a:t>
              </a:r>
            </a:p>
          </p:txBody>
        </p:sp>
      </p:grpSp>
      <p:sp>
        <p:nvSpPr>
          <p:cNvPr id="9" name="文本3"/>
          <p:cNvSpPr txBox="1"/>
          <p:nvPr/>
        </p:nvSpPr>
        <p:spPr>
          <a:xfrm>
            <a:off x="1223645" y="2299335"/>
            <a:ext cx="7954010" cy="74358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 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用你身上的数据制作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“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自画像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”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，看看能不能清楚地向别人介绍自己。</a:t>
            </a:r>
          </a:p>
        </p:txBody>
      </p: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1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sp>
        <p:nvSpPr>
          <p:cNvPr id="12" name="文本4"/>
          <p:cNvSpPr txBox="1"/>
          <p:nvPr/>
        </p:nvSpPr>
        <p:spPr>
          <a:xfrm>
            <a:off x="978535" y="3045538"/>
            <a:ext cx="10279380" cy="74358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 </a:t>
            </a:r>
          </a:p>
        </p:txBody>
      </p:sp>
      <p:sp>
        <p:nvSpPr>
          <p:cNvPr id="13" name="文本5"/>
          <p:cNvSpPr txBox="1"/>
          <p:nvPr/>
        </p:nvSpPr>
        <p:spPr>
          <a:xfrm>
            <a:off x="978535" y="3224530"/>
            <a:ext cx="10033000" cy="120523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        </a:t>
            </a:r>
            <a:r>
              <a:rPr lang="zh-CN" altLang="en-US" sz="2400" b="0" i="0" dirty="0">
                <a:solidFill>
                  <a:srgbClr val="0070C0">
                    <a:alpha val="100000"/>
                  </a:srgbClr>
                </a:solidFill>
                <a:latin typeface="楷体"/>
                <a:ea typeface="楷体"/>
              </a:rPr>
              <a:t>注意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：选择自己的主要特征进行数据展示，让别人更快地认识你。建议使用多种类型的数据，如数字、汉字、字母、符号或图片等方式。</a:t>
            </a:r>
          </a:p>
        </p:txBody>
      </p:sp>
      <p:pic>
        <p:nvPicPr>
          <p:cNvPr id="14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grpSp>
        <p:nvGrpSpPr>
          <p:cNvPr id="15" name="组合2"/>
          <p:cNvGrpSpPr/>
          <p:nvPr/>
        </p:nvGrpSpPr>
        <p:grpSpPr>
          <a:xfrm>
            <a:off x="3114776" y="4553435"/>
            <a:ext cx="1243224" cy="587532"/>
            <a:chOff x="0" y="0"/>
            <a:chExt cx="1243224" cy="587532"/>
          </a:xfrm>
        </p:grpSpPr>
        <p:sp>
          <p:nvSpPr>
            <p:cNvPr id="16" name="形状3"/>
            <p:cNvSpPr txBox="1"/>
            <p:nvPr/>
          </p:nvSpPr>
          <p:spPr>
            <a:xfrm>
              <a:off x="0" y="69372"/>
              <a:ext cx="1221740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文本7"/>
            <p:cNvSpPr txBox="1"/>
            <p:nvPr/>
          </p:nvSpPr>
          <p:spPr>
            <a:xfrm>
              <a:off x="21484" y="0"/>
              <a:ext cx="122174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年龄</a:t>
              </a:r>
            </a:p>
          </p:txBody>
        </p:sp>
      </p:grpSp>
      <p:grpSp>
        <p:nvGrpSpPr>
          <p:cNvPr id="18" name="组合3"/>
          <p:cNvGrpSpPr/>
          <p:nvPr/>
        </p:nvGrpSpPr>
        <p:grpSpPr>
          <a:xfrm>
            <a:off x="5072481" y="4553435"/>
            <a:ext cx="1243224" cy="587532"/>
            <a:chOff x="0" y="0"/>
            <a:chExt cx="1243224" cy="587532"/>
          </a:xfrm>
        </p:grpSpPr>
        <p:sp>
          <p:nvSpPr>
            <p:cNvPr id="19" name="形状4"/>
            <p:cNvSpPr txBox="1"/>
            <p:nvPr/>
          </p:nvSpPr>
          <p:spPr>
            <a:xfrm>
              <a:off x="0" y="69372"/>
              <a:ext cx="1221740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0" name="文本8"/>
            <p:cNvSpPr txBox="1"/>
            <p:nvPr/>
          </p:nvSpPr>
          <p:spPr>
            <a:xfrm>
              <a:off x="21484" y="0"/>
              <a:ext cx="122174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身高</a:t>
              </a:r>
            </a:p>
          </p:txBody>
        </p:sp>
      </p:grpSp>
      <p:grpSp>
        <p:nvGrpSpPr>
          <p:cNvPr id="21" name="组合4"/>
          <p:cNvGrpSpPr/>
          <p:nvPr/>
        </p:nvGrpSpPr>
        <p:grpSpPr>
          <a:xfrm>
            <a:off x="7030821" y="4553435"/>
            <a:ext cx="1243224" cy="587532"/>
            <a:chOff x="0" y="0"/>
            <a:chExt cx="1243224" cy="587532"/>
          </a:xfrm>
        </p:grpSpPr>
        <p:sp>
          <p:nvSpPr>
            <p:cNvPr id="22" name="形状5"/>
            <p:cNvSpPr txBox="1"/>
            <p:nvPr/>
          </p:nvSpPr>
          <p:spPr>
            <a:xfrm>
              <a:off x="0" y="69372"/>
              <a:ext cx="1221740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3" name="文本9"/>
            <p:cNvSpPr txBox="1"/>
            <p:nvPr/>
          </p:nvSpPr>
          <p:spPr>
            <a:xfrm>
              <a:off x="21484" y="0"/>
              <a:ext cx="122174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体重</a:t>
              </a:r>
            </a:p>
          </p:txBody>
        </p:sp>
      </p:grpSp>
      <p:grpSp>
        <p:nvGrpSpPr>
          <p:cNvPr id="24" name="组合5"/>
          <p:cNvGrpSpPr/>
          <p:nvPr/>
        </p:nvGrpSpPr>
        <p:grpSpPr>
          <a:xfrm>
            <a:off x="2564130" y="5554188"/>
            <a:ext cx="1599459" cy="587532"/>
            <a:chOff x="0" y="0"/>
            <a:chExt cx="1599459" cy="587532"/>
          </a:xfrm>
        </p:grpSpPr>
        <p:sp>
          <p:nvSpPr>
            <p:cNvPr id="25" name="形状6"/>
            <p:cNvSpPr txBox="1"/>
            <p:nvPr/>
          </p:nvSpPr>
          <p:spPr>
            <a:xfrm>
              <a:off x="0" y="69372"/>
              <a:ext cx="1577975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6" name="文本10"/>
            <p:cNvSpPr txBox="1"/>
            <p:nvPr/>
          </p:nvSpPr>
          <p:spPr>
            <a:xfrm>
              <a:off x="21484" y="0"/>
              <a:ext cx="1577975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五官特征</a:t>
              </a:r>
            </a:p>
          </p:txBody>
        </p:sp>
      </p:grpSp>
      <p:grpSp>
        <p:nvGrpSpPr>
          <p:cNvPr id="27" name="组合6"/>
          <p:cNvGrpSpPr/>
          <p:nvPr/>
        </p:nvGrpSpPr>
        <p:grpSpPr>
          <a:xfrm>
            <a:off x="4959985" y="5554188"/>
            <a:ext cx="1599459" cy="587532"/>
            <a:chOff x="0" y="0"/>
            <a:chExt cx="1599459" cy="587532"/>
          </a:xfrm>
        </p:grpSpPr>
        <p:sp>
          <p:nvSpPr>
            <p:cNvPr id="28" name="形状7"/>
            <p:cNvSpPr txBox="1"/>
            <p:nvPr/>
          </p:nvSpPr>
          <p:spPr>
            <a:xfrm>
              <a:off x="0" y="69372"/>
              <a:ext cx="1577975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9" name="文本11"/>
            <p:cNvSpPr txBox="1"/>
            <p:nvPr/>
          </p:nvSpPr>
          <p:spPr>
            <a:xfrm>
              <a:off x="21484" y="0"/>
              <a:ext cx="1577975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兴趣爱好</a:t>
              </a:r>
            </a:p>
          </p:txBody>
        </p:sp>
      </p:grpSp>
      <p:grpSp>
        <p:nvGrpSpPr>
          <p:cNvPr id="30" name="组合7"/>
          <p:cNvGrpSpPr/>
          <p:nvPr/>
        </p:nvGrpSpPr>
        <p:grpSpPr>
          <a:xfrm>
            <a:off x="7565390" y="5554188"/>
            <a:ext cx="1599459" cy="587532"/>
            <a:chOff x="0" y="0"/>
            <a:chExt cx="1599459" cy="587532"/>
          </a:xfrm>
        </p:grpSpPr>
        <p:sp>
          <p:nvSpPr>
            <p:cNvPr id="31" name="形状8"/>
            <p:cNvSpPr txBox="1"/>
            <p:nvPr/>
          </p:nvSpPr>
          <p:spPr>
            <a:xfrm>
              <a:off x="0" y="69372"/>
              <a:ext cx="1577975" cy="518160"/>
            </a:xfrm>
            <a:prstGeom prst="roundRect"/>
            <a:solidFill>
              <a:srgbClr val="2E54A1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32" name="文本12"/>
            <p:cNvSpPr txBox="1"/>
            <p:nvPr/>
          </p:nvSpPr>
          <p:spPr>
            <a:xfrm>
              <a:off x="21484" y="0"/>
              <a:ext cx="1577975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作息时间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4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三、用数据介绍自己</a:t>
              </a:r>
            </a:p>
          </p:txBody>
        </p:sp>
      </p:grpSp>
      <p:pic>
        <p:nvPicPr>
          <p:cNvPr id="9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0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pic>
        <p:nvPicPr>
          <p:cNvPr id="11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sp>
        <p:nvSpPr>
          <p:cNvPr id="12" name="形状2"/>
          <p:cNvSpPr txBox="1"/>
          <p:nvPr/>
        </p:nvSpPr>
        <p:spPr>
          <a:xfrm>
            <a:off x="5798185" y="2747010"/>
            <a:ext cx="5113655" cy="3590290"/>
          </a:xfrm>
          <a:prstGeom prst="roundRect"/>
          <a:solidFill>
            <a:srgbClr val="F2F2F2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13" name="组合2"/>
          <p:cNvGrpSpPr/>
          <p:nvPr/>
        </p:nvGrpSpPr>
        <p:grpSpPr>
          <a:xfrm>
            <a:off x="7045324" y="2439360"/>
            <a:ext cx="2397146" cy="577846"/>
            <a:chOff x="0" y="0"/>
            <a:chExt cx="2397146" cy="577846"/>
          </a:xfrm>
        </p:grpSpPr>
        <p:sp>
          <p:nvSpPr>
            <p:cNvPr id="14" name="形状5"/>
            <p:cNvSpPr txBox="1"/>
            <p:nvPr/>
          </p:nvSpPr>
          <p:spPr>
            <a:xfrm>
              <a:off x="0" y="79050"/>
              <a:ext cx="2327910" cy="498796"/>
            </a:xfrm>
            <a:prstGeom prst="roundRect"/>
            <a:solidFill>
              <a:srgbClr val="4874CB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  <a:effectLst>
              <a:outerShdw blurRad="254000" dist="50800" dir="10800000" rotWithShape="0">
                <a:srgbClr val="4874CB">
                  <a:alpha val="2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文本4"/>
            <p:cNvSpPr txBox="1"/>
            <p:nvPr/>
          </p:nvSpPr>
          <p:spPr>
            <a:xfrm>
              <a:off x="69236" y="0"/>
              <a:ext cx="2327910" cy="55783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effectLst>
                    <a:outerShdw blurRad="38100" dist="25400" dir="5400000" rotWithShape="0">
                      <a:srgbClr val="6E747A">
                        <a:alpha val="43137"/>
                      </a:srgbClr>
                    </a:outerShdw>
                  </a:effectLst>
                  <a:latin typeface="微软雅黑"/>
                  <a:ea typeface="微软雅黑"/>
                </a:rPr>
                <a:t>我的自画像</a:t>
              </a:r>
            </a:p>
          </p:txBody>
        </p:sp>
      </p:grpSp>
      <p:pic>
        <p:nvPicPr>
          <p:cNvPr id="16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15" t="20277" r="56718" b="13055"/>
          <a:stretch>
            <a:fillRect/>
          </a:stretch>
        </p:blipFill>
        <p:spPr>
          <a:xfrm>
            <a:off x="1626235" y="3902710"/>
            <a:ext cx="2386330" cy="2890520"/>
          </a:xfrm>
          <a:prstGeom prst="rect">
            <a:avLst/>
          </a:prstGeom>
        </p:spPr>
      </p:pic>
      <p:sp>
        <p:nvSpPr>
          <p:cNvPr id="17" name="形状3"/>
          <p:cNvSpPr txBox="1"/>
          <p:nvPr/>
        </p:nvSpPr>
        <p:spPr>
          <a:xfrm>
            <a:off x="5798185" y="3979545"/>
            <a:ext cx="123190" cy="1228090"/>
          </a:xfrm>
          <a:prstGeom prst="roundRect"/>
          <a:solidFill>
            <a:srgbClr val="4874CB">
              <a:alpha val="100000"/>
            </a:srgbClr>
          </a:solidFill>
          <a:ln w="12700">
            <a:solidFill>
              <a:srgbClr val="2E54A1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18" name="组合3"/>
          <p:cNvGrpSpPr/>
          <p:nvPr/>
        </p:nvGrpSpPr>
        <p:grpSpPr>
          <a:xfrm>
            <a:off x="1365885" y="2184400"/>
            <a:ext cx="2646680" cy="1167130"/>
            <a:chOff x="0" y="0"/>
            <a:chExt cx="2646680" cy="1167130"/>
          </a:xfrm>
        </p:grpSpPr>
        <p:sp>
          <p:nvSpPr>
            <p:cNvPr id="19" name="形状6"/>
            <p:cNvSpPr txBox="1"/>
            <p:nvPr/>
          </p:nvSpPr>
          <p:spPr>
            <a:xfrm>
              <a:off x="0" y="0"/>
              <a:ext cx="2646680" cy="1167130"/>
            </a:xfrm>
            <a:prstGeom prst="cloud"/>
            <a:solidFill>
              <a:srgbClr val="B6C7EA">
                <a:alpha val="100000"/>
              </a:srgbClr>
            </a:solidFill>
            <a:ln w="12700">
              <a:solidFill>
                <a:srgbClr val="91AC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0" name="文本5"/>
            <p:cNvSpPr txBox="1"/>
            <p:nvPr/>
          </p:nvSpPr>
          <p:spPr>
            <a:xfrm>
              <a:off x="360966" y="105607"/>
              <a:ext cx="1728919" cy="80276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活动一：</a:t>
              </a:r>
            </a:p>
            <a:p>
              <a:pPr marL="0" algn="ctr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制作自画像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讲 授 新 知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1498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讲 授 新 知</a:t>
            </a:r>
          </a:p>
        </p:txBody>
      </p:sp>
      <p:grpSp>
        <p:nvGrpSpPr>
          <p:cNvPr id="6" name="组合1"/>
          <p:cNvGrpSpPr/>
          <p:nvPr/>
        </p:nvGrpSpPr>
        <p:grpSpPr>
          <a:xfrm>
            <a:off x="3229610" y="1467337"/>
            <a:ext cx="5759302" cy="652928"/>
            <a:chOff x="0" y="0"/>
            <a:chExt cx="5759302" cy="652928"/>
          </a:xfrm>
        </p:grpSpPr>
        <p:sp>
          <p:nvSpPr>
            <p:cNvPr id="7" name="形状2"/>
            <p:cNvSpPr txBox="1"/>
            <p:nvPr/>
          </p:nvSpPr>
          <p:spPr>
            <a:xfrm>
              <a:off x="0" y="18563"/>
              <a:ext cx="5732145" cy="634365"/>
            </a:xfrm>
            <a:prstGeom prst="roundRect"/>
            <a:solidFill>
              <a:srgbClr val="91ACE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4"/>
            <p:cNvSpPr txBox="1"/>
            <p:nvPr/>
          </p:nvSpPr>
          <p:spPr>
            <a:xfrm>
              <a:off x="27157" y="0"/>
              <a:ext cx="5732145" cy="5724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三、用数据介绍自己</a:t>
              </a:r>
            </a:p>
          </p:txBody>
        </p:sp>
      </p:grpSp>
      <p:pic>
        <p:nvPicPr>
          <p:cNvPr id="9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10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sp>
        <p:nvSpPr>
          <p:cNvPr id="11" name="文本3"/>
          <p:cNvSpPr txBox="1"/>
          <p:nvPr/>
        </p:nvSpPr>
        <p:spPr>
          <a:xfrm>
            <a:off x="1223645" y="3726028"/>
            <a:ext cx="10046970" cy="74358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 </a:t>
            </a:r>
          </a:p>
        </p:txBody>
      </p:sp>
      <p:pic>
        <p:nvPicPr>
          <p:cNvPr id="12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grpSp>
        <p:nvGrpSpPr>
          <p:cNvPr id="13" name="组合2"/>
          <p:cNvGrpSpPr/>
          <p:nvPr/>
        </p:nvGrpSpPr>
        <p:grpSpPr>
          <a:xfrm>
            <a:off x="1365885" y="2184400"/>
            <a:ext cx="2646680" cy="1167130"/>
            <a:chOff x="0" y="0"/>
            <a:chExt cx="2646680" cy="1167130"/>
          </a:xfrm>
        </p:grpSpPr>
        <p:sp>
          <p:nvSpPr>
            <p:cNvPr id="14" name="形状3"/>
            <p:cNvSpPr txBox="1"/>
            <p:nvPr/>
          </p:nvSpPr>
          <p:spPr>
            <a:xfrm>
              <a:off x="0" y="0"/>
              <a:ext cx="2646680" cy="1167130"/>
            </a:xfrm>
            <a:prstGeom prst="cloud"/>
            <a:solidFill>
              <a:srgbClr val="B6C7EA">
                <a:alpha val="100000"/>
              </a:srgbClr>
            </a:solidFill>
            <a:ln w="12700">
              <a:solidFill>
                <a:srgbClr val="91ACE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文本5"/>
            <p:cNvSpPr txBox="1"/>
            <p:nvPr/>
          </p:nvSpPr>
          <p:spPr>
            <a:xfrm>
              <a:off x="360966" y="84027"/>
              <a:ext cx="1728919" cy="84592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活动二：</a:t>
              </a:r>
            </a:p>
            <a:p>
              <a:pPr marL="0" algn="ctr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</a:rPr>
                <a:t>“</a:t>
              </a: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猜猜我是谁</a:t>
              </a: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</a:rPr>
                <a:t>”</a:t>
              </a:r>
            </a:p>
          </p:txBody>
        </p:sp>
      </p:grpSp>
      <p:grpSp>
        <p:nvGrpSpPr>
          <p:cNvPr id="16" name="组合3"/>
          <p:cNvGrpSpPr/>
          <p:nvPr/>
        </p:nvGrpSpPr>
        <p:grpSpPr>
          <a:xfrm>
            <a:off x="4012565" y="3133090"/>
            <a:ext cx="6601742" cy="3140710"/>
            <a:chOff x="0" y="0"/>
            <a:chExt cx="6601742" cy="3140710"/>
          </a:xfrm>
        </p:grpSpPr>
        <p:sp>
          <p:nvSpPr>
            <p:cNvPr id="17" name="形状4"/>
            <p:cNvSpPr txBox="1"/>
            <p:nvPr/>
          </p:nvSpPr>
          <p:spPr>
            <a:xfrm>
              <a:off x="0" y="0"/>
              <a:ext cx="6452235" cy="3140710"/>
            </a:xfrm>
            <a:prstGeom prst="roundRect"/>
            <a:solidFill>
              <a:srgbClr val="F2F2F2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文本6"/>
            <p:cNvSpPr txBox="1"/>
            <p:nvPr/>
          </p:nvSpPr>
          <p:spPr>
            <a:xfrm>
              <a:off x="149507" y="103787"/>
              <a:ext cx="6452235" cy="283407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6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1.4位同学一组，绘制自己的自画像；分组讨论各自的自画像，每组选出一位同学的自画像作为代表。</a:t>
              </a:r>
            </a:p>
            <a:p>
              <a:pPr marL="0" algn="l">
                <a:lnSpc>
                  <a:spcPts val="36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2.将各组上交的自画像汇总到一起，随机抽取两位同学的自画像进行展示，其他同学试试看能不能猜中描述的是谁。</a:t>
              </a:r>
            </a:p>
          </p:txBody>
        </p:sp>
      </p:grpSp>
      <p:grpSp>
        <p:nvGrpSpPr>
          <p:cNvPr id="19" name="组合4"/>
          <p:cNvGrpSpPr/>
          <p:nvPr/>
        </p:nvGrpSpPr>
        <p:grpSpPr>
          <a:xfrm>
            <a:off x="6074409" y="2773370"/>
            <a:ext cx="2397146" cy="577846"/>
            <a:chOff x="0" y="0"/>
            <a:chExt cx="2397146" cy="577846"/>
          </a:xfrm>
        </p:grpSpPr>
        <p:sp>
          <p:nvSpPr>
            <p:cNvPr id="20" name="形状5"/>
            <p:cNvSpPr txBox="1"/>
            <p:nvPr/>
          </p:nvSpPr>
          <p:spPr>
            <a:xfrm>
              <a:off x="0" y="79050"/>
              <a:ext cx="2327910" cy="498796"/>
            </a:xfrm>
            <a:prstGeom prst="roundRect"/>
            <a:solidFill>
              <a:srgbClr val="4874CB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  <a:effectLst>
              <a:outerShdw blurRad="254000" dist="50800" dir="10800000" rotWithShape="0">
                <a:srgbClr val="4874CB">
                  <a:alpha val="2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1" name="文本7"/>
            <p:cNvSpPr txBox="1"/>
            <p:nvPr/>
          </p:nvSpPr>
          <p:spPr>
            <a:xfrm>
              <a:off x="69236" y="0"/>
              <a:ext cx="2327910" cy="55783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FFFFFF">
                      <a:alpha val="100000"/>
                    </a:srgbClr>
                  </a:solidFill>
                  <a:effectLst>
                    <a:outerShdw blurRad="38100" dist="25400" dir="5400000" rotWithShape="0">
                      <a:srgbClr val="6E747A">
                        <a:alpha val="43137"/>
                      </a:srgbClr>
                    </a:outerShdw>
                  </a:effectLst>
                  <a:latin typeface="微软雅黑"/>
                  <a:ea typeface="微软雅黑"/>
                </a:rPr>
                <a:t>游戏规则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拓 展 与 提 升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01015"/>
            <a:ext cx="401701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拓 展 与 提 升</a:t>
            </a:r>
          </a:p>
        </p:txBody>
      </p:sp>
      <p:sp>
        <p:nvSpPr>
          <p:cNvPr id="6" name="文本3"/>
          <p:cNvSpPr txBox="1"/>
          <p:nvPr/>
        </p:nvSpPr>
        <p:spPr>
          <a:xfrm>
            <a:off x="1223645" y="1831975"/>
            <a:ext cx="9447530" cy="16777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      </a:t>
            </a: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请你向同学推荐一个旅行的地点，可以是风景优美的自然景观，也可以是有文化底蕴的人文景观。</a:t>
            </a:r>
          </a:p>
          <a:p>
            <a:pPr marL="0" algn="l">
              <a:lnSpc>
                <a:spcPts val="3600"/>
              </a:lnSpc>
            </a:pPr>
            <a:r>
              <a:rPr lang="zh-CN" altLang="en-US" sz="2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　　请用数据从多个角度来介绍这个地点。</a:t>
            </a:r>
          </a:p>
        </p:txBody>
      </p: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80000">
            <a:off x="9310370" y="272415"/>
            <a:ext cx="3517900" cy="3450590"/>
          </a:xfrm>
          <a:prstGeom prst="rect">
            <a:avLst/>
          </a:prstGeom>
        </p:spPr>
      </p:pic>
      <p:pic>
        <p:nvPicPr>
          <p:cNvPr id="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40000">
            <a:off x="9691370" y="168275"/>
            <a:ext cx="2169160" cy="2127885"/>
          </a:xfrm>
          <a:prstGeom prst="rect">
            <a:avLst/>
          </a:prstGeom>
        </p:spPr>
      </p:pic>
      <p:sp>
        <p:nvSpPr>
          <p:cNvPr id="9" name="形状2"/>
          <p:cNvSpPr txBox="1"/>
          <p:nvPr/>
        </p:nvSpPr>
        <p:spPr>
          <a:xfrm>
            <a:off x="5716588" y="550228"/>
            <a:ext cx="4231640" cy="1330960"/>
          </a:xfrm>
          <a:prstGeom prst="cloud"/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4"/>
          <p:cNvSpPr txBox="1"/>
          <p:nvPr/>
        </p:nvSpPr>
        <p:spPr>
          <a:xfrm>
            <a:off x="7134860" y="874395"/>
            <a:ext cx="2505710" cy="77406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拓展活动</a:t>
            </a:r>
          </a:p>
        </p:txBody>
      </p:sp>
      <p:pic>
        <p:nvPicPr>
          <p:cNvPr id="11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pic>
        <p:nvPicPr>
          <p:cNvPr id="12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0370" y="3618865"/>
            <a:ext cx="4026535" cy="2667635"/>
          </a:xfrm>
          <a:prstGeom prst="rect">
            <a:avLst/>
          </a:prstGeom>
        </p:spPr>
      </p:pic>
      <p:pic>
        <p:nvPicPr>
          <p:cNvPr id="13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515" y="2567940"/>
            <a:ext cx="2907030" cy="387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sm"/>
            <a:tailEnd type="none" w="med" len="sm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拓 展 与 提 升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2425" y="501015"/>
            <a:ext cx="401701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拓 展 与 提 升</a:t>
            </a:r>
          </a:p>
        </p:txBody>
      </p:sp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  <p:grpSp>
        <p:nvGrpSpPr>
          <p:cNvPr id="7" name="组合1"/>
          <p:cNvGrpSpPr/>
          <p:nvPr/>
        </p:nvGrpSpPr>
        <p:grpSpPr>
          <a:xfrm>
            <a:off x="966470" y="1609090"/>
            <a:ext cx="10019116" cy="3309071"/>
            <a:chOff x="0" y="0"/>
            <a:chExt cx="10019116" cy="3309071"/>
          </a:xfrm>
        </p:grpSpPr>
        <p:sp>
          <p:nvSpPr>
            <p:cNvPr id="8" name="形状3"/>
            <p:cNvSpPr txBox="1"/>
            <p:nvPr/>
          </p:nvSpPr>
          <p:spPr>
            <a:xfrm>
              <a:off x="0" y="0"/>
              <a:ext cx="9883775" cy="2850515"/>
            </a:xfrm>
            <a:prstGeom prst="roundRect"/>
            <a:solidFill>
              <a:srgbClr val="F2F2F2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3"/>
            <p:cNvSpPr txBox="1"/>
            <p:nvPr/>
          </p:nvSpPr>
          <p:spPr>
            <a:xfrm>
              <a:off x="135341" y="89621"/>
              <a:ext cx="9883775" cy="321945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-457200" algn="l">
                <a:lnSpc>
                  <a:spcPts val="3900"/>
                </a:lnSpc>
                <a:buFont typeface="Arial"/>
                <a:buChar char=" "/>
              </a:pP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微软雅黑"/>
                  <a:ea typeface="微软雅黑"/>
                </a:rPr>
                <a:t>黄河长约</a:t>
              </a: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Arial"/>
                  <a:ea typeface="Arial"/>
                </a:rPr>
                <a:t> 5 464 km</a:t>
              </a: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微软雅黑"/>
                  <a:ea typeface="微软雅黑"/>
                </a:rPr>
                <a:t>，是我国第二长河；发源于青藏高原巴颜喀拉山脉，流经青海、四川、甘肃、宁夏、内蒙古、山西、陕西、河南、山东九个省级行政区，最后流入渤海；历经</a:t>
              </a: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Arial"/>
                  <a:ea typeface="Arial"/>
                </a:rPr>
                <a:t>4 000 </a:t>
              </a: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微软雅黑"/>
                  <a:ea typeface="微软雅黑"/>
                </a:rPr>
                <a:t>多米海拔落差，孕育了中华文明，正如李白的诗句</a:t>
              </a: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Arial"/>
                  <a:ea typeface="Arial"/>
                </a:rPr>
                <a:t>“</a:t>
              </a: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微软雅黑"/>
                  <a:ea typeface="微软雅黑"/>
                </a:rPr>
                <a:t>黄河之水天上来，奔流到海不复回</a:t>
              </a: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Arial"/>
                  <a:ea typeface="Arial"/>
                </a:rPr>
                <a:t>”</a:t>
              </a:r>
              <a:r>
                <a:rPr lang="zh-CN" altLang="en-US" sz="2199" b="1" i="0" dirty="0">
                  <a:solidFill>
                    <a:srgbClr val="262626">
                      <a:alpha val="100000"/>
                    </a:srgbClr>
                  </a:solidFill>
                  <a:latin typeface="微软雅黑"/>
                  <a:ea typeface="微软雅黑"/>
                </a:rPr>
                <a:t>所描述的那样，大河汤汤，奔涌向前，永不停歇。</a:t>
              </a:r>
            </a:p>
            <a:p>
              <a:pPr marL="0" algn="l"/>
            </a:p>
          </p:txBody>
        </p:sp>
      </p:grpSp>
      <p:sp>
        <p:nvSpPr>
          <p:cNvPr id="10" name="形状2"/>
          <p:cNvSpPr txBox="1"/>
          <p:nvPr/>
        </p:nvSpPr>
        <p:spPr>
          <a:xfrm>
            <a:off x="963930" y="2288540"/>
            <a:ext cx="75565" cy="1145540"/>
          </a:xfrm>
          <a:prstGeom prst="roundRect"/>
          <a:solidFill>
            <a:srgbClr val="4874CB">
              <a:alpha val="100000"/>
            </a:srgbClr>
          </a:solidFill>
          <a:ln w="12700">
            <a:solidFill>
              <a:srgbClr val="2E54A1">
                <a:alpha val="100000"/>
              </a:srgbClr>
            </a:solidFill>
            <a:prstDash val="solid"/>
            <a:headEnd type="none" w="med" len="sm"/>
            <a:tailEnd type="none" w="med" len="sm"/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11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25" y="4549140"/>
            <a:ext cx="3231515" cy="1930400"/>
          </a:xfrm>
          <a:prstGeom prst="rect">
            <a:avLst/>
          </a:prstGeom>
        </p:spPr>
      </p:pic>
      <p:pic>
        <p:nvPicPr>
          <p:cNvPr id="12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265" y="4495800"/>
            <a:ext cx="3073400" cy="20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形状1"/>
          <p:cNvSpPr txBox="1"/>
          <p:nvPr/>
        </p:nvSpPr>
        <p:spPr>
          <a:xfrm>
            <a:off x="540385" y="412115"/>
            <a:ext cx="11181080" cy="6033135"/>
          </a:xfrm>
          <a:prstGeom prst="roundRect"/>
          <a:solidFill>
            <a:srgbClr val="FFFFFF">
              <a:alpha val="100000"/>
            </a:srgbClr>
          </a:solidFill>
          <a:ln w="44450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64770" dist="0" dir="0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1609090" y="501015"/>
            <a:ext cx="505333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ln w="142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FFFF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总 结</a:t>
            </a:r>
          </a:p>
        </p:txBody>
      </p:sp>
      <p:sp>
        <p:nvSpPr>
          <p:cNvPr id="5" name="文本2"/>
          <p:cNvSpPr txBox="1"/>
          <p:nvPr/>
        </p:nvSpPr>
        <p:spPr>
          <a:xfrm>
            <a:off x="1623060" y="518795"/>
            <a:ext cx="3023870" cy="897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总 结</a:t>
            </a:r>
          </a:p>
        </p:txBody>
      </p:sp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183795" y="-605819"/>
            <a:ext cx="2544872" cy="3499491"/>
          </a:xfrm>
          <a:prstGeom prst="rect">
            <a:avLst/>
          </a:prstGeom>
        </p:spPr>
      </p:pic>
      <p:grpSp>
        <p:nvGrpSpPr>
          <p:cNvPr id="7" name="组合1"/>
          <p:cNvGrpSpPr/>
          <p:nvPr/>
        </p:nvGrpSpPr>
        <p:grpSpPr>
          <a:xfrm>
            <a:off x="4460240" y="2510790"/>
            <a:ext cx="6525346" cy="2850515"/>
            <a:chOff x="0" y="0"/>
            <a:chExt cx="6525346" cy="2850515"/>
          </a:xfrm>
        </p:grpSpPr>
        <p:sp>
          <p:nvSpPr>
            <p:cNvPr id="8" name="形状2"/>
            <p:cNvSpPr txBox="1"/>
            <p:nvPr/>
          </p:nvSpPr>
          <p:spPr>
            <a:xfrm>
              <a:off x="0" y="0"/>
              <a:ext cx="6390005" cy="2850515"/>
            </a:xfrm>
            <a:prstGeom prst="roundRect"/>
            <a:solidFill>
              <a:srgbClr val="F2F2F2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3"/>
            <p:cNvSpPr txBox="1"/>
            <p:nvPr/>
          </p:nvSpPr>
          <p:spPr>
            <a:xfrm>
              <a:off x="135341" y="89621"/>
              <a:ext cx="6390005" cy="2629182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300"/>
                </a:lnSpc>
              </a:pPr>
              <a:r>
                <a:rPr lang="zh-CN" altLang="en-US" sz="2400" b="1" i="0" dirty="0">
                  <a:solidFill>
                    <a:srgbClr val="262626">
                      <a:alpha val="100000"/>
                    </a:srgbClr>
                  </a:solidFill>
                  <a:latin typeface="Arial"/>
                  <a:ea typeface="Arial"/>
                </a:rPr>
                <a:t>1.</a:t>
              </a:r>
              <a:r>
                <a:rPr lang="zh-CN" altLang="en-US" sz="2400" b="1" i="0" dirty="0">
                  <a:solidFill>
                    <a:srgbClr val="262626">
                      <a:alpha val="100000"/>
                    </a:srgbClr>
                  </a:solidFill>
                  <a:latin typeface="微软雅黑"/>
                  <a:ea typeface="微软雅黑"/>
                </a:rPr>
                <a:t>身边处处有数据，感知数据的重要性。</a:t>
              </a:r>
            </a:p>
            <a:p>
              <a:pPr marL="0" algn="l">
                <a:lnSpc>
                  <a:spcPts val="4300"/>
                </a:lnSpc>
              </a:pPr>
              <a:r>
                <a:rPr lang="zh-CN" altLang="en-US" sz="2400" b="1" i="0" dirty="0">
                  <a:solidFill>
                    <a:srgbClr val="262626">
                      <a:alpha val="100000"/>
                    </a:srgbClr>
                  </a:solidFill>
                  <a:latin typeface="Arial"/>
                  <a:ea typeface="Arial"/>
                </a:rPr>
                <a:t>2.</a:t>
              </a:r>
              <a:r>
                <a:rPr lang="zh-CN" altLang="en-US" sz="2400" b="1" i="0" dirty="0">
                  <a:solidFill>
                    <a:srgbClr val="262626">
                      <a:alpha val="100000"/>
                    </a:srgbClr>
                  </a:solidFill>
                  <a:latin typeface="微软雅黑"/>
                  <a:ea typeface="微软雅黑"/>
                </a:rPr>
                <a:t>数字、汉字、字母、符号、图片、视频、声音等都是数据。</a:t>
              </a:r>
            </a:p>
            <a:p>
              <a:pPr marL="0" algn="l">
                <a:lnSpc>
                  <a:spcPts val="4300"/>
                </a:lnSpc>
              </a:pPr>
              <a:r>
                <a:rPr lang="zh-CN" altLang="en-US" sz="2400" b="1" i="0" dirty="0">
                  <a:solidFill>
                    <a:srgbClr val="262626">
                      <a:alpha val="100000"/>
                    </a:srgbClr>
                  </a:solidFill>
                  <a:latin typeface="Arial"/>
                  <a:ea typeface="Arial"/>
                </a:rPr>
                <a:t>3.</a:t>
              </a:r>
              <a:r>
                <a:rPr lang="zh-CN" altLang="en-US" sz="2400" b="1" i="0" dirty="0">
                  <a:solidFill>
                    <a:srgbClr val="262626">
                      <a:alpha val="100000"/>
                    </a:srgbClr>
                  </a:solidFill>
                  <a:latin typeface="微软雅黑"/>
                  <a:ea typeface="微软雅黑"/>
                </a:rPr>
                <a:t>编码也是数据的一种表现形式。</a:t>
              </a:r>
            </a:p>
          </p:txBody>
        </p:sp>
      </p:grpSp>
      <p:pic>
        <p:nvPicPr>
          <p:cNvPr id="10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95" y="2003425"/>
            <a:ext cx="2810510" cy="4104640"/>
          </a:xfrm>
          <a:prstGeom prst="rect">
            <a:avLst/>
          </a:prstGeom>
        </p:spPr>
      </p:pic>
      <p:pic>
        <p:nvPicPr>
          <p:cNvPr id="11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85" y="447675"/>
            <a:ext cx="1083310" cy="108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2697480" y="2076450"/>
            <a:ext cx="7748905" cy="161099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0400"/>
              </a:lnSpc>
            </a:pPr>
            <a:r>
              <a:rPr lang="zh-CN" altLang="en-US" sz="9600" b="1" i="0" dirty="0">
                <a:solidFill>
                  <a:srgbClr val="262626">
                    <a:alpha val="100000"/>
                  </a:srgbClr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-4615" y="3953955"/>
            <a:ext cx="12381865" cy="78867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3100"/>
              </a:lnSpc>
            </a:pPr>
            <a:r>
              <a:rPr lang="zh-CN" altLang="en-US" sz="2400" b="1" i="0" dirty="0">
                <a:solidFill>
                  <a:srgbClr val="595959">
                    <a:alpha val="100000"/>
                  </a:srgbClr>
                </a:solidFill>
                <a:latin typeface="微软雅黑"/>
                <a:ea typeface="微软雅黑"/>
              </a:rPr>
              <a:t>授课教师：柏中华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宽屏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ap:HeadingPairs>
  <ap:TitlesOfParts>
    <vt:vector baseType="lpstr" size="3">
      <vt:lpstr>Arial</vt:lpstr>
      <vt:lpstr>Office 主题​​</vt:lpstr>
      <vt:lpstr>PowerPoint 演示文稿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seewo_9224</dc:creator>
  <dc:title>第1课 数据宝藏在身边 柏中华</dc:title>
  <revision>1</revision>
  <dcterms:created xsi:type="dcterms:W3CDTF">2026-04-27T03:26:05.8730637Z</dcterms:created>
  <dcterms:modified xsi:type="dcterms:W3CDTF">2026-04-27T03:26:05.8730676Z</dcterms:modified>
  <lastModifiedBy>seewo_9224</lastModifiedBy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ApplicationName">
    <vt:lpwstr>EasiNote5</vt:lpwstr>
  </op:property>
  <op:property fmtid="{D5CDD505-2E9C-101B-9397-08002B2CF9AE}" pid="3" name="ApplicationVersion">
    <vt:lpwstr>5.2.4.8615</vt:lpwstr>
  </op:property>
  <op:property fmtid="{D5CDD505-2E9C-101B-9397-08002B2CF9AE}" pid="4" name="EasiNoteCoursewareInfo">
    <vt:lpwstr>33daa416-6ce5-4c7b-a084-c2f5697380d0:1</vt:lpwstr>
  </op:property>
  <op:property fmtid="{D5CDD505-2E9C-101B-9397-08002B2CF9AE}" pid="5" name="EasiNoteDocumentName">
    <vt:lpwstr>第1课 数据宝藏在身边 柏中华</vt:lpwstr>
  </op:property>
  <op:property fmtid="{D5CDD505-2E9C-101B-9397-08002B2CF9AE}" pid="6" name="EasiNoteAuthor">
    <vt:lpwstr>sgwuouqznhttsiouqsnvlz35297969k1</vt:lpwstr>
  </op:property>
  <op:property fmtid="{D5CDD505-2E9C-101B-9397-08002B2CF9AE}" pid="7" name="EasiNoteUpstreamCoursewareInfo_0">
    <vt:lpwstr>dc0f9af3-1561-4540-89ec-7f1233e0d0f7</vt:lpwstr>
  </op:property>
</op:Properties>
</file>