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4.xml" ContentType="application/vnd.openxmlformats-officedocument.presentationml.slide+xml"/>
  <Override PartName="/ppt/slideLayouts/slideLayout14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5.xml" ContentType="application/vnd.openxmlformats-officedocument.presentationml.slideLayout+xml"/>
  <Override PartName="/ppt/slides/slide16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17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8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19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20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21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22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23.xml" ContentType="application/vnd.openxmlformats-officedocument.presentationml.slideLayou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3c1a8972e414ef5" /><Relationship Type="http://schemas.openxmlformats.org/officeDocument/2006/relationships/extended-properties" Target="/docProps/app.xml" Id="rId2" /><Relationship Type="http://schemas.openxmlformats.org/package/2006/relationships/metadata/core-properties" Target="/docProps/core.xml" Id="R1e0ba99fe1304d7c" /><Relationship Type="http://schemas.openxmlformats.org/officeDocument/2006/relationships/custom-properties" Target="/docProps/custom.xml" Id="R2b0ed0e57ce54669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1" /><Relationship Type="http://schemas.openxmlformats.org/officeDocument/2006/relationships/viewProps" Target="/ppt/viewProps.xml" Id="rId2" /><Relationship Type="http://schemas.openxmlformats.org/officeDocument/2006/relationships/theme" Target="/ppt/theme/theme1.xml" Id="rId3" /><Relationship Type="http://schemas.openxmlformats.org/officeDocument/2006/relationships/tableStyles" Target="/ppt/tableStyles.xml" Id="rId4" /><Relationship Type="http://schemas.openxmlformats.org/officeDocument/2006/relationships/slideMaster" Target="/ppt/slideMasters/slideMaster1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slide" Target="/ppt/slides/slide13.xml" Id="rId18" /><Relationship Type="http://schemas.openxmlformats.org/officeDocument/2006/relationships/slide" Target="/ppt/slides/slide14.xml" Id="rId19" /><Relationship Type="http://schemas.openxmlformats.org/officeDocument/2006/relationships/slide" Target="/ppt/slides/slide15.xml" Id="rId20" /><Relationship Type="http://schemas.openxmlformats.org/officeDocument/2006/relationships/slide" Target="/ppt/slides/slide16.xml" Id="rId21" /><Relationship Type="http://schemas.openxmlformats.org/officeDocument/2006/relationships/slide" Target="/ppt/slides/slide17.xml" Id="rId22" /><Relationship Type="http://schemas.openxmlformats.org/officeDocument/2006/relationships/slide" Target="/ppt/slides/slide18.xml" Id="rId23" /><Relationship Type="http://schemas.openxmlformats.org/officeDocument/2006/relationships/slide" Target="/ppt/slides/slide19.xml" Id="rId24" /><Relationship Type="http://schemas.openxmlformats.org/officeDocument/2006/relationships/slide" Target="/ppt/slides/slide20.xml" Id="rId25" /><Relationship Type="http://schemas.openxmlformats.org/officeDocument/2006/relationships/slide" Target="/ppt/slides/slide21.xml" Id="rId26" /><Relationship Type="http://schemas.openxmlformats.org/officeDocument/2006/relationships/slide" Target="/ppt/slides/slide22.xml" Id="rId27" /><Relationship Type="http://schemas.openxmlformats.org/officeDocument/2006/relationships/slide" Target="/ppt/slides/slide23.xml" Id="rId2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4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5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6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7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8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19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0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Layouts/slideLayout23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191420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Id2" /><Relationship Type="http://schemas.openxmlformats.org/officeDocument/2006/relationships/slideLayout" Target="/ppt/slideLayouts/slideLayout2.xml" Id="rId3" /><Relationship Type="http://schemas.openxmlformats.org/officeDocument/2006/relationships/slideLayout" Target="/ppt/slideLayouts/slideLayout3.xml" Id="rId4" /><Relationship Type="http://schemas.openxmlformats.org/officeDocument/2006/relationships/slideLayout" Target="/ppt/slideLayouts/slideLayout4.xml" Id="rId5" /><Relationship Type="http://schemas.openxmlformats.org/officeDocument/2006/relationships/slideLayout" Target="/ppt/slideLayouts/slideLayout5.xml" Id="rId6" /><Relationship Type="http://schemas.openxmlformats.org/officeDocument/2006/relationships/slideLayout" Target="/ppt/slideLayouts/slideLayout6.xml" Id="rId7" /><Relationship Type="http://schemas.openxmlformats.org/officeDocument/2006/relationships/slideLayout" Target="/ppt/slideLayouts/slideLayout7.xml" Id="rId8" /><Relationship Type="http://schemas.openxmlformats.org/officeDocument/2006/relationships/slideLayout" Target="/ppt/slideLayouts/slideLayout8.xml" Id="rId9" /><Relationship Type="http://schemas.openxmlformats.org/officeDocument/2006/relationships/slideLayout" Target="/ppt/slideLayouts/slideLayout9.xml" Id="rId10" /><Relationship Type="http://schemas.openxmlformats.org/officeDocument/2006/relationships/slideLayout" Target="/ppt/slideLayouts/slideLayout10.xml" Id="rId11" /><Relationship Type="http://schemas.openxmlformats.org/officeDocument/2006/relationships/slideLayout" Target="/ppt/slideLayouts/slideLayout11.xml" Id="rId12" /><Relationship Type="http://schemas.openxmlformats.org/officeDocument/2006/relationships/slideLayout" Target="/ppt/slideLayouts/slideLayout12.xml" Id="rId13" /><Relationship Type="http://schemas.openxmlformats.org/officeDocument/2006/relationships/slideLayout" Target="/ppt/slideLayouts/slideLayout13.xml" Id="rId14" /><Relationship Type="http://schemas.openxmlformats.org/officeDocument/2006/relationships/slideLayout" Target="/ppt/slideLayouts/slideLayout14.xml" Id="rId15" /><Relationship Type="http://schemas.openxmlformats.org/officeDocument/2006/relationships/slideLayout" Target="/ppt/slideLayouts/slideLayout15.xml" Id="rId16" /><Relationship Type="http://schemas.openxmlformats.org/officeDocument/2006/relationships/slideLayout" Target="/ppt/slideLayouts/slideLayout16.xml" Id="rId17" /><Relationship Type="http://schemas.openxmlformats.org/officeDocument/2006/relationships/slideLayout" Target="/ppt/slideLayouts/slideLayout17.xml" Id="rId18" /><Relationship Type="http://schemas.openxmlformats.org/officeDocument/2006/relationships/slideLayout" Target="/ppt/slideLayouts/slideLayout18.xml" Id="rId19" /><Relationship Type="http://schemas.openxmlformats.org/officeDocument/2006/relationships/slideLayout" Target="/ppt/slideLayouts/slideLayout19.xml" Id="rId20" /><Relationship Type="http://schemas.openxmlformats.org/officeDocument/2006/relationships/slideLayout" Target="/ppt/slideLayouts/slideLayout20.xml" Id="rId21" /><Relationship Type="http://schemas.openxmlformats.org/officeDocument/2006/relationships/slideLayout" Target="/ppt/slideLayouts/slideLayout21.xml" Id="rId22" /><Relationship Type="http://schemas.openxmlformats.org/officeDocument/2006/relationships/slideLayout" Target="/ppt/slideLayouts/slideLayout22.xml" Id="rId23" /><Relationship Type="http://schemas.openxmlformats.org/officeDocument/2006/relationships/slideLayout" Target="/ppt/slideLayouts/slideLayout23.xml" Id="rId24" 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373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.png" Id="rId2" /><Relationship Type="http://schemas.openxmlformats.org/officeDocument/2006/relationships/image" Target="/ppt/media/image2.png" Id="rId3" /><Relationship Type="http://schemas.openxmlformats.org/officeDocument/2006/relationships/image" Target="/ppt/media/image.jpg" Id="rI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1" /><Relationship Type="http://schemas.openxmlformats.org/officeDocument/2006/relationships/image" Target="/ppt/media/image3.png" Id="rId2" /><Relationship Type="http://schemas.openxmlformats.org/officeDocument/2006/relationships/image" Target="/ppt/media/image2.jpg" Id="rI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Id1" /><Relationship Type="http://schemas.openxmlformats.org/officeDocument/2006/relationships/image" Target="/ppt/media/image4.png" Id="rId2" /><Relationship Type="http://schemas.openxmlformats.org/officeDocument/2006/relationships/image" Target="/ppt/media/image3.jpg" Id="rI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Id1" /><Relationship Type="http://schemas.openxmlformats.org/officeDocument/2006/relationships/image" Target="/ppt/media/image5.png" Id="rId2" /><Relationship Type="http://schemas.openxmlformats.org/officeDocument/2006/relationships/image" Target="/ppt/media/image4.jpg" Id="rI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Relationship Type="http://schemas.openxmlformats.org/officeDocument/2006/relationships/image" Target="/ppt/media/image6.png" Id="rId2" /><Relationship Type="http://schemas.openxmlformats.org/officeDocument/2006/relationships/image" Target="/ppt/media/image7.png" Id="rId3" /><Relationship Type="http://schemas.openxmlformats.org/officeDocument/2006/relationships/image" Target="/ppt/media/image8.png" Id="rId4" /><Relationship Type="http://schemas.openxmlformats.org/officeDocument/2006/relationships/image" Target="/ppt/media/image9.png" Id="rId5" /><Relationship Type="http://schemas.openxmlformats.org/officeDocument/2006/relationships/image" Target="/ppt/media/image5.jpg" Id="rI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image" Target="/ppt/media/image6.jpg" Id="rI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0.png" Id="rId2" /><Relationship Type="http://schemas.openxmlformats.org/officeDocument/2006/relationships/image" Target="/ppt/media/image11.png" Id="rId3" /><Relationship Type="http://schemas.openxmlformats.org/officeDocument/2006/relationships/image" Target="/ppt/media/image7.jpg" Id="rI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1" /><Relationship Type="http://schemas.openxmlformats.org/officeDocument/2006/relationships/image" Target="/ppt/media/image12.png" Id="rId2" /><Relationship Type="http://schemas.openxmlformats.org/officeDocument/2006/relationships/image" Target="/ppt/media/image8.jpg" Id="rI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Id1" /><Relationship Type="http://schemas.openxmlformats.org/officeDocument/2006/relationships/image" Target="/ppt/media/image9.jpg" Id="rI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Id1" /><Relationship Type="http://schemas.openxmlformats.org/officeDocument/2006/relationships/image" Target="/ppt/media/image13.png" Id="rId2" /><Relationship Type="http://schemas.openxmlformats.org/officeDocument/2006/relationships/image" Target="/ppt/media/image10.jpg" Id="rI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Id1" /><Relationship Type="http://schemas.openxmlformats.org/officeDocument/2006/relationships/image" Target="/ppt/media/image11.jpg" Id="rI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Id1" /><Relationship Type="http://schemas.openxmlformats.org/officeDocument/2006/relationships/image" Target="/ppt/media/image12.jpg" Id="rI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Id1" /><Relationship Type="http://schemas.openxmlformats.org/officeDocument/2006/relationships/image" Target="/ppt/media/image13.jpg" Id="rI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Id1" /><Relationship Type="http://schemas.openxmlformats.org/officeDocument/2006/relationships/image" Target="/ppt/media/image14.png" Id="rId2" /><Relationship Type="http://schemas.openxmlformats.org/officeDocument/2006/relationships/image" Target="/ppt/media/image15.png" Id="rId3" /><Relationship Type="http://schemas.openxmlformats.org/officeDocument/2006/relationships/image" Target="/ppt/media/image14.jpg" Id="rI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Id1" /><Relationship Type="http://schemas.openxmlformats.org/officeDocument/2006/relationships/image" Target="/ppt/media/image15.jpg" Id="rI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Id1" /><Relationship Type="http://schemas.openxmlformats.org/officeDocument/2006/relationships/image" Target="/ppt/media/image16.png" Id="rId2" /><Relationship Type="http://schemas.openxmlformats.org/officeDocument/2006/relationships/image" Target="/ppt/media/image17.png" Id="rId3" /><Relationship Type="http://schemas.openxmlformats.org/officeDocument/2006/relationships/image" Target="/ppt/media/image16.jpg" Id="rId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Id1" /><Relationship Type="http://schemas.openxmlformats.org/officeDocument/2006/relationships/image" Target="/ppt/media/image18.png" Id="rId2" /><Relationship Type="http://schemas.openxmlformats.org/officeDocument/2006/relationships/image" Target="/ppt/media/image17.jpg" Id="rI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Id1" /><Relationship Type="http://schemas.openxmlformats.org/officeDocument/2006/relationships/image" Target="/ppt/media/image18.jpg" Id="rId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Id1" /><Relationship Type="http://schemas.openxmlformats.org/officeDocument/2006/relationships/image" Target="/ppt/media/image19.jpg" Id="rI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Id1" /><Relationship Type="http://schemas.openxmlformats.org/officeDocument/2006/relationships/image" Target="/ppt/media/image20.jpg" Id="rId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Id1" /><Relationship Type="http://schemas.openxmlformats.org/officeDocument/2006/relationships/image" Target="/ppt/media/image19.png" Id="rId2" /><Relationship Type="http://schemas.openxmlformats.org/officeDocument/2006/relationships/image" Target="/ppt/media/image21.jpg" Id="rId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Id1" /><Relationship Type="http://schemas.openxmlformats.org/officeDocument/2006/relationships/image" Target="/ppt/media/image20.png" Id="rId2" /><Relationship Type="http://schemas.openxmlformats.org/officeDocument/2006/relationships/image" Target="/ppt/media/image21.png" Id="rId3" /><Relationship Type="http://schemas.openxmlformats.org/officeDocument/2006/relationships/image" Target="/ppt/media/image22.png" Id="rId4" /><Relationship Type="http://schemas.openxmlformats.org/officeDocument/2006/relationships/image" Target="/ppt/media/image22.jpg" Id="rId5" /><Relationship Type="http://schemas.openxmlformats.org/officeDocument/2006/relationships/image" Target="/ppt/media/image23.jpg" Id="rId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Id1" /><Relationship Type="http://schemas.openxmlformats.org/officeDocument/2006/relationships/image" Target="/ppt/media/image24.jpg" Id="rId2" 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1"/>
          <p:cNvSpPr txBox="1"/>
          <p:nvPr/>
        </p:nvSpPr>
        <p:spPr>
          <a:xfrm>
            <a:off x="469655" y="95107"/>
            <a:ext cx="6872817" cy="960970"/>
          </a:xfrm>
          <a:prstGeom prst="rect">
            <a:avLst/>
          </a:prstGeom>
          <a:noFill/>
        </p:spPr>
        <p:txBody>
          <a:bodyPr anchor="b"/>
          <a:lstStyle/>
          <a:p>
            <a:pPr marL="0" algn="l">
              <a:lnSpc>
                <a:spcPts val="2600"/>
              </a:lnSpc>
            </a:pPr>
            <a:r>
              <a:rPr lang="zh-CN" altLang="en-US" sz="2400" b="1" i="0" dirty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义务教育信息科技课程资源</a:t>
            </a:r>
          </a:p>
        </p:txBody>
      </p:sp>
      <p:pic>
        <p:nvPicPr>
          <p:cNvPr id="3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079" y="2830103"/>
            <a:ext cx="409575" cy="466725"/>
          </a:xfrm>
          <a:prstGeom prst="rect">
            <a:avLst/>
          </a:prstGeom>
        </p:spPr>
      </p:pic>
      <p:sp>
        <p:nvSpPr>
          <p:cNvPr id="4" name="文本2"/>
          <p:cNvSpPr txBox="1"/>
          <p:nvPr/>
        </p:nvSpPr>
        <p:spPr>
          <a:xfrm>
            <a:off x="285115" y="2960370"/>
            <a:ext cx="11857355" cy="1196975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5800"/>
              </a:lnSpc>
            </a:pPr>
            <a:r>
              <a:rPr lang="zh-CN" altLang="en-US" sz="4800" b="1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5400" b="1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4800" b="1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　互联网发展靠创新</a:t>
            </a:r>
          </a:p>
        </p:txBody>
      </p:sp>
      <p:sp>
        <p:nvSpPr>
          <p:cNvPr id="5" name="文本3"/>
          <p:cNvSpPr txBox="1"/>
          <p:nvPr/>
        </p:nvSpPr>
        <p:spPr>
          <a:xfrm>
            <a:off x="285115" y="1922145"/>
            <a:ext cx="11856720" cy="774065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3800"/>
              </a:lnSpc>
            </a:pPr>
            <a:r>
              <a:rPr lang="zh-CN" altLang="en-US" sz="3200" b="1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第一单元　探寻互联网新世界</a:t>
            </a:r>
          </a:p>
        </p:txBody>
      </p:sp>
      <p:pic>
        <p:nvPicPr>
          <p:cNvPr id="6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90" y="328295"/>
            <a:ext cx="4010025" cy="593090"/>
          </a:xfrm>
          <a:prstGeom prst="rect">
            <a:avLst/>
          </a:prstGeom>
        </p:spPr>
      </p:pic>
      <p:sp>
        <p:nvSpPr>
          <p:cNvPr id="7" name="文本4"/>
          <p:cNvSpPr txBox="1"/>
          <p:nvPr/>
        </p:nvSpPr>
        <p:spPr>
          <a:xfrm>
            <a:off x="440690" y="483870"/>
            <a:ext cx="5294630" cy="697865"/>
          </a:xfrm>
          <a:prstGeom prst="rect">
            <a:avLst/>
          </a:prstGeom>
          <a:noFill/>
        </p:spPr>
        <p:txBody>
          <a:bodyPr anchor="t"/>
          <a:lstStyle/>
          <a:p>
            <a:pPr marL="0" algn="ctr">
              <a:lnSpc>
                <a:spcPts val="2600"/>
              </a:lnSpc>
            </a:pPr>
            <a:r>
              <a:rPr lang="zh-CN" altLang="en-US" sz="2400" b="1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义务教育信息科技课程资源  七年级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7816215" y="109855"/>
            <a:ext cx="4133850" cy="680085"/>
            <a:chOff x="0" y="0"/>
            <a:chExt cx="4133850" cy="680085"/>
          </a:xfrm>
        </p:grpSpPr>
        <p:sp>
          <p:nvSpPr>
            <p:cNvPr id="3" name="形状2"/>
            <p:cNvSpPr txBox="1"/>
            <p:nvPr/>
          </p:nvSpPr>
          <p:spPr>
            <a:xfrm>
              <a:off x="3810" y="49530"/>
              <a:ext cx="4130040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6"/>
            <p:cNvSpPr txBox="1"/>
            <p:nvPr/>
          </p:nvSpPr>
          <p:spPr>
            <a:xfrm>
              <a:off x="0" y="0"/>
              <a:ext cx="4130040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　学习目标</a:t>
            </a:r>
          </a:p>
        </p:txBody>
      </p:sp>
      <p:grpSp>
        <p:nvGrpSpPr>
          <p:cNvPr id="6" name="组合2"/>
          <p:cNvGrpSpPr/>
          <p:nvPr/>
        </p:nvGrpSpPr>
        <p:grpSpPr>
          <a:xfrm>
            <a:off x="2820151" y="1819183"/>
            <a:ext cx="613410" cy="557843"/>
            <a:chOff x="0" y="0"/>
            <a:chExt cx="613410" cy="557843"/>
          </a:xfrm>
        </p:grpSpPr>
        <p:sp>
          <p:nvSpPr>
            <p:cNvPr id="7" name="形状3"/>
            <p:cNvSpPr txBox="1"/>
            <p:nvPr/>
          </p:nvSpPr>
          <p:spPr>
            <a:xfrm>
              <a:off x="3810" y="99851"/>
              <a:ext cx="609600" cy="457200"/>
            </a:xfrm>
            <a:prstGeom prst="rect"/>
            <a:solidFill>
              <a:srgbClr val="573A7A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  <a:effectLst>
              <a:outerShdw blurRad="0" dist="63500" dir="10800000" rotWithShape="0">
                <a:srgbClr val="65448E">
                  <a:alpha val="100000"/>
                </a:srgbClr>
              </a:outerShdw>
            </a:effectLst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7"/>
            <p:cNvSpPr txBox="1"/>
            <p:nvPr/>
          </p:nvSpPr>
          <p:spPr>
            <a:xfrm>
              <a:off x="0" y="0"/>
              <a:ext cx="609600" cy="557843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</a:rPr>
                <a:t>1</a:t>
              </a:r>
            </a:p>
          </p:txBody>
        </p:sp>
      </p:grpSp>
      <p:sp>
        <p:nvSpPr>
          <p:cNvPr id="9" name="形状1"/>
          <p:cNvSpPr txBox="1"/>
          <p:nvPr/>
        </p:nvSpPr>
        <p:spPr>
          <a:xfrm>
            <a:off x="2176718" y="1582887"/>
            <a:ext cx="12700" cy="3960000"/>
          </a:xfrm>
          <a:prstGeom prst="line"/>
          <a:solidFill>
            <a:srgbClr val="FFFFFF">
              <a:alpha val="0"/>
            </a:srgbClr>
          </a:solidFill>
          <a:ln w="12700">
            <a:solidFill>
              <a:srgbClr val="3C6EDE">
                <a:alpha val="100000"/>
              </a:srgbClr>
            </a:solidFill>
            <a:prstDash val="solid"/>
            <a:headEnd type="oval" w="med" len="med"/>
            <a:tailEnd type="oval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0" name="文本2"/>
          <p:cNvSpPr txBox="1"/>
          <p:nvPr/>
        </p:nvSpPr>
        <p:spPr>
          <a:xfrm>
            <a:off x="3786671" y="1670660"/>
            <a:ext cx="7155649" cy="102044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了解互联网的发展历史，了解协议标准化、网状结构对网络发展的重大影响。</a:t>
            </a:r>
          </a:p>
        </p:txBody>
      </p:sp>
      <p:pic>
        <p:nvPicPr>
          <p:cNvPr id="11" name="文本3"/>
          <p:cNvPicPr>
            <a:picLocks noChangeAspect="1"/>
          </p:cNvPicPr>
          <p:nvPr/>
        </p:nvPicPr>
        <p:blipFill>
          <a:fillRect/>
          <a:blip r:embed="rId2"/>
          <a:stretch/>
        </p:blipFill>
        <p:spPr>
          <a:xfrm>
            <a:off x="1330645" y="1856536"/>
            <a:ext cx="1021497" cy="2424991"/>
          </a:xfrm>
          <a:prstGeom prst="rect">
            <a:avLst/>
          </a:prstGeom>
        </p:spPr>
      </p:pic>
      <p:sp>
        <p:nvSpPr>
          <p:cNvPr id="12" name="文本4"/>
          <p:cNvSpPr txBox="1"/>
          <p:nvPr/>
        </p:nvSpPr>
        <p:spPr>
          <a:xfrm>
            <a:off x="3813175" y="2962385"/>
            <a:ext cx="8121650" cy="65087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8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了解我国当前的互联网建设与创新成就。</a:t>
            </a:r>
          </a:p>
        </p:txBody>
      </p:sp>
      <p:grpSp>
        <p:nvGrpSpPr>
          <p:cNvPr id="13" name="组合3"/>
          <p:cNvGrpSpPr/>
          <p:nvPr/>
        </p:nvGrpSpPr>
        <p:grpSpPr>
          <a:xfrm>
            <a:off x="2820151" y="2893603"/>
            <a:ext cx="613410" cy="557843"/>
            <a:chOff x="0" y="0"/>
            <a:chExt cx="613410" cy="557843"/>
          </a:xfrm>
        </p:grpSpPr>
        <p:sp>
          <p:nvSpPr>
            <p:cNvPr id="14" name="形状4"/>
            <p:cNvSpPr txBox="1"/>
            <p:nvPr/>
          </p:nvSpPr>
          <p:spPr>
            <a:xfrm>
              <a:off x="3810" y="99851"/>
              <a:ext cx="609600" cy="457200"/>
            </a:xfrm>
            <a:prstGeom prst="rect"/>
            <a:solidFill>
              <a:srgbClr val="284E75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  <a:effectLst>
              <a:outerShdw blurRad="0" dist="63500" dir="10800000" rotWithShape="0">
                <a:srgbClr val="2E5B88">
                  <a:alpha val="100000"/>
                </a:srgbClr>
              </a:outerShdw>
            </a:effectLst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5" name="文本8"/>
            <p:cNvSpPr txBox="1"/>
            <p:nvPr/>
          </p:nvSpPr>
          <p:spPr>
            <a:xfrm>
              <a:off x="0" y="0"/>
              <a:ext cx="609600" cy="557843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</a:rPr>
                <a:t>2</a:t>
              </a:r>
            </a:p>
          </p:txBody>
        </p:sp>
      </p:grpSp>
      <p:grpSp>
        <p:nvGrpSpPr>
          <p:cNvPr id="16" name="组合4"/>
          <p:cNvGrpSpPr/>
          <p:nvPr/>
        </p:nvGrpSpPr>
        <p:grpSpPr>
          <a:xfrm>
            <a:off x="2820151" y="3968023"/>
            <a:ext cx="613410" cy="557843"/>
            <a:chOff x="0" y="0"/>
            <a:chExt cx="613410" cy="557843"/>
          </a:xfrm>
        </p:grpSpPr>
        <p:sp>
          <p:nvSpPr>
            <p:cNvPr id="17" name="形状5"/>
            <p:cNvSpPr txBox="1"/>
            <p:nvPr/>
          </p:nvSpPr>
          <p:spPr>
            <a:xfrm>
              <a:off x="3810" y="99851"/>
              <a:ext cx="609600" cy="457200"/>
            </a:xfrm>
            <a:prstGeom prst="rect"/>
            <a:solidFill>
              <a:srgbClr val="573A7A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  <a:effectLst>
              <a:outerShdw blurRad="0" dist="63500" dir="10800000" rotWithShape="0">
                <a:srgbClr val="65448E">
                  <a:alpha val="100000"/>
                </a:srgbClr>
              </a:outerShdw>
            </a:effectLst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8" name="文本9"/>
            <p:cNvSpPr txBox="1"/>
            <p:nvPr/>
          </p:nvSpPr>
          <p:spPr>
            <a:xfrm>
              <a:off x="0" y="0"/>
              <a:ext cx="609600" cy="557843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</a:rPr>
                <a:t>3</a:t>
              </a:r>
            </a:p>
          </p:txBody>
        </p:sp>
      </p:grpSp>
      <p:sp>
        <p:nvSpPr>
          <p:cNvPr id="19" name="文本5"/>
          <p:cNvSpPr txBox="1"/>
          <p:nvPr/>
        </p:nvSpPr>
        <p:spPr>
          <a:xfrm>
            <a:off x="3813175" y="3994528"/>
            <a:ext cx="8121650" cy="667169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4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了解网络发展过程中创新的重要性。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7816215" y="109855"/>
            <a:ext cx="4133850" cy="680085"/>
            <a:chOff x="0" y="0"/>
            <a:chExt cx="4133850" cy="680085"/>
          </a:xfrm>
        </p:grpSpPr>
        <p:sp>
          <p:nvSpPr>
            <p:cNvPr id="3" name="形状3"/>
            <p:cNvSpPr txBox="1"/>
            <p:nvPr/>
          </p:nvSpPr>
          <p:spPr>
            <a:xfrm>
              <a:off x="3810" y="49530"/>
              <a:ext cx="4130040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3"/>
            <p:cNvSpPr txBox="1"/>
            <p:nvPr/>
          </p:nvSpPr>
          <p:spPr>
            <a:xfrm>
              <a:off x="0" y="0"/>
              <a:ext cx="4130040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课堂导入</a:t>
            </a:r>
          </a:p>
        </p:txBody>
      </p:sp>
      <p:sp>
        <p:nvSpPr>
          <p:cNvPr id="6" name="形状1"/>
          <p:cNvSpPr txBox="1"/>
          <p:nvPr/>
        </p:nvSpPr>
        <p:spPr>
          <a:xfrm flipH="1">
            <a:off x="1400510" y="1827899"/>
            <a:ext cx="4231363" cy="12700"/>
          </a:xfrm>
          <a:prstGeom prst="line"/>
          <a:solidFill>
            <a:srgbClr val="FFFFFF">
              <a:alpha val="0"/>
            </a:srgbClr>
          </a:solidFill>
          <a:ln w="12700">
            <a:solidFill>
              <a:srgbClr val="3C6EDE">
                <a:alpha val="100000"/>
              </a:srgbClr>
            </a:solidFill>
            <a:prstDash val="solid"/>
            <a:headEnd type="oval" w="med" len="med"/>
            <a:tailEnd type="oval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7" name="文本2"/>
          <p:cNvSpPr txBox="1"/>
          <p:nvPr/>
        </p:nvSpPr>
        <p:spPr>
          <a:xfrm>
            <a:off x="1438262" y="1192992"/>
            <a:ext cx="4996826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800" b="1" i="0" dirty="0">
                <a:solidFill>
                  <a:srgbClr val="0070C0">
                    <a:alpha val="100000"/>
                  </a:srgbClr>
                </a:solidFill>
                <a:latin typeface="黑体"/>
                <a:ea typeface="黑体"/>
              </a:rPr>
              <a:t>问题情境</a:t>
            </a:r>
          </a:p>
        </p:txBody>
      </p:sp>
      <p:grpSp>
        <p:nvGrpSpPr>
          <p:cNvPr id="8" name="组合2"/>
          <p:cNvGrpSpPr/>
          <p:nvPr/>
        </p:nvGrpSpPr>
        <p:grpSpPr>
          <a:xfrm>
            <a:off x="7761665" y="3912919"/>
            <a:ext cx="2136716" cy="1303185"/>
            <a:chOff x="0" y="0"/>
            <a:chExt cx="2136716" cy="1303185"/>
          </a:xfrm>
        </p:grpSpPr>
        <p:sp>
          <p:nvSpPr>
            <p:cNvPr id="9" name="形状4"/>
            <p:cNvSpPr txBox="1"/>
            <p:nvPr/>
          </p:nvSpPr>
          <p:spPr>
            <a:xfrm>
              <a:off x="0" y="0"/>
              <a:ext cx="2136716" cy="1303185"/>
            </a:xfrm>
            <a:prstGeom prst="wedgeRoundRectCallout"/>
            <a:solidFill>
              <a:srgbClr val="D8E2F3">
                <a:alpha val="100000"/>
              </a:srgbClr>
            </a:solidFill>
            <a:ln w="12700">
              <a:solidFill>
                <a:srgbClr val="5B9BD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文本4"/>
            <p:cNvSpPr txBox="1"/>
            <p:nvPr/>
          </p:nvSpPr>
          <p:spPr>
            <a:xfrm>
              <a:off x="59806" y="14086"/>
              <a:ext cx="2009484" cy="1175953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400"/>
                </a:lnSpc>
              </a:pP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互联网如何诞生？又为何发展如此之快？</a:t>
              </a:r>
            </a:p>
          </p:txBody>
        </p:sp>
      </p:grpSp>
      <p:grpSp>
        <p:nvGrpSpPr>
          <p:cNvPr id="11" name="组合3"/>
          <p:cNvGrpSpPr/>
          <p:nvPr/>
        </p:nvGrpSpPr>
        <p:grpSpPr>
          <a:xfrm>
            <a:off x="2017121" y="2588702"/>
            <a:ext cx="2998140" cy="1165674"/>
            <a:chOff x="0" y="0"/>
            <a:chExt cx="2998140" cy="1165674"/>
          </a:xfrm>
        </p:grpSpPr>
        <p:sp>
          <p:nvSpPr>
            <p:cNvPr id="12" name="形状5"/>
            <p:cNvSpPr txBox="1"/>
            <p:nvPr/>
          </p:nvSpPr>
          <p:spPr>
            <a:xfrm>
              <a:off x="0" y="42249"/>
              <a:ext cx="2998140" cy="1123425"/>
            </a:xfrm>
            <a:prstGeom prst="wedgeRoundRectCallout"/>
            <a:solidFill>
              <a:srgbClr val="D8E2F3">
                <a:alpha val="100000"/>
              </a:srgbClr>
            </a:solidFill>
            <a:ln w="12700">
              <a:solidFill>
                <a:srgbClr val="5B9BD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文本5"/>
            <p:cNvSpPr txBox="1"/>
            <p:nvPr/>
          </p:nvSpPr>
          <p:spPr>
            <a:xfrm>
              <a:off x="51031" y="0"/>
              <a:ext cx="2888458" cy="1108862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400"/>
                </a:lnSpc>
              </a:pP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我们平时说的“上网”与“互联网”之间的关系是什么？</a:t>
              </a:r>
            </a:p>
          </p:txBody>
        </p:sp>
      </p:grpSp>
      <p:pic>
        <p:nvPicPr>
          <p:cNvPr id="14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2907" y="2630951"/>
            <a:ext cx="1894641" cy="2905969"/>
          </a:xfrm>
          <a:prstGeom prst="rect">
            <a:avLst/>
          </a:prstGeom>
        </p:spPr>
      </p:pic>
      <p:sp>
        <p:nvSpPr>
          <p:cNvPr id="15" name="形状2"/>
          <p:cNvSpPr txBox="1"/>
          <p:nvPr/>
        </p:nvSpPr>
        <p:spPr>
          <a:xfrm>
            <a:off x="9494815" y="3623272"/>
            <a:ext cx="525637" cy="525637"/>
          </a:xfrm>
          <a:custGeom>
            <a:avLst/>
            <a:gdLst>
              <a:gd name="connsiteX0" fmla="*/ 262819 w 525637"/>
              <a:gd name="connsiteY0" fmla="*/ 0 h 525637"/>
              <a:gd name="connsiteX1" fmla="*/ 337270 w 525637"/>
              <a:gd name="connsiteY1" fmla="*/ 182818 h 525637"/>
              <a:gd name="connsiteX2" fmla="*/ 525637 w 525637"/>
              <a:gd name="connsiteY2" fmla="*/ 200776 h 525637"/>
              <a:gd name="connsiteX3" fmla="*/ 383284 w 525637"/>
              <a:gd name="connsiteY3" fmla="*/ 331721 h 525637"/>
              <a:gd name="connsiteX4" fmla="*/ 425249 w 525637"/>
              <a:gd name="connsiteY4" fmla="*/ 525637 h 525637"/>
              <a:gd name="connsiteX5" fmla="*/ 262819 w 525637"/>
              <a:gd name="connsiteY5" fmla="*/ 423748 h 525637"/>
              <a:gd name="connsiteX6" fmla="*/ 100388 w 525637"/>
              <a:gd name="connsiteY6" fmla="*/ 525637 h 525637"/>
              <a:gd name="connsiteX7" fmla="*/ 142353 w 525637"/>
              <a:gd name="connsiteY7" fmla="*/ 331721 h 525637"/>
              <a:gd name="connsiteX8" fmla="*/ 0 w 525637"/>
              <a:gd name="connsiteY8" fmla="*/ 200776 h 525637"/>
              <a:gd name="connsiteX9" fmla="*/ 188367 w 525637"/>
              <a:gd name="connsiteY9" fmla="*/ 182818 h 525637"/>
              <a:gd name="connsiteX10" fmla="*/ 262819 w 525637"/>
              <a:gd name="connsiteY10" fmla="*/ 0 h 52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5637" h="525637">
                <a:moveTo>
                  <a:pt x="262819" y="0"/>
                </a:moveTo>
                <a:lnTo>
                  <a:pt x="337270" y="182818"/>
                </a:lnTo>
                <a:lnTo>
                  <a:pt x="525637" y="200776"/>
                </a:lnTo>
                <a:lnTo>
                  <a:pt x="383284" y="331721"/>
                </a:lnTo>
                <a:lnTo>
                  <a:pt x="425249" y="525637"/>
                </a:lnTo>
                <a:lnTo>
                  <a:pt x="262819" y="423748"/>
                </a:lnTo>
                <a:lnTo>
                  <a:pt x="100388" y="525637"/>
                </a:lnTo>
                <a:lnTo>
                  <a:pt x="142353" y="331721"/>
                </a:lnTo>
                <a:lnTo>
                  <a:pt x="0" y="200776"/>
                </a:lnTo>
                <a:lnTo>
                  <a:pt x="188367" y="182818"/>
                </a:lnTo>
                <a:lnTo>
                  <a:pt x="262819" y="0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8" grpId="0" animBg="1"/>
      <p:bldP spid="11" grpId="0" animBg="1"/>
    </p:bldLst>
  </p:timing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8384540" y="109855"/>
            <a:ext cx="3565525" cy="680085"/>
            <a:chOff x="0" y="0"/>
            <a:chExt cx="3565525" cy="680085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356171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3"/>
            <p:cNvSpPr txBox="1"/>
            <p:nvPr/>
          </p:nvSpPr>
          <p:spPr>
            <a:xfrm>
              <a:off x="0" y="0"/>
              <a:ext cx="356171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学习内容</a:t>
            </a:r>
          </a:p>
        </p:txBody>
      </p:sp>
      <p:grpSp>
        <p:nvGrpSpPr>
          <p:cNvPr id="6" name="组合2"/>
          <p:cNvGrpSpPr/>
          <p:nvPr/>
        </p:nvGrpSpPr>
        <p:grpSpPr>
          <a:xfrm>
            <a:off x="1035426" y="1869440"/>
            <a:ext cx="10158612" cy="3279140"/>
            <a:chOff x="0" y="0"/>
            <a:chExt cx="10158612" cy="3279140"/>
          </a:xfrm>
        </p:grpSpPr>
        <p:sp>
          <p:nvSpPr>
            <p:cNvPr id="7" name="形状10"/>
            <p:cNvSpPr txBox="1"/>
            <p:nvPr/>
          </p:nvSpPr>
          <p:spPr>
            <a:xfrm>
              <a:off x="4298433" y="152270"/>
              <a:ext cx="5673489" cy="474345"/>
            </a:xfrm>
            <a:prstGeom prst="roundRect"/>
            <a:solidFill>
              <a:srgbClr val="01431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形状11"/>
            <p:cNvSpPr txBox="1"/>
            <p:nvPr/>
          </p:nvSpPr>
          <p:spPr>
            <a:xfrm rot="18614181">
              <a:off x="4104123" y="112899"/>
              <a:ext cx="539999" cy="540001"/>
            </a:xfrm>
            <a:prstGeom prst="rect"/>
            <a:solidFill>
              <a:srgbClr val="01621F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9" name="文本5"/>
            <p:cNvSpPr txBox="1"/>
            <p:nvPr/>
          </p:nvSpPr>
          <p:spPr>
            <a:xfrm>
              <a:off x="4117876" y="65505"/>
              <a:ext cx="6040735" cy="71372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3300"/>
                </a:lnSpc>
              </a:pPr>
              <a:r>
                <a:rPr lang="zh-CN" altLang="en-US" sz="28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一  互联网的创新发展</a:t>
              </a:r>
            </a:p>
          </p:txBody>
        </p:sp>
        <p:sp>
          <p:nvSpPr>
            <p:cNvPr id="10" name="形状12"/>
            <p:cNvSpPr txBox="1"/>
            <p:nvPr/>
          </p:nvSpPr>
          <p:spPr>
            <a:xfrm>
              <a:off x="4104122" y="2579372"/>
              <a:ext cx="9525" cy="9525"/>
            </a:xfrm>
            <a:prstGeom prst="rect"/>
            <a:solidFill>
              <a:srgbClr val="FFFFFF">
                <a:alpha val="0"/>
              </a:srgbClr>
            </a:solidFill>
            <a:ln w="9525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1" name="形状13"/>
            <p:cNvSpPr txBox="1"/>
            <p:nvPr/>
          </p:nvSpPr>
          <p:spPr>
            <a:xfrm>
              <a:off x="4298431" y="2618743"/>
              <a:ext cx="5673491" cy="474345"/>
            </a:xfrm>
            <a:prstGeom prst="roundRect"/>
            <a:solidFill>
              <a:srgbClr val="71100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2" name="形状14"/>
            <p:cNvSpPr txBox="1"/>
            <p:nvPr/>
          </p:nvSpPr>
          <p:spPr>
            <a:xfrm rot="18614181">
              <a:off x="4104122" y="2579372"/>
              <a:ext cx="539999" cy="540001"/>
            </a:xfrm>
            <a:prstGeom prst="rect"/>
            <a:solidFill>
              <a:srgbClr val="AF000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形状15"/>
            <p:cNvSpPr txBox="1"/>
            <p:nvPr/>
          </p:nvSpPr>
          <p:spPr>
            <a:xfrm>
              <a:off x="4298432" y="1408940"/>
              <a:ext cx="5673490" cy="474345"/>
            </a:xfrm>
            <a:prstGeom prst="roundRect"/>
            <a:solidFill>
              <a:srgbClr val="014E6A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4" name="形状16"/>
            <p:cNvSpPr txBox="1"/>
            <p:nvPr/>
          </p:nvSpPr>
          <p:spPr>
            <a:xfrm rot="18614181">
              <a:off x="4104122" y="1369569"/>
              <a:ext cx="539999" cy="540001"/>
            </a:xfrm>
            <a:prstGeom prst="rect"/>
            <a:solidFill>
              <a:srgbClr val="1784A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5" name="文本6"/>
            <p:cNvSpPr txBox="1"/>
            <p:nvPr/>
          </p:nvSpPr>
          <p:spPr>
            <a:xfrm>
              <a:off x="4098422" y="1310150"/>
              <a:ext cx="6060190" cy="713720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3300"/>
                </a:lnSpc>
              </a:pPr>
              <a:r>
                <a:rPr lang="zh-CN" altLang="en-US" sz="28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二  互联网在我国的发展过程</a:t>
              </a:r>
            </a:p>
          </p:txBody>
        </p:sp>
        <p:sp>
          <p:nvSpPr>
            <p:cNvPr id="16" name="形状2"/>
            <p:cNvSpPr txBox="1"/>
            <p:nvPr/>
          </p:nvSpPr>
          <p:spPr>
            <a:xfrm>
              <a:off x="0" y="0"/>
              <a:ext cx="3279140" cy="3279140"/>
            </a:xfrm>
            <a:prstGeom prst="ellipse"/>
            <a:solidFill>
              <a:srgbClr val="FFFFFF">
                <a:alpha val="0"/>
              </a:srgbClr>
            </a:solidFill>
            <a:ln w="12700">
              <a:solidFill>
                <a:srgbClr val="376FFF">
                  <a:alpha val="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7" name="形状3"/>
            <p:cNvSpPr txBox="1"/>
            <p:nvPr/>
          </p:nvSpPr>
          <p:spPr>
            <a:xfrm>
              <a:off x="2995930" y="2459355"/>
              <a:ext cx="81280" cy="81280"/>
            </a:xfrm>
            <a:prstGeom prst="ellipse"/>
            <a:solidFill>
              <a:srgbClr val="0080C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8" name="形状4"/>
            <p:cNvSpPr txBox="1"/>
            <p:nvPr/>
          </p:nvSpPr>
          <p:spPr>
            <a:xfrm>
              <a:off x="2995930" y="748665"/>
              <a:ext cx="81280" cy="81280"/>
            </a:xfrm>
            <a:prstGeom prst="ellipse"/>
            <a:solidFill>
              <a:srgbClr val="0080C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9" name="形状5"/>
            <p:cNvSpPr txBox="1"/>
            <p:nvPr/>
          </p:nvSpPr>
          <p:spPr>
            <a:xfrm>
              <a:off x="149225" y="149225"/>
              <a:ext cx="2980690" cy="2980690"/>
            </a:xfrm>
            <a:prstGeom prst="ellipse"/>
            <a:solidFill>
              <a:srgbClr val="FFFBEA">
                <a:alpha val="9803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0" name="形状6"/>
            <p:cNvSpPr txBox="1"/>
            <p:nvPr/>
          </p:nvSpPr>
          <p:spPr>
            <a:xfrm>
              <a:off x="292735" y="292735"/>
              <a:ext cx="2693035" cy="2693035"/>
            </a:xfrm>
            <a:prstGeom prst="ellipse"/>
            <a:solidFill>
              <a:srgbClr val="D3E8C6">
                <a:alpha val="14901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1" name="形状7"/>
            <p:cNvSpPr txBox="1"/>
            <p:nvPr/>
          </p:nvSpPr>
          <p:spPr>
            <a:xfrm>
              <a:off x="455930" y="455930"/>
              <a:ext cx="2367280" cy="2367280"/>
            </a:xfrm>
            <a:prstGeom prst="ellipse"/>
            <a:solidFill>
              <a:srgbClr val="22AA83">
                <a:alpha val="2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2" name="形状8"/>
            <p:cNvSpPr txBox="1"/>
            <p:nvPr/>
          </p:nvSpPr>
          <p:spPr>
            <a:xfrm>
              <a:off x="615315" y="615315"/>
              <a:ext cx="2047875" cy="2047875"/>
            </a:xfrm>
            <a:prstGeom prst="ellipse"/>
            <a:solidFill>
              <a:srgbClr val="22AA8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3" name="形状9"/>
            <p:cNvSpPr txBox="1"/>
            <p:nvPr/>
          </p:nvSpPr>
          <p:spPr>
            <a:xfrm>
              <a:off x="3241675" y="1598930"/>
              <a:ext cx="81280" cy="81280"/>
            </a:xfrm>
            <a:prstGeom prst="ellipse"/>
            <a:solidFill>
              <a:srgbClr val="0080C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pic>
          <p:nvPicPr>
            <p:cNvPr id="24" name="图片1">
              <a:extLst>
                <a:ext uri="{FF2B5EF4-FFF2-40B4-BE49-F238E27FC236}">
                  <a16:creationId xmlns:a16="http://schemas.microsoft.com/office/drawing/2014/main" id="{69ED34C6-1862-8A8A-03F9-2D1EFC8C3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4436" y="874395"/>
              <a:ext cx="856615" cy="856615"/>
            </a:xfrm>
            <a:prstGeom prst="rect">
              <a:avLst/>
            </a:prstGeom>
          </p:spPr>
        </p:pic>
        <p:sp>
          <p:nvSpPr>
            <p:cNvPr id="25" name="文本4"/>
            <p:cNvSpPr txBox="1"/>
            <p:nvPr/>
          </p:nvSpPr>
          <p:spPr>
            <a:xfrm>
              <a:off x="934960" y="1801429"/>
              <a:ext cx="1560731" cy="621387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2600"/>
                </a:lnSpc>
              </a:pPr>
              <a:r>
                <a:rPr lang="zh-CN" altLang="en-US" sz="2199" b="1" i="0" dirty="0">
                  <a:solidFill>
                    <a:srgbClr val="FFFFFF">
                      <a:alpha val="100000"/>
                    </a:srgbClr>
                  </a:solidFill>
                  <a:latin typeface="黑体"/>
                  <a:ea typeface="黑体"/>
                </a:rPr>
                <a:t>学习内容</a:t>
              </a:r>
            </a:p>
          </p:txBody>
        </p:sp>
      </p:grpSp>
      <p:sp>
        <p:nvSpPr>
          <p:cNvPr id="26" name="文本2"/>
          <p:cNvSpPr txBox="1"/>
          <p:nvPr/>
        </p:nvSpPr>
        <p:spPr>
          <a:xfrm>
            <a:off x="5140331" y="4390480"/>
            <a:ext cx="6053705" cy="71372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300"/>
              </a:lnSpc>
            </a:pPr>
            <a:r>
              <a:rPr lang="zh-CN" altLang="en-US" sz="2800" b="0" i="0" dirty="0">
                <a:solidFill>
                  <a:srgbClr val="FFFFFF">
                    <a:alpha val="100000"/>
                  </a:srgbClr>
                </a:solidFill>
                <a:latin typeface="楷体"/>
                <a:ea typeface="楷体"/>
              </a:rPr>
              <a:t>三  我国的互联网建设与创新成就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8384540" y="109855"/>
            <a:ext cx="3565525" cy="680085"/>
            <a:chOff x="0" y="0"/>
            <a:chExt cx="3565525" cy="680085"/>
          </a:xfrm>
        </p:grpSpPr>
        <p:sp>
          <p:nvSpPr>
            <p:cNvPr id="3" name="形状6"/>
            <p:cNvSpPr txBox="1"/>
            <p:nvPr/>
          </p:nvSpPr>
          <p:spPr>
            <a:xfrm>
              <a:off x="3810" y="49530"/>
              <a:ext cx="356171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4"/>
            <p:cNvSpPr txBox="1"/>
            <p:nvPr/>
          </p:nvSpPr>
          <p:spPr>
            <a:xfrm>
              <a:off x="0" y="0"/>
              <a:ext cx="356171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sp>
        <p:nvSpPr>
          <p:cNvPr id="5" name="形状1"/>
          <p:cNvSpPr txBox="1"/>
          <p:nvPr/>
        </p:nvSpPr>
        <p:spPr>
          <a:xfrm>
            <a:off x="97947" y="2309087"/>
            <a:ext cx="11951970" cy="3291840"/>
          </a:xfrm>
          <a:prstGeom prst="rect"/>
          <a:solidFill>
            <a:srgbClr val="FFFFFF">
              <a:alpha val="100000"/>
            </a:srgbClr>
          </a:solidFill>
          <a:ln w="12700">
            <a:solidFill>
              <a:srgbClr val="41719C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6" name="组合2"/>
          <p:cNvGrpSpPr/>
          <p:nvPr/>
        </p:nvGrpSpPr>
        <p:grpSpPr>
          <a:xfrm>
            <a:off x="3673972" y="1030442"/>
            <a:ext cx="4986609" cy="904712"/>
            <a:chOff x="0" y="0"/>
            <a:chExt cx="4986609" cy="904712"/>
          </a:xfrm>
        </p:grpSpPr>
        <p:sp>
          <p:nvSpPr>
            <p:cNvPr id="7" name="形状7"/>
            <p:cNvSpPr txBox="1"/>
            <p:nvPr/>
          </p:nvSpPr>
          <p:spPr>
            <a:xfrm rot="10800000" flipH="1">
              <a:off x="562711" y="703756"/>
              <a:ext cx="4237208" cy="13388"/>
            </a:xfrm>
            <a:prstGeom prst="line"/>
            <a:solidFill>
              <a:srgbClr val="FFFFFF">
                <a:alpha val="0"/>
              </a:srgbClr>
            </a:solidFill>
            <a:ln w="12700">
              <a:solidFill>
                <a:srgbClr val="01431D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形状8"/>
            <p:cNvSpPr txBox="1"/>
            <p:nvPr/>
          </p:nvSpPr>
          <p:spPr>
            <a:xfrm>
              <a:off x="0" y="435099"/>
              <a:ext cx="363415" cy="363415"/>
            </a:xfrm>
            <a:prstGeom prst="rect"/>
            <a:solidFill>
              <a:srgbClr val="01431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9" name="形状9"/>
            <p:cNvSpPr txBox="1"/>
            <p:nvPr/>
          </p:nvSpPr>
          <p:spPr>
            <a:xfrm>
              <a:off x="199298" y="658529"/>
              <a:ext cx="246183" cy="246183"/>
            </a:xfrm>
            <a:prstGeom prst="rect"/>
            <a:solidFill>
              <a:srgbClr val="01621F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文本5"/>
            <p:cNvSpPr txBox="1"/>
            <p:nvPr/>
          </p:nvSpPr>
          <p:spPr>
            <a:xfrm>
              <a:off x="558902" y="0"/>
              <a:ext cx="4427707" cy="743585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600"/>
                </a:lnSpc>
              </a:pPr>
              <a:r>
                <a:rPr lang="zh-CN" altLang="en-US" sz="30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一、互联网的创新发展</a:t>
              </a:r>
            </a:p>
          </p:txBody>
        </p:sp>
      </p:grpSp>
      <p:sp>
        <p:nvSpPr>
          <p:cNvPr id="11" name="文本1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学习内容</a:t>
            </a:r>
          </a:p>
        </p:txBody>
      </p:sp>
      <p:grpSp>
        <p:nvGrpSpPr>
          <p:cNvPr id="12" name="组合3"/>
          <p:cNvGrpSpPr/>
          <p:nvPr/>
        </p:nvGrpSpPr>
        <p:grpSpPr>
          <a:xfrm>
            <a:off x="337152" y="4788520"/>
            <a:ext cx="2075080" cy="592612"/>
            <a:chOff x="0" y="0"/>
            <a:chExt cx="2075080" cy="592612"/>
          </a:xfrm>
        </p:grpSpPr>
        <p:sp>
          <p:nvSpPr>
            <p:cNvPr id="13" name="形状10"/>
            <p:cNvSpPr txBox="1"/>
            <p:nvPr/>
          </p:nvSpPr>
          <p:spPr>
            <a:xfrm>
              <a:off x="0" y="64292"/>
              <a:ext cx="2001520" cy="528320"/>
            </a:xfrm>
            <a:prstGeom prst="roundRect"/>
            <a:solidFill>
              <a:srgbClr val="00B050">
                <a:alpha val="100000"/>
              </a:srgbClr>
            </a:solidFill>
            <a:ln w="12700">
              <a:solidFill>
                <a:srgbClr val="41719C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4" name="文本6"/>
            <p:cNvSpPr txBox="1"/>
            <p:nvPr/>
          </p:nvSpPr>
          <p:spPr>
            <a:xfrm>
              <a:off x="73560" y="0"/>
              <a:ext cx="2001520" cy="55784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诞生阶段</a:t>
              </a:r>
            </a:p>
          </p:txBody>
        </p:sp>
      </p:grpSp>
      <p:sp>
        <p:nvSpPr>
          <p:cNvPr id="15" name="形状2"/>
          <p:cNvSpPr txBox="1"/>
          <p:nvPr/>
        </p:nvSpPr>
        <p:spPr>
          <a:xfrm>
            <a:off x="2419512" y="5156243"/>
            <a:ext cx="930910" cy="25400"/>
          </a:xfrm>
          <a:prstGeom prst="straightConnector1"/>
          <a:solidFill>
            <a:srgbClr val="FFFFFF">
              <a:alpha val="0"/>
            </a:srgbClr>
          </a:solidFill>
          <a:ln w="25400">
            <a:solidFill>
              <a:srgbClr val="3F3F3F">
                <a:alpha val="100000"/>
              </a:srgbClr>
            </a:solidFill>
            <a:prstDash val="solid"/>
            <a:tailEnd type="arrow" w="med" len="med"/>
          </a:ln>
        </p:spPr>
        <p:txBody>
          <a:bodyPr anchor="ctr"/>
          <a:lstStyle/>
          <a:p>
            <a:pPr marL="0" algn="ctr"/>
          </a:p>
        </p:txBody>
      </p:sp>
      <p:grpSp>
        <p:nvGrpSpPr>
          <p:cNvPr id="16" name="组合4"/>
          <p:cNvGrpSpPr/>
          <p:nvPr/>
        </p:nvGrpSpPr>
        <p:grpSpPr>
          <a:xfrm>
            <a:off x="3428722" y="4788520"/>
            <a:ext cx="2075080" cy="592612"/>
            <a:chOff x="0" y="0"/>
            <a:chExt cx="2075080" cy="592612"/>
          </a:xfrm>
        </p:grpSpPr>
        <p:sp>
          <p:nvSpPr>
            <p:cNvPr id="17" name="形状11"/>
            <p:cNvSpPr txBox="1"/>
            <p:nvPr/>
          </p:nvSpPr>
          <p:spPr>
            <a:xfrm>
              <a:off x="0" y="64292"/>
              <a:ext cx="2001520" cy="528320"/>
            </a:xfrm>
            <a:prstGeom prst="roundRect"/>
            <a:solidFill>
              <a:srgbClr val="00B050">
                <a:alpha val="100000"/>
              </a:srgbClr>
            </a:solidFill>
            <a:ln w="12700">
              <a:solidFill>
                <a:srgbClr val="41719C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8" name="文本7"/>
            <p:cNvSpPr txBox="1"/>
            <p:nvPr/>
          </p:nvSpPr>
          <p:spPr>
            <a:xfrm>
              <a:off x="73560" y="0"/>
              <a:ext cx="2001520" cy="55784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形成阶段</a:t>
              </a:r>
            </a:p>
          </p:txBody>
        </p:sp>
      </p:grpSp>
      <p:grpSp>
        <p:nvGrpSpPr>
          <p:cNvPr id="19" name="组合5"/>
          <p:cNvGrpSpPr/>
          <p:nvPr/>
        </p:nvGrpSpPr>
        <p:grpSpPr>
          <a:xfrm>
            <a:off x="6519339" y="4788520"/>
            <a:ext cx="2075080" cy="592612"/>
            <a:chOff x="0" y="0"/>
            <a:chExt cx="2075080" cy="592612"/>
          </a:xfrm>
        </p:grpSpPr>
        <p:sp>
          <p:nvSpPr>
            <p:cNvPr id="20" name="形状12"/>
            <p:cNvSpPr txBox="1"/>
            <p:nvPr/>
          </p:nvSpPr>
          <p:spPr>
            <a:xfrm>
              <a:off x="0" y="64292"/>
              <a:ext cx="2001520" cy="528320"/>
            </a:xfrm>
            <a:prstGeom prst="roundRect"/>
            <a:solidFill>
              <a:srgbClr val="00B050">
                <a:alpha val="100000"/>
              </a:srgbClr>
            </a:solidFill>
            <a:ln w="12700">
              <a:solidFill>
                <a:srgbClr val="41719C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1" name="文本8"/>
            <p:cNvSpPr txBox="1"/>
            <p:nvPr/>
          </p:nvSpPr>
          <p:spPr>
            <a:xfrm>
              <a:off x="73560" y="0"/>
              <a:ext cx="2001520" cy="55784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互联阶段</a:t>
              </a:r>
            </a:p>
          </p:txBody>
        </p:sp>
      </p:grpSp>
      <p:grpSp>
        <p:nvGrpSpPr>
          <p:cNvPr id="22" name="组合6"/>
          <p:cNvGrpSpPr/>
          <p:nvPr/>
        </p:nvGrpSpPr>
        <p:grpSpPr>
          <a:xfrm>
            <a:off x="9609702" y="4788753"/>
            <a:ext cx="2265094" cy="592612"/>
            <a:chOff x="0" y="0"/>
            <a:chExt cx="2265094" cy="592612"/>
          </a:xfrm>
        </p:grpSpPr>
        <p:sp>
          <p:nvSpPr>
            <p:cNvPr id="23" name="形状13"/>
            <p:cNvSpPr txBox="1"/>
            <p:nvPr/>
          </p:nvSpPr>
          <p:spPr>
            <a:xfrm>
              <a:off x="0" y="64292"/>
              <a:ext cx="2191534" cy="528320"/>
            </a:xfrm>
            <a:prstGeom prst="roundRect"/>
            <a:solidFill>
              <a:srgbClr val="00B050">
                <a:alpha val="100000"/>
              </a:srgbClr>
            </a:solidFill>
            <a:ln w="12700">
              <a:solidFill>
                <a:srgbClr val="41719C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4" name="文本9"/>
            <p:cNvSpPr txBox="1"/>
            <p:nvPr/>
          </p:nvSpPr>
          <p:spPr>
            <a:xfrm>
              <a:off x="73560" y="0"/>
              <a:ext cx="2191534" cy="55784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高速网络阶段</a:t>
              </a:r>
            </a:p>
          </p:txBody>
        </p:sp>
      </p:grpSp>
      <p:sp>
        <p:nvSpPr>
          <p:cNvPr id="25" name="形状3"/>
          <p:cNvSpPr txBox="1"/>
          <p:nvPr/>
        </p:nvSpPr>
        <p:spPr>
          <a:xfrm>
            <a:off x="5508787" y="5163228"/>
            <a:ext cx="930910" cy="25400"/>
          </a:xfrm>
          <a:prstGeom prst="straightConnector1"/>
          <a:solidFill>
            <a:srgbClr val="FFFFFF">
              <a:alpha val="0"/>
            </a:srgbClr>
          </a:solidFill>
          <a:ln w="25400">
            <a:solidFill>
              <a:srgbClr val="3F3F3F">
                <a:alpha val="100000"/>
              </a:srgbClr>
            </a:solidFill>
            <a:prstDash val="solid"/>
            <a:tailEnd type="arrow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26" name="形状4"/>
          <p:cNvSpPr txBox="1"/>
          <p:nvPr/>
        </p:nvSpPr>
        <p:spPr>
          <a:xfrm>
            <a:off x="8601872" y="5155608"/>
            <a:ext cx="930910" cy="25400"/>
          </a:xfrm>
          <a:prstGeom prst="straightConnector1"/>
          <a:solidFill>
            <a:srgbClr val="FFFFFF">
              <a:alpha val="0"/>
            </a:srgbClr>
          </a:solidFill>
          <a:ln w="25400">
            <a:solidFill>
              <a:srgbClr val="3F3F3F">
                <a:alpha val="100000"/>
              </a:srgbClr>
            </a:solidFill>
            <a:prstDash val="solid"/>
            <a:tailEnd type="arrow" w="med" len="med"/>
          </a:ln>
        </p:spPr>
        <p:txBody>
          <a:bodyPr anchor="ctr"/>
          <a:lstStyle/>
          <a:p>
            <a:pPr marL="0" algn="ctr"/>
          </a:p>
        </p:txBody>
      </p:sp>
      <p:pic>
        <p:nvPicPr>
          <p:cNvPr id="27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52" y="2515803"/>
            <a:ext cx="2525445" cy="2222391"/>
          </a:xfrm>
          <a:prstGeom prst="rect">
            <a:avLst/>
          </a:prstGeom>
        </p:spPr>
      </p:pic>
      <p:pic>
        <p:nvPicPr>
          <p:cNvPr id="28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534" y="2823568"/>
            <a:ext cx="2865098" cy="1606859"/>
          </a:xfrm>
          <a:prstGeom prst="rect">
            <a:avLst/>
          </a:prstGeom>
        </p:spPr>
      </p:pic>
      <p:pic>
        <p:nvPicPr>
          <p:cNvPr id="29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065" y="2553787"/>
            <a:ext cx="2514561" cy="2026932"/>
          </a:xfrm>
          <a:prstGeom prst="rect">
            <a:avLst/>
          </a:prstGeom>
        </p:spPr>
      </p:pic>
      <p:pic>
        <p:nvPicPr>
          <p:cNvPr id="30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6263" y="2720687"/>
            <a:ext cx="2718048" cy="1709740"/>
          </a:xfrm>
          <a:prstGeom prst="rect">
            <a:avLst/>
          </a:prstGeom>
        </p:spPr>
      </p:pic>
      <p:sp>
        <p:nvSpPr>
          <p:cNvPr id="31" name="文本2"/>
          <p:cNvSpPr txBox="1"/>
          <p:nvPr/>
        </p:nvSpPr>
        <p:spPr>
          <a:xfrm>
            <a:off x="91297" y="1799615"/>
            <a:ext cx="5295138" cy="58521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0" i="0" dirty="0">
                <a:solidFill>
                  <a:srgbClr val="000000">
                    <a:alpha val="100000"/>
                  </a:srgbClr>
                </a:solidFill>
                <a:latin typeface="华文新魏"/>
                <a:ea typeface="华文新魏"/>
              </a:rPr>
              <a:t>1、互联网的诞生与发展的历史</a:t>
            </a:r>
          </a:p>
        </p:txBody>
      </p:sp>
      <p:sp>
        <p:nvSpPr>
          <p:cNvPr id="32" name="形状5"/>
          <p:cNvSpPr txBox="1"/>
          <p:nvPr/>
        </p:nvSpPr>
        <p:spPr>
          <a:xfrm>
            <a:off x="3428438" y="6022248"/>
            <a:ext cx="525637" cy="525637"/>
          </a:xfrm>
          <a:custGeom>
            <a:avLst/>
            <a:gdLst>
              <a:gd name="connsiteX0" fmla="*/ 262819 w 525637"/>
              <a:gd name="connsiteY0" fmla="*/ 0 h 525637"/>
              <a:gd name="connsiteX1" fmla="*/ 337270 w 525637"/>
              <a:gd name="connsiteY1" fmla="*/ 182818 h 525637"/>
              <a:gd name="connsiteX2" fmla="*/ 525637 w 525637"/>
              <a:gd name="connsiteY2" fmla="*/ 200776 h 525637"/>
              <a:gd name="connsiteX3" fmla="*/ 383284 w 525637"/>
              <a:gd name="connsiteY3" fmla="*/ 331721 h 525637"/>
              <a:gd name="connsiteX4" fmla="*/ 425249 w 525637"/>
              <a:gd name="connsiteY4" fmla="*/ 525637 h 525637"/>
              <a:gd name="connsiteX5" fmla="*/ 262819 w 525637"/>
              <a:gd name="connsiteY5" fmla="*/ 423748 h 525637"/>
              <a:gd name="connsiteX6" fmla="*/ 100388 w 525637"/>
              <a:gd name="connsiteY6" fmla="*/ 525637 h 525637"/>
              <a:gd name="connsiteX7" fmla="*/ 142353 w 525637"/>
              <a:gd name="connsiteY7" fmla="*/ 331721 h 525637"/>
              <a:gd name="connsiteX8" fmla="*/ 0 w 525637"/>
              <a:gd name="connsiteY8" fmla="*/ 200776 h 525637"/>
              <a:gd name="connsiteX9" fmla="*/ 188367 w 525637"/>
              <a:gd name="connsiteY9" fmla="*/ 182818 h 525637"/>
              <a:gd name="connsiteX10" fmla="*/ 262819 w 525637"/>
              <a:gd name="connsiteY10" fmla="*/ 0 h 52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5637" h="525637">
                <a:moveTo>
                  <a:pt x="262819" y="0"/>
                </a:moveTo>
                <a:lnTo>
                  <a:pt x="337270" y="182818"/>
                </a:lnTo>
                <a:lnTo>
                  <a:pt x="525637" y="200776"/>
                </a:lnTo>
                <a:lnTo>
                  <a:pt x="383284" y="331721"/>
                </a:lnTo>
                <a:lnTo>
                  <a:pt x="425249" y="525637"/>
                </a:lnTo>
                <a:lnTo>
                  <a:pt x="262819" y="423748"/>
                </a:lnTo>
                <a:lnTo>
                  <a:pt x="100388" y="525637"/>
                </a:lnTo>
                <a:lnTo>
                  <a:pt x="142353" y="331721"/>
                </a:lnTo>
                <a:lnTo>
                  <a:pt x="0" y="200776"/>
                </a:lnTo>
                <a:lnTo>
                  <a:pt x="188367" y="182818"/>
                </a:lnTo>
                <a:lnTo>
                  <a:pt x="262819" y="0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3" name="文本3"/>
          <p:cNvSpPr txBox="1"/>
          <p:nvPr/>
        </p:nvSpPr>
        <p:spPr>
          <a:xfrm>
            <a:off x="3881758" y="5974197"/>
            <a:ext cx="4762500" cy="58521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0" i="0" dirty="0">
                <a:solidFill>
                  <a:srgbClr val="000000">
                    <a:alpha val="100000"/>
                  </a:srgbClr>
                </a:solidFill>
                <a:latin typeface="华文新魏"/>
                <a:ea typeface="华文新魏"/>
              </a:rPr>
              <a:t>计算机网络发展的四个阶段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15" grpId="0" animBg="1"/>
      <p:bldP spid="25" grpId="0" animBg="1"/>
      <p:bldP spid="26" grpId="0" animBg="1"/>
      <p:bldP spid="12" grpId="0" animBg="1"/>
      <p:bldP spid="16" grpId="0" animBg="1"/>
      <p:bldP spid="19" grpId="0" animBg="1"/>
      <p:bldP spid="22" grpId="0" animBg="1"/>
    </p:bldLst>
  </p:timing>
</p:sld>
</file>

<file path=ppt/slides/slide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8384540" y="109855"/>
            <a:ext cx="3565525" cy="680085"/>
            <a:chOff x="0" y="0"/>
            <a:chExt cx="3565525" cy="680085"/>
          </a:xfrm>
        </p:grpSpPr>
        <p:sp>
          <p:nvSpPr>
            <p:cNvPr id="3" name="形状5"/>
            <p:cNvSpPr txBox="1"/>
            <p:nvPr/>
          </p:nvSpPr>
          <p:spPr>
            <a:xfrm>
              <a:off x="3810" y="49530"/>
              <a:ext cx="356171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2"/>
            <p:cNvSpPr txBox="1"/>
            <p:nvPr/>
          </p:nvSpPr>
          <p:spPr>
            <a:xfrm>
              <a:off x="0" y="0"/>
              <a:ext cx="356171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grpSp>
        <p:nvGrpSpPr>
          <p:cNvPr id="5" name="组合2"/>
          <p:cNvGrpSpPr/>
          <p:nvPr/>
        </p:nvGrpSpPr>
        <p:grpSpPr>
          <a:xfrm>
            <a:off x="836505" y="1701610"/>
            <a:ext cx="2075080" cy="592612"/>
            <a:chOff x="0" y="0"/>
            <a:chExt cx="2075080" cy="592612"/>
          </a:xfrm>
        </p:grpSpPr>
        <p:sp>
          <p:nvSpPr>
            <p:cNvPr id="6" name="形状6"/>
            <p:cNvSpPr txBox="1"/>
            <p:nvPr/>
          </p:nvSpPr>
          <p:spPr>
            <a:xfrm>
              <a:off x="0" y="64292"/>
              <a:ext cx="2001520" cy="528320"/>
            </a:xfrm>
            <a:prstGeom prst="roundRect"/>
            <a:solidFill>
              <a:srgbClr val="00B050">
                <a:alpha val="100000"/>
              </a:srgbClr>
            </a:solidFill>
            <a:ln w="12700">
              <a:solidFill>
                <a:srgbClr val="41719C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7" name="文本3"/>
            <p:cNvSpPr txBox="1"/>
            <p:nvPr/>
          </p:nvSpPr>
          <p:spPr>
            <a:xfrm>
              <a:off x="73560" y="0"/>
              <a:ext cx="2001520" cy="55784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诞生阶段</a:t>
              </a:r>
            </a:p>
          </p:txBody>
        </p:sp>
      </p:grpSp>
      <p:grpSp>
        <p:nvGrpSpPr>
          <p:cNvPr id="8" name="组合3"/>
          <p:cNvGrpSpPr/>
          <p:nvPr/>
        </p:nvGrpSpPr>
        <p:grpSpPr>
          <a:xfrm>
            <a:off x="836505" y="2661405"/>
            <a:ext cx="2075080" cy="592612"/>
            <a:chOff x="0" y="0"/>
            <a:chExt cx="2075080" cy="592612"/>
          </a:xfrm>
        </p:grpSpPr>
        <p:sp>
          <p:nvSpPr>
            <p:cNvPr id="9" name="形状7"/>
            <p:cNvSpPr txBox="1"/>
            <p:nvPr/>
          </p:nvSpPr>
          <p:spPr>
            <a:xfrm>
              <a:off x="0" y="64292"/>
              <a:ext cx="2001520" cy="528320"/>
            </a:xfrm>
            <a:prstGeom prst="roundRect"/>
            <a:solidFill>
              <a:srgbClr val="00B050">
                <a:alpha val="100000"/>
              </a:srgbClr>
            </a:solidFill>
            <a:ln w="12700">
              <a:solidFill>
                <a:srgbClr val="41719C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文本4"/>
            <p:cNvSpPr txBox="1"/>
            <p:nvPr/>
          </p:nvSpPr>
          <p:spPr>
            <a:xfrm>
              <a:off x="73560" y="0"/>
              <a:ext cx="2001520" cy="55784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形成阶段</a:t>
              </a:r>
            </a:p>
          </p:txBody>
        </p:sp>
      </p:grpSp>
      <p:grpSp>
        <p:nvGrpSpPr>
          <p:cNvPr id="11" name="组合4"/>
          <p:cNvGrpSpPr/>
          <p:nvPr/>
        </p:nvGrpSpPr>
        <p:grpSpPr>
          <a:xfrm>
            <a:off x="836505" y="3621200"/>
            <a:ext cx="2075080" cy="592612"/>
            <a:chOff x="0" y="0"/>
            <a:chExt cx="2075080" cy="592612"/>
          </a:xfrm>
        </p:grpSpPr>
        <p:sp>
          <p:nvSpPr>
            <p:cNvPr id="12" name="形状8"/>
            <p:cNvSpPr txBox="1"/>
            <p:nvPr/>
          </p:nvSpPr>
          <p:spPr>
            <a:xfrm>
              <a:off x="0" y="64292"/>
              <a:ext cx="2001520" cy="528320"/>
            </a:xfrm>
            <a:prstGeom prst="roundRect"/>
            <a:solidFill>
              <a:srgbClr val="00B050">
                <a:alpha val="100000"/>
              </a:srgbClr>
            </a:solidFill>
            <a:ln w="12700">
              <a:solidFill>
                <a:srgbClr val="41719C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文本5"/>
            <p:cNvSpPr txBox="1"/>
            <p:nvPr/>
          </p:nvSpPr>
          <p:spPr>
            <a:xfrm>
              <a:off x="73560" y="0"/>
              <a:ext cx="2001520" cy="55784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互联阶段</a:t>
              </a:r>
            </a:p>
          </p:txBody>
        </p:sp>
      </p:grpSp>
      <p:grpSp>
        <p:nvGrpSpPr>
          <p:cNvPr id="14" name="组合5"/>
          <p:cNvGrpSpPr/>
          <p:nvPr/>
        </p:nvGrpSpPr>
        <p:grpSpPr>
          <a:xfrm>
            <a:off x="741498" y="4580995"/>
            <a:ext cx="2265094" cy="592612"/>
            <a:chOff x="0" y="0"/>
            <a:chExt cx="2265094" cy="592612"/>
          </a:xfrm>
        </p:grpSpPr>
        <p:sp>
          <p:nvSpPr>
            <p:cNvPr id="15" name="形状9"/>
            <p:cNvSpPr txBox="1"/>
            <p:nvPr/>
          </p:nvSpPr>
          <p:spPr>
            <a:xfrm>
              <a:off x="0" y="64292"/>
              <a:ext cx="2191534" cy="528320"/>
            </a:xfrm>
            <a:prstGeom prst="roundRect"/>
            <a:solidFill>
              <a:srgbClr val="00B050">
                <a:alpha val="100000"/>
              </a:srgbClr>
            </a:solidFill>
            <a:ln w="12700">
              <a:solidFill>
                <a:srgbClr val="41719C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6" name="文本6"/>
            <p:cNvSpPr txBox="1"/>
            <p:nvPr/>
          </p:nvSpPr>
          <p:spPr>
            <a:xfrm>
              <a:off x="73560" y="0"/>
              <a:ext cx="2191534" cy="55784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2800"/>
                </a:lnSpc>
              </a:pPr>
              <a:r>
                <a:rPr lang="zh-CN" altLang="en-US" sz="24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高速网络阶段</a:t>
              </a:r>
            </a:p>
          </p:txBody>
        </p:sp>
      </p:grpSp>
      <p:grpSp>
        <p:nvGrpSpPr>
          <p:cNvPr id="17" name="组合6"/>
          <p:cNvGrpSpPr/>
          <p:nvPr/>
        </p:nvGrpSpPr>
        <p:grpSpPr>
          <a:xfrm>
            <a:off x="4218488" y="1747536"/>
            <a:ext cx="7061334" cy="546686"/>
            <a:chOff x="0" y="0"/>
            <a:chExt cx="7061334" cy="546686"/>
          </a:xfrm>
        </p:grpSpPr>
        <p:sp>
          <p:nvSpPr>
            <p:cNvPr id="18" name="形状10"/>
            <p:cNvSpPr txBox="1"/>
            <p:nvPr/>
          </p:nvSpPr>
          <p:spPr>
            <a:xfrm>
              <a:off x="0" y="18366"/>
              <a:ext cx="6987774" cy="528320"/>
            </a:xfrm>
            <a:prstGeom prst="roundRect"/>
            <a:solidFill>
              <a:srgbClr val="2E75B5">
                <a:alpha val="100000"/>
              </a:srgbClr>
            </a:solidFill>
            <a:ln w="12700">
              <a:solidFill>
                <a:srgbClr val="41719C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9" name="文本7"/>
            <p:cNvSpPr txBox="1"/>
            <p:nvPr/>
          </p:nvSpPr>
          <p:spPr>
            <a:xfrm>
              <a:off x="73560" y="0"/>
              <a:ext cx="6987774" cy="465993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100"/>
                </a:lnSpc>
              </a:pPr>
              <a:r>
                <a:rPr lang="zh-CN" altLang="en-US" sz="18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实现了协议的标准化，TCP/IP走上历史舞台</a:t>
              </a:r>
            </a:p>
          </p:txBody>
        </p:sp>
      </p:grpSp>
      <p:grpSp>
        <p:nvGrpSpPr>
          <p:cNvPr id="20" name="组合7"/>
          <p:cNvGrpSpPr/>
          <p:nvPr/>
        </p:nvGrpSpPr>
        <p:grpSpPr>
          <a:xfrm>
            <a:off x="4218488" y="2707331"/>
            <a:ext cx="7061334" cy="546686"/>
            <a:chOff x="0" y="0"/>
            <a:chExt cx="7061334" cy="546686"/>
          </a:xfrm>
        </p:grpSpPr>
        <p:sp>
          <p:nvSpPr>
            <p:cNvPr id="21" name="形状11"/>
            <p:cNvSpPr txBox="1"/>
            <p:nvPr/>
          </p:nvSpPr>
          <p:spPr>
            <a:xfrm>
              <a:off x="0" y="18366"/>
              <a:ext cx="6987774" cy="528320"/>
            </a:xfrm>
            <a:prstGeom prst="roundRect"/>
            <a:solidFill>
              <a:srgbClr val="2E75B5">
                <a:alpha val="100000"/>
              </a:srgbClr>
            </a:solidFill>
            <a:ln w="12700">
              <a:solidFill>
                <a:srgbClr val="41719C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2" name="文本8"/>
            <p:cNvSpPr txBox="1"/>
            <p:nvPr/>
          </p:nvSpPr>
          <p:spPr>
            <a:xfrm>
              <a:off x="73560" y="0"/>
              <a:ext cx="6987774" cy="465993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100"/>
                </a:lnSpc>
              </a:pPr>
              <a:r>
                <a:rPr lang="zh-CN" altLang="en-US" sz="18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计算机的数量很少，多个终端共享一台计算机</a:t>
              </a:r>
            </a:p>
          </p:txBody>
        </p:sp>
      </p:grpSp>
      <p:grpSp>
        <p:nvGrpSpPr>
          <p:cNvPr id="23" name="组合8"/>
          <p:cNvGrpSpPr/>
          <p:nvPr/>
        </p:nvGrpSpPr>
        <p:grpSpPr>
          <a:xfrm>
            <a:off x="4218488" y="3667126"/>
            <a:ext cx="7061336" cy="546686"/>
            <a:chOff x="0" y="0"/>
            <a:chExt cx="7061336" cy="546686"/>
          </a:xfrm>
        </p:grpSpPr>
        <p:sp>
          <p:nvSpPr>
            <p:cNvPr id="24" name="形状12"/>
            <p:cNvSpPr txBox="1"/>
            <p:nvPr/>
          </p:nvSpPr>
          <p:spPr>
            <a:xfrm>
              <a:off x="0" y="18366"/>
              <a:ext cx="6987776" cy="528320"/>
            </a:xfrm>
            <a:prstGeom prst="roundRect"/>
            <a:solidFill>
              <a:srgbClr val="2E75B5">
                <a:alpha val="100000"/>
              </a:srgbClr>
            </a:solidFill>
            <a:ln w="12700">
              <a:solidFill>
                <a:srgbClr val="41719C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5" name="文本9"/>
            <p:cNvSpPr txBox="1"/>
            <p:nvPr/>
          </p:nvSpPr>
          <p:spPr>
            <a:xfrm>
              <a:off x="73560" y="0"/>
              <a:ext cx="6987776" cy="465993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100"/>
                </a:lnSpc>
              </a:pPr>
              <a:r>
                <a:rPr lang="zh-CN" altLang="en-US" sz="18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作为“信息高速公路”的互联网，在社会中的应用日益普及</a:t>
              </a:r>
            </a:p>
          </p:txBody>
        </p:sp>
      </p:grpSp>
      <p:grpSp>
        <p:nvGrpSpPr>
          <p:cNvPr id="26" name="组合9"/>
          <p:cNvGrpSpPr/>
          <p:nvPr/>
        </p:nvGrpSpPr>
        <p:grpSpPr>
          <a:xfrm>
            <a:off x="4218487" y="4626921"/>
            <a:ext cx="7061335" cy="546686"/>
            <a:chOff x="0" y="0"/>
            <a:chExt cx="7061335" cy="546686"/>
          </a:xfrm>
        </p:grpSpPr>
        <p:sp>
          <p:nvSpPr>
            <p:cNvPr id="27" name="形状13"/>
            <p:cNvSpPr txBox="1"/>
            <p:nvPr/>
          </p:nvSpPr>
          <p:spPr>
            <a:xfrm>
              <a:off x="0" y="18366"/>
              <a:ext cx="6987775" cy="528320"/>
            </a:xfrm>
            <a:prstGeom prst="roundRect"/>
            <a:solidFill>
              <a:srgbClr val="2E75B5">
                <a:alpha val="100000"/>
              </a:srgbClr>
            </a:solidFill>
            <a:ln w="12700">
              <a:solidFill>
                <a:srgbClr val="41719C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8" name="文本10"/>
            <p:cNvSpPr txBox="1"/>
            <p:nvPr/>
          </p:nvSpPr>
          <p:spPr>
            <a:xfrm>
              <a:off x="73560" y="0"/>
              <a:ext cx="6987775" cy="465993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100"/>
                </a:lnSpc>
              </a:pPr>
              <a:r>
                <a:rPr lang="zh-CN" altLang="en-US" sz="18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实现了计算机之间的互联，互联网的雏形——阿帕网出现了</a:t>
              </a:r>
            </a:p>
          </p:txBody>
        </p:sp>
      </p:grpSp>
      <p:sp>
        <p:nvSpPr>
          <p:cNvPr id="29" name="形状1"/>
          <p:cNvSpPr txBox="1"/>
          <p:nvPr/>
        </p:nvSpPr>
        <p:spPr>
          <a:xfrm>
            <a:off x="2838025" y="2030062"/>
            <a:ext cx="1380463" cy="959795"/>
          </a:xfrm>
          <a:prstGeom prst="line"/>
          <a:solidFill>
            <a:srgbClr val="FFFFFF">
              <a:alpha val="0"/>
            </a:srgbClr>
          </a:solidFill>
          <a:ln w="12700">
            <a:solidFill>
              <a:srgbClr val="5B9BD5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0" name="形状2"/>
          <p:cNvSpPr txBox="1"/>
          <p:nvPr/>
        </p:nvSpPr>
        <p:spPr>
          <a:xfrm>
            <a:off x="2838025" y="2989857"/>
            <a:ext cx="1380462" cy="1919590"/>
          </a:xfrm>
          <a:prstGeom prst="line"/>
          <a:solidFill>
            <a:srgbClr val="FFFFFF">
              <a:alpha val="0"/>
            </a:srgbClr>
          </a:solidFill>
          <a:ln w="12700">
            <a:solidFill>
              <a:srgbClr val="5B9BD5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1" name="形状3"/>
          <p:cNvSpPr txBox="1"/>
          <p:nvPr/>
        </p:nvSpPr>
        <p:spPr>
          <a:xfrm rot="10800000" flipH="1">
            <a:off x="2838025" y="2030062"/>
            <a:ext cx="1380463" cy="1919590"/>
          </a:xfrm>
          <a:prstGeom prst="line"/>
          <a:solidFill>
            <a:srgbClr val="FFFFFF">
              <a:alpha val="0"/>
            </a:srgbClr>
          </a:solidFill>
          <a:ln w="12700">
            <a:solidFill>
              <a:srgbClr val="5B9BD5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2" name="形状4"/>
          <p:cNvSpPr txBox="1"/>
          <p:nvPr/>
        </p:nvSpPr>
        <p:spPr>
          <a:xfrm rot="10800000" flipH="1">
            <a:off x="2933032" y="3949652"/>
            <a:ext cx="1285456" cy="959795"/>
          </a:xfrm>
          <a:prstGeom prst="line"/>
          <a:solidFill>
            <a:srgbClr val="FFFFFF">
              <a:alpha val="0"/>
            </a:srgbClr>
          </a:solidFill>
          <a:ln w="12700">
            <a:solidFill>
              <a:srgbClr val="5B9BD5">
                <a:alpha val="100000"/>
              </a:srgbClr>
            </a:solidFill>
            <a:prstDash val="soli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33" name="文本1"/>
          <p:cNvSpPr txBox="1"/>
          <p:nvPr/>
        </p:nvSpPr>
        <p:spPr>
          <a:xfrm>
            <a:off x="836676" y="1133332"/>
            <a:ext cx="4217289" cy="58521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0" i="0" dirty="0">
                <a:solidFill>
                  <a:srgbClr val="000000">
                    <a:alpha val="100000"/>
                  </a:srgbClr>
                </a:solidFill>
                <a:latin typeface="华文新魏"/>
                <a:ea typeface="华文新魏"/>
              </a:rPr>
              <a:t>2、互联网的创新和发展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</p:bldLst>
  </p:timing>
</p:sld>
</file>

<file path=ppt/slides/slide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8384540" y="109855"/>
            <a:ext cx="3565525" cy="680085"/>
            <a:chOff x="0" y="0"/>
            <a:chExt cx="3565525" cy="680085"/>
          </a:xfrm>
        </p:grpSpPr>
        <p:sp>
          <p:nvSpPr>
            <p:cNvPr id="3" name="形状2"/>
            <p:cNvSpPr txBox="1"/>
            <p:nvPr/>
          </p:nvSpPr>
          <p:spPr>
            <a:xfrm>
              <a:off x="3810" y="49530"/>
              <a:ext cx="356171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3"/>
            <p:cNvSpPr txBox="1"/>
            <p:nvPr/>
          </p:nvSpPr>
          <p:spPr>
            <a:xfrm>
              <a:off x="0" y="0"/>
              <a:ext cx="356171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990573" y="2065413"/>
            <a:ext cx="7983863" cy="1786255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3600"/>
              </a:lnSpc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下面三种结构，哪种更健壮？为什么？　</a:t>
            </a:r>
          </a:p>
        </p:txBody>
      </p:sp>
      <p:pic>
        <p:nvPicPr>
          <p:cNvPr id="6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130" y="2785745"/>
            <a:ext cx="5951855" cy="3302000"/>
          </a:xfrm>
          <a:prstGeom prst="rect">
            <a:avLst/>
          </a:prstGeom>
          <a:ln w="9525">
            <a:solidFill>
              <a:srgbClr val="7F7F7F">
                <a:alpha val="100000"/>
              </a:srgbClr>
            </a:solidFill>
            <a:prstDash val="solid"/>
          </a:ln>
        </p:spPr>
      </p:pic>
      <p:grpSp>
        <p:nvGrpSpPr>
          <p:cNvPr id="7" name="组合2"/>
          <p:cNvGrpSpPr/>
          <p:nvPr/>
        </p:nvGrpSpPr>
        <p:grpSpPr>
          <a:xfrm>
            <a:off x="7431784" y="3837972"/>
            <a:ext cx="2821169" cy="1767650"/>
            <a:chOff x="0" y="0"/>
            <a:chExt cx="2821169" cy="1767650"/>
          </a:xfrm>
        </p:grpSpPr>
        <p:sp>
          <p:nvSpPr>
            <p:cNvPr id="8" name="形状3"/>
            <p:cNvSpPr txBox="1"/>
            <p:nvPr/>
          </p:nvSpPr>
          <p:spPr>
            <a:xfrm>
              <a:off x="0" y="52515"/>
              <a:ext cx="2821169" cy="1715135"/>
            </a:xfrm>
            <a:prstGeom prst="wedgeRoundRectCallout"/>
            <a:solidFill>
              <a:srgbClr val="D8E2F3">
                <a:alpha val="100000"/>
              </a:srgbClr>
            </a:solidFill>
            <a:ln w="12700">
              <a:solidFill>
                <a:srgbClr val="5B9BD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9" name="文本4"/>
            <p:cNvSpPr txBox="1"/>
            <p:nvPr/>
          </p:nvSpPr>
          <p:spPr>
            <a:xfrm>
              <a:off x="79916" y="0"/>
              <a:ext cx="2653717" cy="1721104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400"/>
                </a:lnSpc>
              </a:pP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在</a:t>
              </a:r>
              <a:r>
                <a:rPr lang="zh-CN" altLang="en-US" sz="2000" b="0" i="0" dirty="0">
                  <a:solidFill>
                    <a:srgbClr val="C00000">
                      <a:alpha val="100000"/>
                    </a:srgbClr>
                  </a:solidFill>
                  <a:latin typeface="楷体"/>
                  <a:ea typeface="楷体"/>
                </a:rPr>
                <a:t>网状结构</a:t>
              </a: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中，</a:t>
              </a:r>
              <a:r>
                <a:rPr lang="zh-CN" altLang="en-US" sz="2000" b="0" i="0" dirty="0">
                  <a:solidFill>
                    <a:srgbClr val="C00000">
                      <a:alpha val="100000"/>
                    </a:srgbClr>
                  </a:solidFill>
                  <a:latin typeface="楷体"/>
                  <a:ea typeface="楷体"/>
                </a:rPr>
                <a:t>节点间有多条通信线路</a:t>
              </a: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，当一条线路出现故障时，可以切换到别的线路继续通信。</a:t>
              </a:r>
            </a:p>
          </p:txBody>
        </p:sp>
      </p:grpSp>
      <p:pic>
        <p:nvPicPr>
          <p:cNvPr id="10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140" y="3710698"/>
            <a:ext cx="1873250" cy="2905760"/>
          </a:xfrm>
          <a:prstGeom prst="rect">
            <a:avLst/>
          </a:prstGeom>
        </p:spPr>
      </p:pic>
      <p:sp>
        <p:nvSpPr>
          <p:cNvPr id="11" name="形状1"/>
          <p:cNvSpPr txBox="1"/>
          <p:nvPr/>
        </p:nvSpPr>
        <p:spPr>
          <a:xfrm>
            <a:off x="5627370" y="2996565"/>
            <a:ext cx="1440815" cy="2674620"/>
          </a:xfrm>
          <a:prstGeom prst="roundRect"/>
          <a:solidFill>
            <a:srgbClr val="FFFFFF">
              <a:alpha val="0"/>
            </a:srgbClr>
          </a:solidFill>
          <a:ln w="19050">
            <a:solidFill>
              <a:srgbClr val="C00000">
                <a:alpha val="100000"/>
              </a:srgbClr>
            </a:solidFill>
            <a:prstDash val="sysDash"/>
            <a:headEnd type="none" w="med" len="med"/>
            <a:tailEnd type="none" w="med" len="med"/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2" name="文本2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学习内容</a:t>
            </a:r>
          </a:p>
        </p:txBody>
      </p:sp>
      <p:grpSp>
        <p:nvGrpSpPr>
          <p:cNvPr id="13" name="组合3"/>
          <p:cNvGrpSpPr/>
          <p:nvPr/>
        </p:nvGrpSpPr>
        <p:grpSpPr>
          <a:xfrm>
            <a:off x="3673972" y="1030442"/>
            <a:ext cx="4986609" cy="904712"/>
            <a:chOff x="0" y="0"/>
            <a:chExt cx="4986609" cy="904712"/>
          </a:xfrm>
        </p:grpSpPr>
        <p:sp>
          <p:nvSpPr>
            <p:cNvPr id="14" name="形状4"/>
            <p:cNvSpPr txBox="1"/>
            <p:nvPr/>
          </p:nvSpPr>
          <p:spPr>
            <a:xfrm rot="10800000" flipH="1">
              <a:off x="562711" y="703756"/>
              <a:ext cx="4237208" cy="13388"/>
            </a:xfrm>
            <a:prstGeom prst="line"/>
            <a:solidFill>
              <a:srgbClr val="FFFFFF">
                <a:alpha val="0"/>
              </a:srgbClr>
            </a:solidFill>
            <a:ln w="12700">
              <a:solidFill>
                <a:srgbClr val="01431D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5" name="形状5"/>
            <p:cNvSpPr txBox="1"/>
            <p:nvPr/>
          </p:nvSpPr>
          <p:spPr>
            <a:xfrm>
              <a:off x="0" y="435099"/>
              <a:ext cx="363415" cy="363415"/>
            </a:xfrm>
            <a:prstGeom prst="rect"/>
            <a:solidFill>
              <a:srgbClr val="01431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6" name="形状6"/>
            <p:cNvSpPr txBox="1"/>
            <p:nvPr/>
          </p:nvSpPr>
          <p:spPr>
            <a:xfrm>
              <a:off x="199298" y="658529"/>
              <a:ext cx="246183" cy="246183"/>
            </a:xfrm>
            <a:prstGeom prst="rect"/>
            <a:solidFill>
              <a:srgbClr val="01621F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7" name="文本5"/>
            <p:cNvSpPr txBox="1"/>
            <p:nvPr/>
          </p:nvSpPr>
          <p:spPr>
            <a:xfrm>
              <a:off x="558902" y="0"/>
              <a:ext cx="4427707" cy="743585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600"/>
                </a:lnSpc>
              </a:pPr>
              <a:r>
                <a:rPr lang="zh-CN" altLang="en-US" sz="30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一、互联网的创新发展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0" grpId="0" animBg="1"/>
      <p:bldP spid="7" grpId="0" animBg="1"/>
    </p:bldLst>
  </p:timing>
</p:sld>
</file>

<file path=ppt/slides/slide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8384540" y="109855"/>
            <a:ext cx="3565525" cy="680085"/>
            <a:chOff x="0" y="0"/>
            <a:chExt cx="3565525" cy="680085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356171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4"/>
            <p:cNvSpPr txBox="1"/>
            <p:nvPr/>
          </p:nvSpPr>
          <p:spPr>
            <a:xfrm>
              <a:off x="0" y="0"/>
              <a:ext cx="356171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pic>
        <p:nvPicPr>
          <p:cNvPr id="5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791" y="2419292"/>
            <a:ext cx="6409017" cy="2580895"/>
          </a:xfrm>
          <a:prstGeom prst="rect">
            <a:avLst/>
          </a:prstGeom>
        </p:spPr>
      </p:pic>
      <p:sp>
        <p:nvSpPr>
          <p:cNvPr id="6" name="文本1"/>
          <p:cNvSpPr txBox="1"/>
          <p:nvPr/>
        </p:nvSpPr>
        <p:spPr>
          <a:xfrm>
            <a:off x="317206" y="2243376"/>
            <a:ext cx="5201505" cy="3514487"/>
          </a:xfrm>
          <a:prstGeom prst="rect">
            <a:avLst/>
          </a:prstGeom>
          <a:noFill/>
        </p:spPr>
        <p:txBody>
          <a:bodyPr anchor="t"/>
          <a:lstStyle/>
          <a:p>
            <a:pPr marL="-608400" algn="l">
              <a:lnSpc>
                <a:spcPts val="3600"/>
              </a:lnSpc>
              <a:buFont typeface="Arial"/>
              <a:buChar char=" "/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互联网的发展过程中，很多关键事件、关键思想起到了推动作用。请查阅相关资料，把图补充完整。</a:t>
            </a:r>
          </a:p>
          <a:p>
            <a:pPr marL="-608400" algn="l">
              <a:lnSpc>
                <a:spcPts val="3600"/>
              </a:lnSpc>
              <a:buFont typeface="Arial"/>
              <a:buChar char=" "/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A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．大规模启用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IPv6  </a:t>
            </a:r>
          </a:p>
          <a:p>
            <a:pPr marL="-608400" algn="l">
              <a:lnSpc>
                <a:spcPts val="3600"/>
              </a:lnSpc>
              <a:buFont typeface="Arial"/>
              <a:buChar char=" "/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B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．万维网诞生</a:t>
            </a:r>
          </a:p>
          <a:p>
            <a:pPr marL="-608400" algn="l">
              <a:lnSpc>
                <a:spcPts val="3600"/>
              </a:lnSpc>
              <a:buFont typeface="Arial"/>
              <a:buChar char=" "/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C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．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IPv4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发布</a:t>
            </a:r>
          </a:p>
          <a:p>
            <a:pPr marL="-608400" algn="l">
              <a:lnSpc>
                <a:spcPts val="3600"/>
              </a:lnSpc>
              <a:buFont typeface="Arial"/>
              <a:buChar char=" "/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D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．阿帕网改用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TCP/IP</a:t>
            </a:r>
          </a:p>
        </p:txBody>
      </p:sp>
      <p:sp>
        <p:nvSpPr>
          <p:cNvPr id="7" name="文本2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学习内容</a:t>
            </a:r>
          </a:p>
        </p:txBody>
      </p:sp>
      <p:grpSp>
        <p:nvGrpSpPr>
          <p:cNvPr id="8" name="组合2"/>
          <p:cNvGrpSpPr/>
          <p:nvPr/>
        </p:nvGrpSpPr>
        <p:grpSpPr>
          <a:xfrm>
            <a:off x="11198463" y="4082816"/>
            <a:ext cx="429894" cy="374187"/>
            <a:chOff x="0" y="0"/>
            <a:chExt cx="429894" cy="374187"/>
          </a:xfrm>
        </p:grpSpPr>
        <p:sp>
          <p:nvSpPr>
            <p:cNvPr id="9" name="形状2"/>
            <p:cNvSpPr txBox="1"/>
            <p:nvPr/>
          </p:nvSpPr>
          <p:spPr>
            <a:xfrm>
              <a:off x="0" y="121479"/>
              <a:ext cx="422462" cy="230289"/>
            </a:xfrm>
            <a:prstGeom prst="roundRect"/>
            <a:solidFill>
              <a:srgbClr val="F4B081">
                <a:alpha val="100000"/>
              </a:srgbClr>
            </a:solidFill>
            <a:ln w="12700">
              <a:solidFill>
                <a:srgbClr val="2E75B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文本5"/>
            <p:cNvSpPr txBox="1"/>
            <p:nvPr/>
          </p:nvSpPr>
          <p:spPr>
            <a:xfrm>
              <a:off x="7432" y="0"/>
              <a:ext cx="422462" cy="374187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1400"/>
                </a:lnSpc>
              </a:pPr>
              <a:r>
                <a:rPr lang="zh-CN" altLang="en-US" sz="1200" b="0" i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</a:rPr>
                <a:t>A</a:t>
              </a:r>
            </a:p>
          </p:txBody>
        </p:sp>
      </p:grpSp>
      <p:grpSp>
        <p:nvGrpSpPr>
          <p:cNvPr id="11" name="组合3"/>
          <p:cNvGrpSpPr/>
          <p:nvPr/>
        </p:nvGrpSpPr>
        <p:grpSpPr>
          <a:xfrm>
            <a:off x="7532948" y="3286384"/>
            <a:ext cx="372132" cy="374187"/>
            <a:chOff x="0" y="0"/>
            <a:chExt cx="372132" cy="374187"/>
          </a:xfrm>
        </p:grpSpPr>
        <p:sp>
          <p:nvSpPr>
            <p:cNvPr id="12" name="形状3"/>
            <p:cNvSpPr txBox="1"/>
            <p:nvPr/>
          </p:nvSpPr>
          <p:spPr>
            <a:xfrm>
              <a:off x="0" y="121479"/>
              <a:ext cx="364700" cy="230289"/>
            </a:xfrm>
            <a:prstGeom prst="roundRect"/>
            <a:solidFill>
              <a:srgbClr val="DDEAF6">
                <a:alpha val="100000"/>
              </a:srgbClr>
            </a:solidFill>
            <a:ln w="12700">
              <a:solidFill>
                <a:srgbClr val="2E75B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文本6"/>
            <p:cNvSpPr txBox="1"/>
            <p:nvPr/>
          </p:nvSpPr>
          <p:spPr>
            <a:xfrm>
              <a:off x="7432" y="0"/>
              <a:ext cx="364700" cy="374187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1400"/>
                </a:lnSpc>
              </a:pPr>
              <a:r>
                <a:rPr lang="zh-CN" altLang="en-US" sz="1200" b="0" i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</a:rPr>
                <a:t>D</a:t>
              </a:r>
            </a:p>
          </p:txBody>
        </p:sp>
      </p:grpSp>
      <p:grpSp>
        <p:nvGrpSpPr>
          <p:cNvPr id="14" name="组合4"/>
          <p:cNvGrpSpPr/>
          <p:nvPr/>
        </p:nvGrpSpPr>
        <p:grpSpPr>
          <a:xfrm>
            <a:off x="7633893" y="2754192"/>
            <a:ext cx="373953" cy="374187"/>
            <a:chOff x="0" y="0"/>
            <a:chExt cx="373953" cy="374187"/>
          </a:xfrm>
        </p:grpSpPr>
        <p:sp>
          <p:nvSpPr>
            <p:cNvPr id="15" name="形状4"/>
            <p:cNvSpPr txBox="1"/>
            <p:nvPr/>
          </p:nvSpPr>
          <p:spPr>
            <a:xfrm>
              <a:off x="0" y="121479"/>
              <a:ext cx="366521" cy="230289"/>
            </a:xfrm>
            <a:prstGeom prst="roundRect"/>
            <a:solidFill>
              <a:srgbClr val="FBE4D4">
                <a:alpha val="100000"/>
              </a:srgbClr>
            </a:solidFill>
            <a:ln w="12700">
              <a:solidFill>
                <a:srgbClr val="2E75B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6" name="文本7"/>
            <p:cNvSpPr txBox="1"/>
            <p:nvPr/>
          </p:nvSpPr>
          <p:spPr>
            <a:xfrm>
              <a:off x="7432" y="0"/>
              <a:ext cx="366521" cy="374187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1400"/>
                </a:lnSpc>
              </a:pPr>
              <a:r>
                <a:rPr lang="zh-CN" altLang="en-US" sz="1200" b="0" i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</a:rPr>
                <a:t>B</a:t>
              </a:r>
            </a:p>
          </p:txBody>
        </p:sp>
      </p:grpSp>
      <p:grpSp>
        <p:nvGrpSpPr>
          <p:cNvPr id="17" name="组合5"/>
          <p:cNvGrpSpPr/>
          <p:nvPr/>
        </p:nvGrpSpPr>
        <p:grpSpPr>
          <a:xfrm>
            <a:off x="7348776" y="3967670"/>
            <a:ext cx="373954" cy="374187"/>
            <a:chOff x="0" y="0"/>
            <a:chExt cx="373954" cy="374187"/>
          </a:xfrm>
        </p:grpSpPr>
        <p:sp>
          <p:nvSpPr>
            <p:cNvPr id="18" name="形状5"/>
            <p:cNvSpPr txBox="1"/>
            <p:nvPr/>
          </p:nvSpPr>
          <p:spPr>
            <a:xfrm>
              <a:off x="0" y="121479"/>
              <a:ext cx="366522" cy="230290"/>
            </a:xfrm>
            <a:prstGeom prst="roundRect"/>
            <a:solidFill>
              <a:srgbClr val="92D050">
                <a:alpha val="100000"/>
              </a:srgbClr>
            </a:solidFill>
            <a:ln w="12700">
              <a:solidFill>
                <a:srgbClr val="2E75B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9" name="文本8"/>
            <p:cNvSpPr txBox="1"/>
            <p:nvPr/>
          </p:nvSpPr>
          <p:spPr>
            <a:xfrm>
              <a:off x="7432" y="0"/>
              <a:ext cx="366522" cy="374187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ctr">
                <a:lnSpc>
                  <a:spcPts val="1400"/>
                </a:lnSpc>
              </a:pPr>
              <a:r>
                <a:rPr lang="zh-CN" altLang="en-US" sz="1200" b="0" i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</a:rPr>
                <a:t>C</a:t>
              </a:r>
            </a:p>
          </p:txBody>
        </p:sp>
      </p:grpSp>
      <p:grpSp>
        <p:nvGrpSpPr>
          <p:cNvPr id="20" name="组合6"/>
          <p:cNvGrpSpPr/>
          <p:nvPr/>
        </p:nvGrpSpPr>
        <p:grpSpPr>
          <a:xfrm>
            <a:off x="3673972" y="1030442"/>
            <a:ext cx="4986609" cy="904712"/>
            <a:chOff x="0" y="0"/>
            <a:chExt cx="4986609" cy="904712"/>
          </a:xfrm>
        </p:grpSpPr>
        <p:sp>
          <p:nvSpPr>
            <p:cNvPr id="21" name="形状6"/>
            <p:cNvSpPr txBox="1"/>
            <p:nvPr/>
          </p:nvSpPr>
          <p:spPr>
            <a:xfrm rot="10800000" flipH="1">
              <a:off x="562711" y="703756"/>
              <a:ext cx="4237208" cy="13388"/>
            </a:xfrm>
            <a:prstGeom prst="line"/>
            <a:solidFill>
              <a:srgbClr val="FFFFFF">
                <a:alpha val="0"/>
              </a:srgbClr>
            </a:solidFill>
            <a:ln w="12700">
              <a:solidFill>
                <a:srgbClr val="01431D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2" name="形状7"/>
            <p:cNvSpPr txBox="1"/>
            <p:nvPr/>
          </p:nvSpPr>
          <p:spPr>
            <a:xfrm>
              <a:off x="0" y="435099"/>
              <a:ext cx="363415" cy="363415"/>
            </a:xfrm>
            <a:prstGeom prst="rect"/>
            <a:solidFill>
              <a:srgbClr val="01431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3" name="形状8"/>
            <p:cNvSpPr txBox="1"/>
            <p:nvPr/>
          </p:nvSpPr>
          <p:spPr>
            <a:xfrm>
              <a:off x="199298" y="658529"/>
              <a:ext cx="246183" cy="246183"/>
            </a:xfrm>
            <a:prstGeom prst="rect"/>
            <a:solidFill>
              <a:srgbClr val="01621F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4" name="文本9"/>
            <p:cNvSpPr txBox="1"/>
            <p:nvPr/>
          </p:nvSpPr>
          <p:spPr>
            <a:xfrm>
              <a:off x="558902" y="0"/>
              <a:ext cx="4427707" cy="743585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600"/>
                </a:lnSpc>
              </a:pPr>
              <a:r>
                <a:rPr lang="zh-CN" altLang="en-US" sz="30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一、互联网的创新发展</a:t>
              </a:r>
            </a:p>
          </p:txBody>
        </p:sp>
      </p:grpSp>
      <p:sp>
        <p:nvSpPr>
          <p:cNvPr id="25" name="文本3"/>
          <p:cNvSpPr txBox="1"/>
          <p:nvPr/>
        </p:nvSpPr>
        <p:spPr>
          <a:xfrm>
            <a:off x="316782" y="1935270"/>
            <a:ext cx="5741289" cy="58521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0" i="0" dirty="0">
                <a:solidFill>
                  <a:srgbClr val="000000">
                    <a:alpha val="100000"/>
                  </a:srgbClr>
                </a:solidFill>
                <a:latin typeface="华文新魏"/>
                <a:ea typeface="华文新魏"/>
              </a:rPr>
              <a:t>3、互联网发展历史中的重要事件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4" grpId="0" animBg="1"/>
      <p:bldP spid="17" grpId="0" animBg="1"/>
    </p:bldLst>
  </p:timing>
</p:sld>
</file>

<file path=ppt/slides/slide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8139430" y="109855"/>
            <a:ext cx="3810635" cy="680085"/>
            <a:chOff x="0" y="0"/>
            <a:chExt cx="3810635" cy="680085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380682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3"/>
            <p:cNvSpPr txBox="1"/>
            <p:nvPr/>
          </p:nvSpPr>
          <p:spPr>
            <a:xfrm>
              <a:off x="0" y="0"/>
              <a:ext cx="380682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1551311" y="2417668"/>
            <a:ext cx="9906494" cy="2114104"/>
          </a:xfrm>
          <a:prstGeom prst="rect">
            <a:avLst/>
          </a:prstGeom>
          <a:noFill/>
        </p:spPr>
        <p:txBody>
          <a:bodyPr anchor="t"/>
          <a:lstStyle/>
          <a:p>
            <a:pPr marL="-608400" algn="l">
              <a:lnSpc>
                <a:spcPts val="3600"/>
              </a:lnSpc>
              <a:buFont typeface="Arial"/>
              <a:buChar char=" "/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1987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年，相关科研机构建成我国第一个国际互联网电子邮件节点，揭开了中国人使用互联网的序幕；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1994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年，我国实现与国际互联网的全功能连接，成为真正拥有全功能互联网的国家。从此，互联网开始在我国迅猛发展。</a:t>
            </a:r>
          </a:p>
        </p:txBody>
      </p:sp>
      <p:grpSp>
        <p:nvGrpSpPr>
          <p:cNvPr id="6" name="组合2"/>
          <p:cNvGrpSpPr/>
          <p:nvPr/>
        </p:nvGrpSpPr>
        <p:grpSpPr>
          <a:xfrm>
            <a:off x="3216384" y="1030601"/>
            <a:ext cx="6306140" cy="904712"/>
            <a:chOff x="0" y="0"/>
            <a:chExt cx="6306140" cy="904712"/>
          </a:xfrm>
        </p:grpSpPr>
        <p:sp>
          <p:nvSpPr>
            <p:cNvPr id="7" name="形状2"/>
            <p:cNvSpPr txBox="1"/>
            <p:nvPr/>
          </p:nvSpPr>
          <p:spPr>
            <a:xfrm rot="10800000" flipH="1">
              <a:off x="562711" y="693696"/>
              <a:ext cx="5556738" cy="23447"/>
            </a:xfrm>
            <a:prstGeom prst="line"/>
            <a:solidFill>
              <a:srgbClr val="FFFFFF">
                <a:alpha val="0"/>
              </a:srgbClr>
            </a:solidFill>
            <a:ln w="12700">
              <a:solidFill>
                <a:srgbClr val="014E6A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4"/>
            <p:cNvSpPr txBox="1"/>
            <p:nvPr/>
          </p:nvSpPr>
          <p:spPr>
            <a:xfrm>
              <a:off x="558902" y="0"/>
              <a:ext cx="5747238" cy="744498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600"/>
                </a:lnSpc>
              </a:pPr>
              <a:r>
                <a:rPr lang="zh-CN" altLang="en-US" sz="30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二、互联网在我国的发展过程</a:t>
              </a:r>
            </a:p>
          </p:txBody>
        </p:sp>
        <p:sp>
          <p:nvSpPr>
            <p:cNvPr id="9" name="形状3"/>
            <p:cNvSpPr txBox="1"/>
            <p:nvPr/>
          </p:nvSpPr>
          <p:spPr>
            <a:xfrm>
              <a:off x="0" y="435099"/>
              <a:ext cx="363415" cy="363415"/>
            </a:xfrm>
            <a:prstGeom prst="rect"/>
            <a:solidFill>
              <a:srgbClr val="014E6A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形状4"/>
            <p:cNvSpPr txBox="1"/>
            <p:nvPr/>
          </p:nvSpPr>
          <p:spPr>
            <a:xfrm>
              <a:off x="199298" y="658529"/>
              <a:ext cx="246183" cy="246183"/>
            </a:xfrm>
            <a:prstGeom prst="rect"/>
            <a:solidFill>
              <a:srgbClr val="1784A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11" name="文本2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学习内容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1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7816215" y="109855"/>
            <a:ext cx="4133850" cy="680085"/>
            <a:chOff x="0" y="0"/>
            <a:chExt cx="4133850" cy="680085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4130040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6"/>
            <p:cNvSpPr txBox="1"/>
            <p:nvPr/>
          </p:nvSpPr>
          <p:spPr>
            <a:xfrm>
              <a:off x="0" y="0"/>
              <a:ext cx="4130040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1106978" y="2037734"/>
            <a:ext cx="10290464" cy="1142684"/>
          </a:xfrm>
          <a:prstGeom prst="rect">
            <a:avLst/>
          </a:prstGeom>
          <a:noFill/>
        </p:spPr>
        <p:txBody>
          <a:bodyPr anchor="t"/>
          <a:lstStyle/>
          <a:p>
            <a:pPr marL="-608330" algn="l">
              <a:lnSpc>
                <a:spcPts val="3600"/>
              </a:lnSpc>
              <a:buFont typeface="Arial"/>
              <a:buChar char=" "/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搜索、阅读有关我国互联网发展情况的资料，选取你觉得重要的三个关键点填入下图，并谈一谈你选择的理由。</a:t>
            </a:r>
          </a:p>
        </p:txBody>
      </p:sp>
      <p:pic>
        <p:nvPicPr>
          <p:cNvPr id="6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347" y="3543171"/>
            <a:ext cx="6191884" cy="2483121"/>
          </a:xfrm>
          <a:prstGeom prst="rect">
            <a:avLst/>
          </a:prstGeom>
          <a:ln w="9525">
            <a:solidFill>
              <a:srgbClr val="D0CECE">
                <a:alpha val="100000"/>
              </a:srgbClr>
            </a:solidFill>
            <a:prstDash val="solid"/>
          </a:ln>
        </p:spPr>
      </p:pic>
      <p:sp>
        <p:nvSpPr>
          <p:cNvPr id="7" name="文本2"/>
          <p:cNvSpPr txBox="1"/>
          <p:nvPr/>
        </p:nvSpPr>
        <p:spPr>
          <a:xfrm>
            <a:off x="2957039" y="4542198"/>
            <a:ext cx="3093720" cy="45211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1300"/>
              </a:lnSpc>
            </a:pPr>
            <a:r>
              <a:rPr lang="zh-CN" altLang="en-US" sz="1099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1995</a:t>
            </a:r>
            <a:r>
              <a:rPr lang="zh-CN" altLang="en-US" sz="1099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年，国家向社会提供互联网接入服务</a:t>
            </a:r>
          </a:p>
        </p:txBody>
      </p:sp>
      <p:sp>
        <p:nvSpPr>
          <p:cNvPr id="8" name="文本3"/>
          <p:cNvSpPr txBox="1"/>
          <p:nvPr/>
        </p:nvSpPr>
        <p:spPr>
          <a:xfrm>
            <a:off x="2986185" y="5375348"/>
            <a:ext cx="3455035" cy="45211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1300"/>
              </a:lnSpc>
            </a:pPr>
            <a:r>
              <a:rPr lang="zh-CN" altLang="en-US" sz="1099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2013</a:t>
            </a:r>
            <a:r>
              <a:rPr lang="zh-CN" altLang="en-US" sz="1099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年，我国成为全球最大网络零售市场</a:t>
            </a:r>
          </a:p>
        </p:txBody>
      </p:sp>
      <p:sp>
        <p:nvSpPr>
          <p:cNvPr id="9" name="文本4"/>
          <p:cNvSpPr txBox="1"/>
          <p:nvPr/>
        </p:nvSpPr>
        <p:spPr>
          <a:xfrm>
            <a:off x="6549945" y="4916563"/>
            <a:ext cx="3651711" cy="452110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1300"/>
              </a:lnSpc>
            </a:pPr>
            <a:r>
              <a:rPr lang="zh-CN" altLang="en-US" sz="1099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2008</a:t>
            </a:r>
            <a:r>
              <a:rPr lang="zh-CN" altLang="en-US" sz="1099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年，网民规模达</a:t>
            </a:r>
            <a:r>
              <a:rPr lang="zh-CN" altLang="en-US" sz="1099" b="0" i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</a:rPr>
              <a:t>2.53</a:t>
            </a:r>
            <a:r>
              <a:rPr lang="zh-CN" altLang="en-US" sz="1099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亿人，世界第一</a:t>
            </a:r>
          </a:p>
        </p:txBody>
      </p:sp>
      <p:sp>
        <p:nvSpPr>
          <p:cNvPr id="10" name="文本5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学习内容</a:t>
            </a:r>
          </a:p>
        </p:txBody>
      </p:sp>
      <p:grpSp>
        <p:nvGrpSpPr>
          <p:cNvPr id="11" name="组合2"/>
          <p:cNvGrpSpPr/>
          <p:nvPr/>
        </p:nvGrpSpPr>
        <p:grpSpPr>
          <a:xfrm>
            <a:off x="3216384" y="1030601"/>
            <a:ext cx="6306140" cy="904712"/>
            <a:chOff x="0" y="0"/>
            <a:chExt cx="6306140" cy="904712"/>
          </a:xfrm>
        </p:grpSpPr>
        <p:sp>
          <p:nvSpPr>
            <p:cNvPr id="12" name="形状2"/>
            <p:cNvSpPr txBox="1"/>
            <p:nvPr/>
          </p:nvSpPr>
          <p:spPr>
            <a:xfrm rot="10800000" flipH="1">
              <a:off x="562711" y="693696"/>
              <a:ext cx="5556738" cy="23447"/>
            </a:xfrm>
            <a:prstGeom prst="line"/>
            <a:solidFill>
              <a:srgbClr val="FFFFFF">
                <a:alpha val="0"/>
              </a:srgbClr>
            </a:solidFill>
            <a:ln w="12700">
              <a:solidFill>
                <a:srgbClr val="014E6A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文本7"/>
            <p:cNvSpPr txBox="1"/>
            <p:nvPr/>
          </p:nvSpPr>
          <p:spPr>
            <a:xfrm>
              <a:off x="558902" y="0"/>
              <a:ext cx="5747238" cy="744498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600"/>
                </a:lnSpc>
              </a:pPr>
              <a:r>
                <a:rPr lang="zh-CN" altLang="en-US" sz="30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二、互联网在我国的发展过程</a:t>
              </a:r>
            </a:p>
          </p:txBody>
        </p:sp>
        <p:sp>
          <p:nvSpPr>
            <p:cNvPr id="14" name="形状3"/>
            <p:cNvSpPr txBox="1"/>
            <p:nvPr/>
          </p:nvSpPr>
          <p:spPr>
            <a:xfrm>
              <a:off x="0" y="435099"/>
              <a:ext cx="363415" cy="363415"/>
            </a:xfrm>
            <a:prstGeom prst="rect"/>
            <a:solidFill>
              <a:srgbClr val="014E6A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5" name="形状4"/>
            <p:cNvSpPr txBox="1"/>
            <p:nvPr/>
          </p:nvSpPr>
          <p:spPr>
            <a:xfrm>
              <a:off x="199298" y="658529"/>
              <a:ext cx="246183" cy="246183"/>
            </a:xfrm>
            <a:prstGeom prst="rect"/>
            <a:solidFill>
              <a:srgbClr val="1784A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8" grpId="0" animBg="1"/>
    </p:bldLst>
  </p:timing>
</p:sld>
</file>

<file path=ppt/slides/slide1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8139430" y="109855"/>
            <a:ext cx="3810635" cy="680085"/>
            <a:chOff x="0" y="0"/>
            <a:chExt cx="3810635" cy="680085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380682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2"/>
            <p:cNvSpPr txBox="1"/>
            <p:nvPr/>
          </p:nvSpPr>
          <p:spPr>
            <a:xfrm>
              <a:off x="0" y="0"/>
              <a:ext cx="380682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grpSp>
        <p:nvGrpSpPr>
          <p:cNvPr id="5" name="组合2"/>
          <p:cNvGrpSpPr/>
          <p:nvPr/>
        </p:nvGrpSpPr>
        <p:grpSpPr>
          <a:xfrm>
            <a:off x="-789747" y="1889302"/>
            <a:ext cx="10219697" cy="4340688"/>
            <a:chOff x="0" y="0"/>
            <a:chExt cx="10219697" cy="4340688"/>
          </a:xfrm>
        </p:grpSpPr>
        <p:sp>
          <p:nvSpPr>
            <p:cNvPr id="6" name="形状2"/>
            <p:cNvSpPr txBox="1"/>
            <p:nvPr/>
          </p:nvSpPr>
          <p:spPr>
            <a:xfrm>
              <a:off x="3641308" y="559522"/>
              <a:ext cx="6322127" cy="3221643"/>
            </a:xfrm>
            <a:prstGeom prst="rect"/>
            <a:ln w="9525"/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7" name="形状3"/>
            <p:cNvSpPr txBox="1"/>
            <p:nvPr/>
          </p:nvSpPr>
          <p:spPr>
            <a:xfrm>
              <a:off x="0" y="0"/>
              <a:ext cx="4340688" cy="4340688"/>
            </a:xfrm>
            <a:prstGeom prst="blockArc"/>
            <a:solidFill>
              <a:srgbClr val="FFFFFF">
                <a:alpha val="0"/>
              </a:srgbClr>
            </a:solidFill>
            <a:ln w="12700">
              <a:solidFill>
                <a:srgbClr val="4478A6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形状8"/>
            <p:cNvSpPr txBox="1"/>
            <p:nvPr/>
          </p:nvSpPr>
          <p:spPr>
            <a:xfrm>
              <a:off x="4007929" y="807201"/>
              <a:ext cx="5913622" cy="495617"/>
            </a:xfrm>
            <a:prstGeom prst="rect"/>
            <a:solidFill>
              <a:srgbClr val="5898D2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9" name="文本3"/>
            <p:cNvSpPr txBox="1"/>
            <p:nvPr/>
          </p:nvSpPr>
          <p:spPr>
            <a:xfrm>
              <a:off x="4306075" y="760112"/>
              <a:ext cx="5913622" cy="521214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600"/>
                </a:lnSpc>
              </a:pPr>
              <a:r>
                <a:rPr lang="zh-CN" altLang="en-US" sz="24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建成最大的网络实体</a:t>
              </a:r>
            </a:p>
          </p:txBody>
        </p:sp>
        <p:sp>
          <p:nvSpPr>
            <p:cNvPr id="10" name="形状4"/>
            <p:cNvSpPr txBox="1"/>
            <p:nvPr/>
          </p:nvSpPr>
          <p:spPr>
            <a:xfrm>
              <a:off x="3698168" y="745249"/>
              <a:ext cx="619521" cy="619521"/>
            </a:xfrm>
            <a:prstGeom prst="ellipse"/>
            <a:solidFill>
              <a:srgbClr val="FFFFFF">
                <a:alpha val="100000"/>
              </a:srgbClr>
            </a:solidFill>
            <a:ln w="12700">
              <a:solidFill>
                <a:srgbClr val="5898D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1" name="形状9"/>
            <p:cNvSpPr txBox="1"/>
            <p:nvPr/>
          </p:nvSpPr>
          <p:spPr>
            <a:xfrm>
              <a:off x="4292078" y="1550757"/>
              <a:ext cx="5629473" cy="495617"/>
            </a:xfrm>
            <a:prstGeom prst="rect"/>
            <a:solidFill>
              <a:srgbClr val="5898D2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2" name="文本4"/>
            <p:cNvSpPr txBox="1"/>
            <p:nvPr/>
          </p:nvSpPr>
          <p:spPr>
            <a:xfrm>
              <a:off x="4590224" y="1503668"/>
              <a:ext cx="5629473" cy="521214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600"/>
                </a:lnSpc>
              </a:pPr>
              <a:r>
                <a:rPr lang="zh-CN" altLang="en-US" sz="24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“互联网+”应用成果显著</a:t>
              </a:r>
            </a:p>
          </p:txBody>
        </p:sp>
        <p:sp>
          <p:nvSpPr>
            <p:cNvPr id="13" name="形状5"/>
            <p:cNvSpPr txBox="1"/>
            <p:nvPr/>
          </p:nvSpPr>
          <p:spPr>
            <a:xfrm>
              <a:off x="3982317" y="1488804"/>
              <a:ext cx="619521" cy="619521"/>
            </a:xfrm>
            <a:prstGeom prst="ellipse"/>
            <a:solidFill>
              <a:srgbClr val="FFFFFF">
                <a:alpha val="100000"/>
              </a:srgbClr>
            </a:solidFill>
            <a:ln w="12700">
              <a:solidFill>
                <a:srgbClr val="5898D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4" name="形状10"/>
            <p:cNvSpPr txBox="1"/>
            <p:nvPr/>
          </p:nvSpPr>
          <p:spPr>
            <a:xfrm>
              <a:off x="4292078" y="2294312"/>
              <a:ext cx="5629473" cy="495617"/>
            </a:xfrm>
            <a:prstGeom prst="rect"/>
            <a:solidFill>
              <a:srgbClr val="5898D2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5" name="文本5"/>
            <p:cNvSpPr txBox="1"/>
            <p:nvPr/>
          </p:nvSpPr>
          <p:spPr>
            <a:xfrm>
              <a:off x="4590224" y="2247223"/>
              <a:ext cx="5629473" cy="521214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600"/>
                </a:lnSpc>
              </a:pPr>
              <a:r>
                <a:rPr lang="zh-CN" altLang="en-US" sz="24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第五代移动通信技术研发、应用领先</a:t>
              </a:r>
            </a:p>
          </p:txBody>
        </p:sp>
        <p:sp>
          <p:nvSpPr>
            <p:cNvPr id="16" name="形状6"/>
            <p:cNvSpPr txBox="1"/>
            <p:nvPr/>
          </p:nvSpPr>
          <p:spPr>
            <a:xfrm>
              <a:off x="3982317" y="2232360"/>
              <a:ext cx="619521" cy="619521"/>
            </a:xfrm>
            <a:prstGeom prst="ellipse"/>
            <a:solidFill>
              <a:srgbClr val="FFFFFF">
                <a:alpha val="100000"/>
              </a:srgbClr>
            </a:solidFill>
            <a:ln w="12700">
              <a:solidFill>
                <a:srgbClr val="5898D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7" name="形状11"/>
            <p:cNvSpPr txBox="1"/>
            <p:nvPr/>
          </p:nvSpPr>
          <p:spPr>
            <a:xfrm>
              <a:off x="4007929" y="3037867"/>
              <a:ext cx="5913622" cy="495617"/>
            </a:xfrm>
            <a:prstGeom prst="rect"/>
            <a:solidFill>
              <a:srgbClr val="5898D2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8" name="文本6"/>
            <p:cNvSpPr txBox="1"/>
            <p:nvPr/>
          </p:nvSpPr>
          <p:spPr>
            <a:xfrm>
              <a:off x="4306075" y="2990778"/>
              <a:ext cx="5913622" cy="521214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600"/>
                </a:lnSpc>
              </a:pPr>
              <a:r>
                <a:rPr lang="zh-CN" altLang="en-US" sz="2400" b="0" i="0" dirty="0">
                  <a:solidFill>
                    <a:srgbClr val="FFFFFF">
                      <a:alpha val="100000"/>
                    </a:srgbClr>
                  </a:solidFill>
                  <a:latin typeface="楷体"/>
                  <a:ea typeface="楷体"/>
                </a:rPr>
                <a:t>建成北斗卫星导航系统</a:t>
              </a:r>
            </a:p>
          </p:txBody>
        </p:sp>
        <p:sp>
          <p:nvSpPr>
            <p:cNvPr id="19" name="形状7"/>
            <p:cNvSpPr txBox="1"/>
            <p:nvPr/>
          </p:nvSpPr>
          <p:spPr>
            <a:xfrm>
              <a:off x="3698168" y="2975915"/>
              <a:ext cx="619521" cy="619521"/>
            </a:xfrm>
            <a:prstGeom prst="ellipse"/>
            <a:solidFill>
              <a:srgbClr val="FFFFFF">
                <a:alpha val="100000"/>
              </a:srgbClr>
            </a:solidFill>
            <a:ln w="12700">
              <a:solidFill>
                <a:srgbClr val="5898D2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20" name="文本1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学习内容</a:t>
            </a:r>
          </a:p>
        </p:txBody>
      </p:sp>
      <p:grpSp>
        <p:nvGrpSpPr>
          <p:cNvPr id="21" name="组合3"/>
          <p:cNvGrpSpPr/>
          <p:nvPr/>
        </p:nvGrpSpPr>
        <p:grpSpPr>
          <a:xfrm>
            <a:off x="2815795" y="1030458"/>
            <a:ext cx="6672179" cy="890521"/>
            <a:chOff x="0" y="0"/>
            <a:chExt cx="6672179" cy="890521"/>
          </a:xfrm>
        </p:grpSpPr>
        <p:sp>
          <p:nvSpPr>
            <p:cNvPr id="22" name="形状12"/>
            <p:cNvSpPr txBox="1"/>
            <p:nvPr/>
          </p:nvSpPr>
          <p:spPr>
            <a:xfrm flipH="1">
              <a:off x="537492" y="718557"/>
              <a:ext cx="5947997" cy="12700"/>
            </a:xfrm>
            <a:prstGeom prst="line"/>
            <a:solidFill>
              <a:srgbClr val="FFFFFF">
                <a:alpha val="0"/>
              </a:srgbClr>
            </a:solidFill>
            <a:ln w="12700">
              <a:solidFill>
                <a:srgbClr val="711000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3" name="文本7"/>
            <p:cNvSpPr txBox="1"/>
            <p:nvPr/>
          </p:nvSpPr>
          <p:spPr>
            <a:xfrm>
              <a:off x="533682" y="0"/>
              <a:ext cx="6138497" cy="744498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600"/>
                </a:lnSpc>
              </a:pPr>
              <a:r>
                <a:rPr lang="zh-CN" altLang="en-US" sz="30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三、我国的互联网建设与创新成就</a:t>
              </a:r>
            </a:p>
          </p:txBody>
        </p:sp>
        <p:sp>
          <p:nvSpPr>
            <p:cNvPr id="24" name="形状13"/>
            <p:cNvSpPr txBox="1"/>
            <p:nvPr/>
          </p:nvSpPr>
          <p:spPr>
            <a:xfrm>
              <a:off x="0" y="420908"/>
              <a:ext cx="364197" cy="363415"/>
            </a:xfrm>
            <a:prstGeom prst="rect"/>
            <a:solidFill>
              <a:srgbClr val="71100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5" name="形状14"/>
            <p:cNvSpPr txBox="1"/>
            <p:nvPr/>
          </p:nvSpPr>
          <p:spPr>
            <a:xfrm>
              <a:off x="199727" y="644338"/>
              <a:ext cx="246713" cy="246183"/>
            </a:xfrm>
            <a:prstGeom prst="rect"/>
            <a:solidFill>
              <a:srgbClr val="AE020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1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8139430" y="109855"/>
            <a:ext cx="3810635" cy="680085"/>
            <a:chOff x="0" y="0"/>
            <a:chExt cx="3810635" cy="680085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380682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3"/>
            <p:cNvSpPr txBox="1"/>
            <p:nvPr/>
          </p:nvSpPr>
          <p:spPr>
            <a:xfrm>
              <a:off x="0" y="0"/>
              <a:ext cx="380682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1153599" y="2334719"/>
            <a:ext cx="10373037" cy="2572178"/>
          </a:xfrm>
          <a:prstGeom prst="rect">
            <a:avLst/>
          </a:prstGeom>
          <a:noFill/>
        </p:spPr>
        <p:txBody>
          <a:bodyPr anchor="t"/>
          <a:lstStyle/>
          <a:p>
            <a:pPr marL="-608400" algn="l">
              <a:lnSpc>
                <a:spcPts val="3600"/>
              </a:lnSpc>
              <a:buFont typeface="Arial"/>
              <a:buChar char=" "/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我国互联网和信息化工作取得了显著发展成就，网络走入千家万户，</a:t>
            </a:r>
            <a:r>
              <a:rPr lang="zh-CN" altLang="en-US" sz="2400" b="0" i="0" dirty="0">
                <a:solidFill>
                  <a:srgbClr val="FF0000">
                    <a:alpha val="100000"/>
                  </a:srgbClr>
                </a:solidFill>
                <a:latin typeface="楷体"/>
                <a:ea typeface="楷体"/>
              </a:rPr>
              <a:t>网民数量世界第一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，我国已成为</a:t>
            </a:r>
            <a:r>
              <a:rPr lang="zh-CN" altLang="en-US" sz="2400" b="0" i="0" dirty="0">
                <a:solidFill>
                  <a:srgbClr val="FF0000">
                    <a:alpha val="100000"/>
                  </a:srgbClr>
                </a:solidFill>
                <a:latin typeface="楷体"/>
                <a:ea typeface="楷体"/>
              </a:rPr>
              <a:t>网络大国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。网络安全和信息化是事关国家安全和国家发展、事关广大人民群众工作生活的重大战略问题，要从国际国内大势出发，总体布局，统筹各方，创新发展，努力把我国建设成为</a:t>
            </a:r>
            <a:r>
              <a:rPr lang="zh-CN" altLang="en-US" sz="2400" b="0" i="0" dirty="0">
                <a:solidFill>
                  <a:srgbClr val="FF0000">
                    <a:alpha val="100000"/>
                  </a:srgbClr>
                </a:solidFill>
                <a:latin typeface="楷体"/>
                <a:ea typeface="楷体"/>
              </a:rPr>
              <a:t>网络强国</a:t>
            </a: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。</a:t>
            </a:r>
          </a:p>
        </p:txBody>
      </p:sp>
      <p:sp>
        <p:nvSpPr>
          <p:cNvPr id="6" name="文本2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学习内容</a:t>
            </a:r>
          </a:p>
        </p:txBody>
      </p:sp>
      <p:grpSp>
        <p:nvGrpSpPr>
          <p:cNvPr id="7" name="组合2"/>
          <p:cNvGrpSpPr/>
          <p:nvPr/>
        </p:nvGrpSpPr>
        <p:grpSpPr>
          <a:xfrm>
            <a:off x="2815795" y="1030458"/>
            <a:ext cx="6672179" cy="890521"/>
            <a:chOff x="0" y="0"/>
            <a:chExt cx="6672179" cy="890521"/>
          </a:xfrm>
        </p:grpSpPr>
        <p:sp>
          <p:nvSpPr>
            <p:cNvPr id="8" name="形状2"/>
            <p:cNvSpPr txBox="1"/>
            <p:nvPr/>
          </p:nvSpPr>
          <p:spPr>
            <a:xfrm flipH="1">
              <a:off x="537492" y="718557"/>
              <a:ext cx="5947997" cy="12700"/>
            </a:xfrm>
            <a:prstGeom prst="line"/>
            <a:solidFill>
              <a:srgbClr val="FFFFFF">
                <a:alpha val="0"/>
              </a:srgbClr>
            </a:solidFill>
            <a:ln w="12700">
              <a:solidFill>
                <a:srgbClr val="711000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9" name="文本4"/>
            <p:cNvSpPr txBox="1"/>
            <p:nvPr/>
          </p:nvSpPr>
          <p:spPr>
            <a:xfrm>
              <a:off x="533682" y="0"/>
              <a:ext cx="6138497" cy="744498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600"/>
                </a:lnSpc>
              </a:pPr>
              <a:r>
                <a:rPr lang="zh-CN" altLang="en-US" sz="30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三、我国的互联网建设与创新成就</a:t>
              </a:r>
            </a:p>
          </p:txBody>
        </p:sp>
        <p:sp>
          <p:nvSpPr>
            <p:cNvPr id="10" name="形状3"/>
            <p:cNvSpPr txBox="1"/>
            <p:nvPr/>
          </p:nvSpPr>
          <p:spPr>
            <a:xfrm>
              <a:off x="0" y="420908"/>
              <a:ext cx="364197" cy="363415"/>
            </a:xfrm>
            <a:prstGeom prst="rect"/>
            <a:solidFill>
              <a:srgbClr val="71100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1" name="形状4"/>
            <p:cNvSpPr txBox="1"/>
            <p:nvPr/>
          </p:nvSpPr>
          <p:spPr>
            <a:xfrm>
              <a:off x="199727" y="644338"/>
              <a:ext cx="246713" cy="246183"/>
            </a:xfrm>
            <a:prstGeom prst="rect"/>
            <a:solidFill>
              <a:srgbClr val="AE020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8139430" y="109855"/>
            <a:ext cx="3810635" cy="680085"/>
            <a:chOff x="0" y="0"/>
            <a:chExt cx="3810635" cy="680085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380682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2"/>
            <p:cNvSpPr txBox="1"/>
            <p:nvPr/>
          </p:nvSpPr>
          <p:spPr>
            <a:xfrm>
              <a:off x="0" y="0"/>
              <a:ext cx="380682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学习内容</a:t>
            </a:r>
          </a:p>
        </p:txBody>
      </p:sp>
      <p:grpSp>
        <p:nvGrpSpPr>
          <p:cNvPr id="6" name="组合2"/>
          <p:cNvGrpSpPr/>
          <p:nvPr/>
        </p:nvGrpSpPr>
        <p:grpSpPr>
          <a:xfrm>
            <a:off x="2815795" y="1030458"/>
            <a:ext cx="6672179" cy="890521"/>
            <a:chOff x="0" y="0"/>
            <a:chExt cx="6672179" cy="890521"/>
          </a:xfrm>
        </p:grpSpPr>
        <p:sp>
          <p:nvSpPr>
            <p:cNvPr id="7" name="形状2"/>
            <p:cNvSpPr txBox="1"/>
            <p:nvPr/>
          </p:nvSpPr>
          <p:spPr>
            <a:xfrm flipH="1">
              <a:off x="537492" y="718557"/>
              <a:ext cx="5947997" cy="12700"/>
            </a:xfrm>
            <a:prstGeom prst="line"/>
            <a:solidFill>
              <a:srgbClr val="FFFFFF">
                <a:alpha val="0"/>
              </a:srgbClr>
            </a:solidFill>
            <a:ln w="12700">
              <a:solidFill>
                <a:srgbClr val="711000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3"/>
            <p:cNvSpPr txBox="1"/>
            <p:nvPr/>
          </p:nvSpPr>
          <p:spPr>
            <a:xfrm>
              <a:off x="533682" y="0"/>
              <a:ext cx="6138497" cy="744498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600"/>
                </a:lnSpc>
              </a:pPr>
              <a:r>
                <a:rPr lang="zh-CN" altLang="en-US" sz="30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三、我国的互联网建设与创新成就</a:t>
              </a:r>
            </a:p>
          </p:txBody>
        </p:sp>
        <p:sp>
          <p:nvSpPr>
            <p:cNvPr id="9" name="形状3"/>
            <p:cNvSpPr txBox="1"/>
            <p:nvPr/>
          </p:nvSpPr>
          <p:spPr>
            <a:xfrm>
              <a:off x="0" y="420908"/>
              <a:ext cx="364197" cy="363415"/>
            </a:xfrm>
            <a:prstGeom prst="rect"/>
            <a:solidFill>
              <a:srgbClr val="71100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形状4"/>
            <p:cNvSpPr txBox="1"/>
            <p:nvPr/>
          </p:nvSpPr>
          <p:spPr>
            <a:xfrm>
              <a:off x="199727" y="644338"/>
              <a:ext cx="246713" cy="246183"/>
            </a:xfrm>
            <a:prstGeom prst="rect"/>
            <a:solidFill>
              <a:srgbClr val="AE020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</p:grpSp>
      <p:grpSp>
        <p:nvGrpSpPr>
          <p:cNvPr id="11" name="组合3"/>
          <p:cNvGrpSpPr/>
          <p:nvPr/>
        </p:nvGrpSpPr>
        <p:grpSpPr>
          <a:xfrm>
            <a:off x="1024648" y="2067045"/>
            <a:ext cx="10412263" cy="3871996"/>
            <a:chOff x="0" y="0"/>
            <a:chExt cx="10412263" cy="3871996"/>
          </a:xfrm>
        </p:grpSpPr>
        <p:sp>
          <p:nvSpPr>
            <p:cNvPr id="12" name="形状5"/>
            <p:cNvSpPr txBox="1"/>
            <p:nvPr/>
          </p:nvSpPr>
          <p:spPr>
            <a:xfrm>
              <a:off x="0" y="261964"/>
              <a:ext cx="10382654" cy="3447127"/>
            </a:xfrm>
            <a:prstGeom prst="roundRect"/>
            <a:solidFill>
              <a:srgbClr val="DDEAF6">
                <a:alpha val="100000"/>
              </a:srgbClr>
            </a:solidFill>
            <a:ln w="12700">
              <a:solidFill>
                <a:srgbClr val="2E75B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文本5"/>
            <p:cNvSpPr txBox="1"/>
            <p:nvPr/>
          </p:nvSpPr>
          <p:spPr>
            <a:xfrm>
              <a:off x="29609" y="0"/>
              <a:ext cx="10382654" cy="3871996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3600"/>
                </a:lnSpc>
              </a:pP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/>
              </a:r>
            </a:p>
            <a:p>
              <a:pPr marL="0" algn="l">
                <a:lnSpc>
                  <a:spcPts val="3600"/>
                </a:lnSpc>
              </a:pP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/>
              </a:r>
            </a:p>
            <a:p>
              <a:pPr marL="0" algn="l">
                <a:lnSpc>
                  <a:spcPts val="3600"/>
                </a:lnSpc>
              </a:pP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        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据统计，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2008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年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6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月我国网民规模达到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2.53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亿人，位居世界第一。截至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2023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年底，我国网民规模达到了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10.92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亿人。</a:t>
              </a:r>
            </a:p>
            <a:p>
              <a:pPr marL="0" algn="l">
                <a:lnSpc>
                  <a:spcPts val="3600"/>
                </a:lnSpc>
              </a:pP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        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与之相应，我国信息技术产业的发展也非常迅猛。目前，世界互联网企业前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10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强中，我国占了近半数。可以说，我国已经成为名副其实的网络大国，正在努力向网络强国迈进。</a:t>
              </a:r>
            </a:p>
            <a:p>
              <a:pPr marL="0" algn="l">
                <a:lnSpc>
                  <a:spcPts val="3600"/>
                </a:lnSpc>
              </a:pPr>
            </a:p>
          </p:txBody>
        </p:sp>
        <p:sp>
          <p:nvSpPr>
            <p:cNvPr id="14" name="文本4"/>
            <p:cNvSpPr txBox="1"/>
            <p:nvPr/>
          </p:nvSpPr>
          <p:spPr>
            <a:xfrm>
              <a:off x="3220063" y="403088"/>
              <a:ext cx="3526107" cy="652167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C0C0C">
                      <a:alpha val="100000"/>
                    </a:srgbClr>
                  </a:solidFill>
                  <a:latin typeface="黑体"/>
                  <a:ea typeface="黑体"/>
                </a:rPr>
                <a:t>1、建成最大的网络实体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8139430" y="109855"/>
            <a:ext cx="3810635" cy="680085"/>
            <a:chOff x="0" y="0"/>
            <a:chExt cx="3810635" cy="680085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380682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2"/>
            <p:cNvSpPr txBox="1"/>
            <p:nvPr/>
          </p:nvSpPr>
          <p:spPr>
            <a:xfrm>
              <a:off x="0" y="0"/>
              <a:ext cx="380682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pic>
        <p:nvPicPr>
          <p:cNvPr id="5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22" y="2614307"/>
            <a:ext cx="6612324" cy="3038095"/>
          </a:xfrm>
          <a:prstGeom prst="rect">
            <a:avLst/>
          </a:prstGeom>
        </p:spPr>
      </p:pic>
      <p:pic>
        <p:nvPicPr>
          <p:cNvPr id="6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3855" y="3081655"/>
            <a:ext cx="1894641" cy="2905969"/>
          </a:xfrm>
          <a:prstGeom prst="rect">
            <a:avLst/>
          </a:prstGeom>
        </p:spPr>
      </p:pic>
      <p:grpSp>
        <p:nvGrpSpPr>
          <p:cNvPr id="7" name="组合2"/>
          <p:cNvGrpSpPr/>
          <p:nvPr/>
        </p:nvGrpSpPr>
        <p:grpSpPr>
          <a:xfrm>
            <a:off x="7989717" y="2203570"/>
            <a:ext cx="2621915" cy="878085"/>
            <a:chOff x="0" y="0"/>
            <a:chExt cx="2621915" cy="878085"/>
          </a:xfrm>
        </p:grpSpPr>
        <p:sp>
          <p:nvSpPr>
            <p:cNvPr id="8" name="形状2"/>
            <p:cNvSpPr txBox="1"/>
            <p:nvPr/>
          </p:nvSpPr>
          <p:spPr>
            <a:xfrm>
              <a:off x="0" y="23716"/>
              <a:ext cx="2621915" cy="854369"/>
            </a:xfrm>
            <a:prstGeom prst="wedgeRoundRectCallout"/>
            <a:solidFill>
              <a:srgbClr val="D8E2F3">
                <a:alpha val="100000"/>
              </a:srgbClr>
            </a:solidFill>
            <a:ln w="12700">
              <a:solidFill>
                <a:srgbClr val="5B9BD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9" name="文本3"/>
            <p:cNvSpPr txBox="1"/>
            <p:nvPr/>
          </p:nvSpPr>
          <p:spPr>
            <a:xfrm>
              <a:off x="37897" y="0"/>
              <a:ext cx="2538501" cy="802742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400"/>
                </a:lnSpc>
              </a:pP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观察图表，可以得到什么信息？</a:t>
              </a:r>
            </a:p>
          </p:txBody>
        </p:sp>
      </p:grpSp>
      <p:sp>
        <p:nvSpPr>
          <p:cNvPr id="10" name="文本1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学习内容</a:t>
            </a:r>
          </a:p>
        </p:txBody>
      </p:sp>
      <p:grpSp>
        <p:nvGrpSpPr>
          <p:cNvPr id="11" name="组合3"/>
          <p:cNvGrpSpPr/>
          <p:nvPr/>
        </p:nvGrpSpPr>
        <p:grpSpPr>
          <a:xfrm>
            <a:off x="2815795" y="1030458"/>
            <a:ext cx="6672179" cy="890521"/>
            <a:chOff x="0" y="0"/>
            <a:chExt cx="6672179" cy="890521"/>
          </a:xfrm>
        </p:grpSpPr>
        <p:sp>
          <p:nvSpPr>
            <p:cNvPr id="12" name="形状3"/>
            <p:cNvSpPr txBox="1"/>
            <p:nvPr/>
          </p:nvSpPr>
          <p:spPr>
            <a:xfrm flipH="1">
              <a:off x="537492" y="718557"/>
              <a:ext cx="5947997" cy="12700"/>
            </a:xfrm>
            <a:prstGeom prst="line"/>
            <a:solidFill>
              <a:srgbClr val="FFFFFF">
                <a:alpha val="0"/>
              </a:srgbClr>
            </a:solidFill>
            <a:ln w="12700">
              <a:solidFill>
                <a:srgbClr val="711000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文本4"/>
            <p:cNvSpPr txBox="1"/>
            <p:nvPr/>
          </p:nvSpPr>
          <p:spPr>
            <a:xfrm>
              <a:off x="533682" y="0"/>
              <a:ext cx="6138497" cy="744498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600"/>
                </a:lnSpc>
              </a:pPr>
              <a:r>
                <a:rPr lang="zh-CN" altLang="en-US" sz="30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三、我国的互联网建设与创新成就</a:t>
              </a:r>
            </a:p>
          </p:txBody>
        </p:sp>
        <p:sp>
          <p:nvSpPr>
            <p:cNvPr id="14" name="形状4"/>
            <p:cNvSpPr txBox="1"/>
            <p:nvPr/>
          </p:nvSpPr>
          <p:spPr>
            <a:xfrm>
              <a:off x="0" y="420908"/>
              <a:ext cx="364197" cy="363415"/>
            </a:xfrm>
            <a:prstGeom prst="rect"/>
            <a:solidFill>
              <a:srgbClr val="71100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5" name="形状5"/>
            <p:cNvSpPr txBox="1"/>
            <p:nvPr/>
          </p:nvSpPr>
          <p:spPr>
            <a:xfrm>
              <a:off x="199727" y="644338"/>
              <a:ext cx="246713" cy="246183"/>
            </a:xfrm>
            <a:prstGeom prst="rect"/>
            <a:solidFill>
              <a:srgbClr val="AE020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8139430" y="109855"/>
            <a:ext cx="3810635" cy="680085"/>
            <a:chOff x="0" y="0"/>
            <a:chExt cx="3810635" cy="680085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380682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2"/>
            <p:cNvSpPr txBox="1"/>
            <p:nvPr/>
          </p:nvSpPr>
          <p:spPr>
            <a:xfrm>
              <a:off x="0" y="0"/>
              <a:ext cx="380682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学习内容</a:t>
            </a:r>
          </a:p>
        </p:txBody>
      </p:sp>
      <p:grpSp>
        <p:nvGrpSpPr>
          <p:cNvPr id="6" name="组合2"/>
          <p:cNvGrpSpPr/>
          <p:nvPr/>
        </p:nvGrpSpPr>
        <p:grpSpPr>
          <a:xfrm>
            <a:off x="2815795" y="1030458"/>
            <a:ext cx="6672179" cy="890521"/>
            <a:chOff x="0" y="0"/>
            <a:chExt cx="6672179" cy="890521"/>
          </a:xfrm>
        </p:grpSpPr>
        <p:sp>
          <p:nvSpPr>
            <p:cNvPr id="7" name="形状2"/>
            <p:cNvSpPr txBox="1"/>
            <p:nvPr/>
          </p:nvSpPr>
          <p:spPr>
            <a:xfrm flipH="1">
              <a:off x="537492" y="718557"/>
              <a:ext cx="5947997" cy="12700"/>
            </a:xfrm>
            <a:prstGeom prst="line"/>
            <a:solidFill>
              <a:srgbClr val="FFFFFF">
                <a:alpha val="0"/>
              </a:srgbClr>
            </a:solidFill>
            <a:ln w="12700">
              <a:solidFill>
                <a:srgbClr val="711000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3"/>
            <p:cNvSpPr txBox="1"/>
            <p:nvPr/>
          </p:nvSpPr>
          <p:spPr>
            <a:xfrm>
              <a:off x="533682" y="0"/>
              <a:ext cx="6138497" cy="744498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600"/>
                </a:lnSpc>
              </a:pPr>
              <a:r>
                <a:rPr lang="zh-CN" altLang="en-US" sz="30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三、我国的互联网建设与创新成就</a:t>
              </a:r>
            </a:p>
          </p:txBody>
        </p:sp>
        <p:sp>
          <p:nvSpPr>
            <p:cNvPr id="9" name="形状3"/>
            <p:cNvSpPr txBox="1"/>
            <p:nvPr/>
          </p:nvSpPr>
          <p:spPr>
            <a:xfrm>
              <a:off x="0" y="420908"/>
              <a:ext cx="364197" cy="363415"/>
            </a:xfrm>
            <a:prstGeom prst="rect"/>
            <a:solidFill>
              <a:srgbClr val="71100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形状4"/>
            <p:cNvSpPr txBox="1"/>
            <p:nvPr/>
          </p:nvSpPr>
          <p:spPr>
            <a:xfrm>
              <a:off x="199727" y="644338"/>
              <a:ext cx="246713" cy="246183"/>
            </a:xfrm>
            <a:prstGeom prst="rect"/>
            <a:solidFill>
              <a:srgbClr val="AE020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</p:grpSp>
      <p:grpSp>
        <p:nvGrpSpPr>
          <p:cNvPr id="11" name="组合3"/>
          <p:cNvGrpSpPr/>
          <p:nvPr/>
        </p:nvGrpSpPr>
        <p:grpSpPr>
          <a:xfrm>
            <a:off x="1024648" y="2312898"/>
            <a:ext cx="10412263" cy="3463238"/>
            <a:chOff x="0" y="0"/>
            <a:chExt cx="10412263" cy="3463238"/>
          </a:xfrm>
        </p:grpSpPr>
        <p:sp>
          <p:nvSpPr>
            <p:cNvPr id="12" name="形状5"/>
            <p:cNvSpPr txBox="1"/>
            <p:nvPr/>
          </p:nvSpPr>
          <p:spPr>
            <a:xfrm>
              <a:off x="0" y="16111"/>
              <a:ext cx="10382654" cy="3447127"/>
            </a:xfrm>
            <a:prstGeom prst="roundRect"/>
            <a:solidFill>
              <a:srgbClr val="DDEAF6">
                <a:alpha val="100000"/>
              </a:srgbClr>
            </a:solidFill>
            <a:ln w="12700">
              <a:solidFill>
                <a:srgbClr val="2E75B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文本5"/>
            <p:cNvSpPr txBox="1"/>
            <p:nvPr/>
          </p:nvSpPr>
          <p:spPr>
            <a:xfrm>
              <a:off x="29609" y="0"/>
              <a:ext cx="10382654" cy="3380290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3600"/>
                </a:lnSpc>
              </a:pP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/>
              </a:r>
            </a:p>
            <a:p>
              <a:pPr marL="0" algn="l">
                <a:lnSpc>
                  <a:spcPts val="3600"/>
                </a:lnSpc>
              </a:pP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        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随着互联网的普及，工业、农业、教育、医疗等传统行业纷纷借助互联网进行转型升级，寻求新的发展空间。</a:t>
              </a:r>
            </a:p>
            <a:p>
              <a:pPr marL="0" algn="l">
                <a:lnSpc>
                  <a:spcPts val="3600"/>
                </a:lnSpc>
              </a:pP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        2012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年，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“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互联网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+”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的理念开始在国内出现，并迅速引起人们的注意，各传统行业纷纷开始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“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互联网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+”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的探索，努力探求如何更好地与互联网融合。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2015 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年，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“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互联网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+”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写入政府工作报告，成为国家层面的重大举措。</a:t>
              </a:r>
            </a:p>
          </p:txBody>
        </p:sp>
        <p:sp>
          <p:nvSpPr>
            <p:cNvPr id="14" name="文本4"/>
            <p:cNvSpPr txBox="1"/>
            <p:nvPr/>
          </p:nvSpPr>
          <p:spPr>
            <a:xfrm>
              <a:off x="3098924" y="148590"/>
              <a:ext cx="4288107" cy="652167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C0C0C">
                      <a:alpha val="100000"/>
                    </a:srgbClr>
                  </a:solidFill>
                  <a:latin typeface="黑体"/>
                  <a:ea typeface="黑体"/>
                </a:rPr>
                <a:t>2、“互联网+”应用成果显著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8139430" y="109855"/>
            <a:ext cx="3810635" cy="680085"/>
            <a:chOff x="0" y="0"/>
            <a:chExt cx="3810635" cy="680085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380682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3"/>
            <p:cNvSpPr txBox="1"/>
            <p:nvPr/>
          </p:nvSpPr>
          <p:spPr>
            <a:xfrm>
              <a:off x="0" y="0"/>
              <a:ext cx="380682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675968" y="1069215"/>
            <a:ext cx="11444814" cy="1159163"/>
          </a:xfrm>
          <a:prstGeom prst="rect">
            <a:avLst/>
          </a:prstGeom>
          <a:noFill/>
        </p:spPr>
        <p:txBody>
          <a:bodyPr anchor="t"/>
          <a:lstStyle/>
          <a:p>
            <a:pPr marL="-608400" algn="l">
              <a:lnSpc>
                <a:spcPts val="3600"/>
              </a:lnSpc>
              <a:buFont typeface="Arial"/>
              <a:buChar char=" "/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根据生活经验，列举三个让你感受到生活品质提升的“互联网+”的例子，并简单描述这些互联网创新应用带来的便利。</a:t>
            </a:r>
          </a:p>
        </p:txBody>
      </p:sp>
      <p:pic>
        <p:nvPicPr>
          <p:cNvPr id="6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763" y="2403025"/>
            <a:ext cx="5290820" cy="3391535"/>
          </a:xfrm>
          <a:prstGeom prst="rect">
            <a:avLst/>
          </a:prstGeom>
          <a:ln w="9525">
            <a:solidFill>
              <a:srgbClr val="ACB8CA">
                <a:alpha val="100000"/>
              </a:srgbClr>
            </a:solidFill>
            <a:prstDash val="solid"/>
          </a:ln>
        </p:spPr>
      </p:pic>
      <p:grpSp>
        <p:nvGrpSpPr>
          <p:cNvPr id="7" name="组合2"/>
          <p:cNvGrpSpPr/>
          <p:nvPr/>
        </p:nvGrpSpPr>
        <p:grpSpPr>
          <a:xfrm>
            <a:off x="7072300" y="2246290"/>
            <a:ext cx="2445127" cy="1700736"/>
            <a:chOff x="0" y="0"/>
            <a:chExt cx="2445127" cy="1700736"/>
          </a:xfrm>
        </p:grpSpPr>
        <p:sp>
          <p:nvSpPr>
            <p:cNvPr id="8" name="形状2"/>
            <p:cNvSpPr txBox="1"/>
            <p:nvPr/>
          </p:nvSpPr>
          <p:spPr>
            <a:xfrm>
              <a:off x="0" y="229611"/>
              <a:ext cx="2445127" cy="1286848"/>
            </a:xfrm>
            <a:prstGeom prst="wedgeRoundRectCallout"/>
            <a:solidFill>
              <a:srgbClr val="D8E2F3">
                <a:alpha val="100000"/>
              </a:srgbClr>
            </a:solidFill>
            <a:ln w="12700">
              <a:solidFill>
                <a:srgbClr val="5B9BD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9" name="文本4"/>
            <p:cNvSpPr txBox="1"/>
            <p:nvPr/>
          </p:nvSpPr>
          <p:spPr>
            <a:xfrm>
              <a:off x="42065" y="0"/>
              <a:ext cx="2335718" cy="1700736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400"/>
                </a:lnSpc>
              </a:pP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讨论并回答：从吃、穿、住、行等各个角度去了解“互联网+”。</a:t>
              </a:r>
            </a:p>
          </p:txBody>
        </p:sp>
      </p:grpSp>
      <p:pic>
        <p:nvPicPr>
          <p:cNvPr id="10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084" y="3140372"/>
            <a:ext cx="1894641" cy="2905969"/>
          </a:xfrm>
          <a:prstGeom prst="rect">
            <a:avLst/>
          </a:prstGeom>
        </p:spPr>
      </p:pic>
      <p:sp>
        <p:nvSpPr>
          <p:cNvPr id="11" name="文本2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学习内容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</p:bldLst>
  </p:timing>
</p:sld>
</file>

<file path=ppt/slides/slide17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8139430" y="109855"/>
            <a:ext cx="3810635" cy="680085"/>
            <a:chOff x="0" y="0"/>
            <a:chExt cx="3810635" cy="680085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380682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2"/>
            <p:cNvSpPr txBox="1"/>
            <p:nvPr/>
          </p:nvSpPr>
          <p:spPr>
            <a:xfrm>
              <a:off x="0" y="0"/>
              <a:ext cx="380682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学习内容</a:t>
            </a:r>
          </a:p>
        </p:txBody>
      </p:sp>
      <p:grpSp>
        <p:nvGrpSpPr>
          <p:cNvPr id="6" name="组合2"/>
          <p:cNvGrpSpPr/>
          <p:nvPr/>
        </p:nvGrpSpPr>
        <p:grpSpPr>
          <a:xfrm>
            <a:off x="2815795" y="1030458"/>
            <a:ext cx="6672179" cy="890521"/>
            <a:chOff x="0" y="0"/>
            <a:chExt cx="6672179" cy="890521"/>
          </a:xfrm>
        </p:grpSpPr>
        <p:sp>
          <p:nvSpPr>
            <p:cNvPr id="7" name="形状2"/>
            <p:cNvSpPr txBox="1"/>
            <p:nvPr/>
          </p:nvSpPr>
          <p:spPr>
            <a:xfrm flipH="1">
              <a:off x="537492" y="718557"/>
              <a:ext cx="5947997" cy="12700"/>
            </a:xfrm>
            <a:prstGeom prst="line"/>
            <a:solidFill>
              <a:srgbClr val="FFFFFF">
                <a:alpha val="0"/>
              </a:srgbClr>
            </a:solidFill>
            <a:ln w="12700">
              <a:solidFill>
                <a:srgbClr val="711000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3"/>
            <p:cNvSpPr txBox="1"/>
            <p:nvPr/>
          </p:nvSpPr>
          <p:spPr>
            <a:xfrm>
              <a:off x="533682" y="0"/>
              <a:ext cx="6138497" cy="744498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600"/>
                </a:lnSpc>
              </a:pPr>
              <a:r>
                <a:rPr lang="zh-CN" altLang="en-US" sz="30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三、我国的互联网建设与创新成就</a:t>
              </a:r>
            </a:p>
          </p:txBody>
        </p:sp>
        <p:sp>
          <p:nvSpPr>
            <p:cNvPr id="9" name="形状3"/>
            <p:cNvSpPr txBox="1"/>
            <p:nvPr/>
          </p:nvSpPr>
          <p:spPr>
            <a:xfrm>
              <a:off x="0" y="420908"/>
              <a:ext cx="364197" cy="363415"/>
            </a:xfrm>
            <a:prstGeom prst="rect"/>
            <a:solidFill>
              <a:srgbClr val="71100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形状4"/>
            <p:cNvSpPr txBox="1"/>
            <p:nvPr/>
          </p:nvSpPr>
          <p:spPr>
            <a:xfrm>
              <a:off x="199727" y="644338"/>
              <a:ext cx="246713" cy="246183"/>
            </a:xfrm>
            <a:prstGeom prst="rect"/>
            <a:solidFill>
              <a:srgbClr val="AE020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</p:grpSp>
      <p:pic>
        <p:nvPicPr>
          <p:cNvPr id="11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462" y="2745647"/>
            <a:ext cx="1894641" cy="2905969"/>
          </a:xfrm>
          <a:prstGeom prst="rect">
            <a:avLst/>
          </a:prstGeom>
        </p:spPr>
      </p:pic>
      <p:grpSp>
        <p:nvGrpSpPr>
          <p:cNvPr id="12" name="组合3"/>
          <p:cNvGrpSpPr/>
          <p:nvPr/>
        </p:nvGrpSpPr>
        <p:grpSpPr>
          <a:xfrm>
            <a:off x="2948217" y="2745647"/>
            <a:ext cx="5391630" cy="1543327"/>
            <a:chOff x="0" y="0"/>
            <a:chExt cx="5391630" cy="1543327"/>
          </a:xfrm>
        </p:grpSpPr>
        <p:sp>
          <p:nvSpPr>
            <p:cNvPr id="13" name="形状5"/>
            <p:cNvSpPr txBox="1"/>
            <p:nvPr/>
          </p:nvSpPr>
          <p:spPr>
            <a:xfrm>
              <a:off x="0" y="0"/>
              <a:ext cx="5391630" cy="1543327"/>
            </a:xfrm>
            <a:prstGeom prst="wedgeRoundRectCallout"/>
            <a:solidFill>
              <a:srgbClr val="D8E2F3">
                <a:alpha val="100000"/>
              </a:srgbClr>
            </a:solidFill>
            <a:ln w="12700">
              <a:solidFill>
                <a:srgbClr val="5B9BD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4" name="文本4"/>
            <p:cNvSpPr txBox="1"/>
            <p:nvPr/>
          </p:nvSpPr>
          <p:spPr>
            <a:xfrm>
              <a:off x="71529" y="14642"/>
              <a:ext cx="5240952" cy="1414983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400"/>
                </a:lnSpc>
              </a:pP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2023年，我国网上零售额15.42万亿元，连续11年成为全球第一大网络零售市场；基本建成全球最大教育教学资源库；累计建成62家“灯塔工厂”，数量位居全球第一。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8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8139430" y="109855"/>
            <a:ext cx="3810635" cy="680085"/>
            <a:chOff x="0" y="0"/>
            <a:chExt cx="3810635" cy="680085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380682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2"/>
            <p:cNvSpPr txBox="1"/>
            <p:nvPr/>
          </p:nvSpPr>
          <p:spPr>
            <a:xfrm>
              <a:off x="0" y="0"/>
              <a:ext cx="380682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学习内容</a:t>
            </a:r>
          </a:p>
        </p:txBody>
      </p:sp>
      <p:grpSp>
        <p:nvGrpSpPr>
          <p:cNvPr id="6" name="组合2"/>
          <p:cNvGrpSpPr/>
          <p:nvPr/>
        </p:nvGrpSpPr>
        <p:grpSpPr>
          <a:xfrm>
            <a:off x="2815795" y="1030458"/>
            <a:ext cx="6672179" cy="890521"/>
            <a:chOff x="0" y="0"/>
            <a:chExt cx="6672179" cy="890521"/>
          </a:xfrm>
        </p:grpSpPr>
        <p:sp>
          <p:nvSpPr>
            <p:cNvPr id="7" name="形状2"/>
            <p:cNvSpPr txBox="1"/>
            <p:nvPr/>
          </p:nvSpPr>
          <p:spPr>
            <a:xfrm flipH="1">
              <a:off x="537492" y="718557"/>
              <a:ext cx="5947997" cy="12700"/>
            </a:xfrm>
            <a:prstGeom prst="line"/>
            <a:solidFill>
              <a:srgbClr val="FFFFFF">
                <a:alpha val="0"/>
              </a:srgbClr>
            </a:solidFill>
            <a:ln w="12700">
              <a:solidFill>
                <a:srgbClr val="711000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3"/>
            <p:cNvSpPr txBox="1"/>
            <p:nvPr/>
          </p:nvSpPr>
          <p:spPr>
            <a:xfrm>
              <a:off x="533682" y="0"/>
              <a:ext cx="6138497" cy="744498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600"/>
                </a:lnSpc>
              </a:pPr>
              <a:r>
                <a:rPr lang="zh-CN" altLang="en-US" sz="30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三、我国的互联网建设与创新成就</a:t>
              </a:r>
            </a:p>
          </p:txBody>
        </p:sp>
        <p:sp>
          <p:nvSpPr>
            <p:cNvPr id="9" name="形状3"/>
            <p:cNvSpPr txBox="1"/>
            <p:nvPr/>
          </p:nvSpPr>
          <p:spPr>
            <a:xfrm>
              <a:off x="0" y="420908"/>
              <a:ext cx="364197" cy="363415"/>
            </a:xfrm>
            <a:prstGeom prst="rect"/>
            <a:solidFill>
              <a:srgbClr val="71100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形状4"/>
            <p:cNvSpPr txBox="1"/>
            <p:nvPr/>
          </p:nvSpPr>
          <p:spPr>
            <a:xfrm>
              <a:off x="199727" y="644338"/>
              <a:ext cx="246713" cy="246183"/>
            </a:xfrm>
            <a:prstGeom prst="rect"/>
            <a:solidFill>
              <a:srgbClr val="AE020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</p:grpSp>
      <p:grpSp>
        <p:nvGrpSpPr>
          <p:cNvPr id="11" name="组合3"/>
          <p:cNvGrpSpPr/>
          <p:nvPr/>
        </p:nvGrpSpPr>
        <p:grpSpPr>
          <a:xfrm>
            <a:off x="1024648" y="2312898"/>
            <a:ext cx="10412263" cy="3463238"/>
            <a:chOff x="0" y="0"/>
            <a:chExt cx="10412263" cy="3463238"/>
          </a:xfrm>
        </p:grpSpPr>
        <p:sp>
          <p:nvSpPr>
            <p:cNvPr id="12" name="形状5"/>
            <p:cNvSpPr txBox="1"/>
            <p:nvPr/>
          </p:nvSpPr>
          <p:spPr>
            <a:xfrm>
              <a:off x="0" y="16111"/>
              <a:ext cx="10382654" cy="3447127"/>
            </a:xfrm>
            <a:prstGeom prst="roundRect"/>
            <a:solidFill>
              <a:srgbClr val="DDEAF6">
                <a:alpha val="100000"/>
              </a:srgbClr>
            </a:solidFill>
            <a:ln w="12700">
              <a:solidFill>
                <a:srgbClr val="2E75B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文本5"/>
            <p:cNvSpPr txBox="1"/>
            <p:nvPr/>
          </p:nvSpPr>
          <p:spPr>
            <a:xfrm>
              <a:off x="29609" y="0"/>
              <a:ext cx="10382654" cy="3380290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3600"/>
                </a:lnSpc>
              </a:pP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/>
              </a:r>
            </a:p>
            <a:p>
              <a:pPr marL="0" algn="l">
                <a:lnSpc>
                  <a:spcPts val="3600"/>
                </a:lnSpc>
              </a:pP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        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第五代移动通信技术，简称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5G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，是目前实际使用的最先进的移动通信技术，具有高速、低时延、容量大等特点。在经历了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“1G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空白、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2G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跟随、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3G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突破、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4G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并跑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”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的艰苦奋斗后，我国实现了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“5G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领跑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”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，成为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Times New Roman"/>
                  <a:ea typeface="Times New Roman"/>
                </a:rPr>
                <a:t>5G</a:t>
              </a: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标准和技术的引领者之一。</a:t>
              </a:r>
            </a:p>
          </p:txBody>
        </p:sp>
        <p:sp>
          <p:nvSpPr>
            <p:cNvPr id="14" name="文本4"/>
            <p:cNvSpPr txBox="1"/>
            <p:nvPr/>
          </p:nvSpPr>
          <p:spPr>
            <a:xfrm>
              <a:off x="2347878" y="183204"/>
              <a:ext cx="5672814" cy="557845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2800"/>
                </a:lnSpc>
              </a:pPr>
              <a:r>
                <a:rPr lang="zh-CN" altLang="en-US" sz="2400" b="1" i="0" dirty="0">
                  <a:solidFill>
                    <a:srgbClr val="0C0C0C">
                      <a:alpha val="100000"/>
                    </a:srgbClr>
                  </a:solidFill>
                  <a:latin typeface="黑体"/>
                  <a:ea typeface="黑体"/>
                </a:rPr>
                <a:t>3、第五代移动通信技术研发、应用领先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8139430" y="109855"/>
            <a:ext cx="3810635" cy="680085"/>
            <a:chOff x="0" y="0"/>
            <a:chExt cx="3810635" cy="680085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380682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3"/>
            <p:cNvSpPr txBox="1"/>
            <p:nvPr/>
          </p:nvSpPr>
          <p:spPr>
            <a:xfrm>
              <a:off x="0" y="0"/>
              <a:ext cx="380682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学习内容</a:t>
            </a:r>
          </a:p>
        </p:txBody>
      </p:sp>
      <p:grpSp>
        <p:nvGrpSpPr>
          <p:cNvPr id="6" name="组合2"/>
          <p:cNvGrpSpPr/>
          <p:nvPr/>
        </p:nvGrpSpPr>
        <p:grpSpPr>
          <a:xfrm>
            <a:off x="2815795" y="1030458"/>
            <a:ext cx="6672179" cy="890521"/>
            <a:chOff x="0" y="0"/>
            <a:chExt cx="6672179" cy="890521"/>
          </a:xfrm>
        </p:grpSpPr>
        <p:sp>
          <p:nvSpPr>
            <p:cNvPr id="7" name="形状2"/>
            <p:cNvSpPr txBox="1"/>
            <p:nvPr/>
          </p:nvSpPr>
          <p:spPr>
            <a:xfrm flipH="1">
              <a:off x="537492" y="718557"/>
              <a:ext cx="5947997" cy="12700"/>
            </a:xfrm>
            <a:prstGeom prst="line"/>
            <a:solidFill>
              <a:srgbClr val="FFFFFF">
                <a:alpha val="0"/>
              </a:srgbClr>
            </a:solidFill>
            <a:ln w="12700">
              <a:solidFill>
                <a:srgbClr val="711000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4"/>
            <p:cNvSpPr txBox="1"/>
            <p:nvPr/>
          </p:nvSpPr>
          <p:spPr>
            <a:xfrm>
              <a:off x="533682" y="0"/>
              <a:ext cx="6138497" cy="744498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600"/>
                </a:lnSpc>
              </a:pPr>
              <a:r>
                <a:rPr lang="zh-CN" altLang="en-US" sz="30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三、我国的互联网建设与创新成就</a:t>
              </a:r>
            </a:p>
          </p:txBody>
        </p:sp>
        <p:sp>
          <p:nvSpPr>
            <p:cNvPr id="9" name="形状3"/>
            <p:cNvSpPr txBox="1"/>
            <p:nvPr/>
          </p:nvSpPr>
          <p:spPr>
            <a:xfrm>
              <a:off x="0" y="420908"/>
              <a:ext cx="364197" cy="363415"/>
            </a:xfrm>
            <a:prstGeom prst="rect"/>
            <a:solidFill>
              <a:srgbClr val="71100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形状4"/>
            <p:cNvSpPr txBox="1"/>
            <p:nvPr/>
          </p:nvSpPr>
          <p:spPr>
            <a:xfrm>
              <a:off x="199727" y="644338"/>
              <a:ext cx="246713" cy="246183"/>
            </a:xfrm>
            <a:prstGeom prst="rect"/>
            <a:solidFill>
              <a:srgbClr val="AE020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</p:grpSp>
      <p:sp>
        <p:nvSpPr>
          <p:cNvPr id="11" name="文本2"/>
          <p:cNvSpPr txBox="1"/>
          <p:nvPr/>
        </p:nvSpPr>
        <p:spPr>
          <a:xfrm>
            <a:off x="6323475" y="5303868"/>
            <a:ext cx="5307249" cy="55983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100"/>
              </a:lnSpc>
            </a:pPr>
            <a:r>
              <a:rPr lang="zh-CN" altLang="en-US" sz="18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摘自：《第53次中国互联网络发展状况统计报告》</a:t>
            </a:r>
          </a:p>
        </p:txBody>
      </p:sp>
      <p:graphicFrame>
        <p:nvGraphicFramePr>
          <p:cNvPr id="12" name="表格1">
            <a:extLst>
              <a:ext uri="{FF2B5EF4-FFF2-40B4-BE49-F238E27FC236}">
                <a16:creationId xmlns:a16="http://schemas.microsoft.com/office/drawing/2014/main" id="{62B2FBE6-5C8C-E811-489E-1440CA960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67701"/>
              </p:ext>
            </p:extLst>
          </p:nvPr>
        </p:nvGraphicFramePr>
        <p:xfrm>
          <a:off x="3550254" y="2639698"/>
          <a:ext cx="6170919" cy="21852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9269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  <a:gridCol w="3701650">
                  <a:extLst>
                    <a:ext uri="{9D8B030D-6E8A-4147-A177-3AD203B41FA5}">
                      <a16:colId xmlns:a16="http://schemas.microsoft.com/office/drawing/2014/main" val="2854172943"/>
                    </a:ext>
                  </a:extLst>
                </a:gridCol>
              </a:tblGrid>
              <a:tr h="544489"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400"/>
                        </a:lnSpc>
                      </a:pPr>
                      <a:r>
                        <a:rPr lang="zh-CN" altLang="en-US" sz="2000" b="1" i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项  目</a:t>
                      </a:r>
                    </a:p>
                  </a:txBody>
                  <a:tcPr anchor="ctr">
                    <a:lnL w="1270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3810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5B9BD5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ctr">
                        <a:lnSpc>
                          <a:spcPts val="2400"/>
                        </a:lnSpc>
                      </a:pPr>
                      <a:r>
                        <a:rPr lang="zh-CN" altLang="en-US" sz="2000" b="1" i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相关数据</a:t>
                      </a:r>
                    </a:p>
                  </a:txBody>
                  <a:tcPr anchor="ctr">
                    <a:lnL w="1270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3810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5B9BD5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542027">
                <a:tc rowSpan="1" gridSpan="1">
                  <a:txBody>
                    <a:bodyPr anchor="ctr"/>
                    <a:lstStyle/>
                    <a:p>
                      <a:pPr marL="0" algn="l">
                        <a:lnSpc>
                          <a:spcPts val="24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基站数量</a:t>
                      </a:r>
                    </a:p>
                  </a:txBody>
                  <a:tcPr anchor="ctr">
                    <a:lnL w="1270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2DEE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l">
                        <a:lnSpc>
                          <a:spcPts val="24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337.7 万个</a:t>
                      </a:r>
                    </a:p>
                  </a:txBody>
                  <a:tcPr anchor="ctr">
                    <a:lnL w="1270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2DEE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499353">
                <a:tc rowSpan="1" gridSpan="1">
                  <a:txBody>
                    <a:bodyPr anchor="ctr"/>
                    <a:lstStyle/>
                    <a:p>
                      <a:pPr marL="0" algn="l">
                        <a:lnSpc>
                          <a:spcPts val="24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5G手机</a:t>
                      </a:r>
                    </a:p>
                  </a:txBody>
                  <a:tcPr anchor="ctr">
                    <a:lnL w="1270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AEFF7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l">
                        <a:lnSpc>
                          <a:spcPts val="24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年出货量2.40亿部</a:t>
                      </a:r>
                    </a:p>
                  </a:txBody>
                  <a:tcPr anchor="ctr">
                    <a:lnL w="1270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EAEFF7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  <a:tr h="599352">
                <a:tc rowSpan="1" gridSpan="1">
                  <a:txBody>
                    <a:bodyPr anchor="ctr"/>
                    <a:lstStyle/>
                    <a:p>
                      <a:pPr marL="0" algn="l">
                        <a:lnSpc>
                          <a:spcPts val="24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5G移动电话用户</a:t>
                      </a:r>
                    </a:p>
                  </a:txBody>
                  <a:tcPr anchor="ctr">
                    <a:lnL w="1270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2DEE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  <a:tc rowSpan="1" gridSpan="1">
                  <a:txBody>
                    <a:bodyPr anchor="ctr"/>
                    <a:lstStyle/>
                    <a:p>
                      <a:pPr marL="0" algn="l">
                        <a:lnSpc>
                          <a:spcPts val="2400"/>
                        </a:lnSpc>
                      </a:pPr>
                      <a:r>
                        <a:rPr lang="zh-CN" altLang="en-US" sz="2000" b="0" i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楷体"/>
                          <a:ea typeface="楷体"/>
                        </a:rPr>
                        <a:t>8.05亿户</a:t>
                      </a:r>
                    </a:p>
                  </a:txBody>
                  <a:tcPr anchor="ctr">
                    <a:lnL w="12700" cap="flat">
                      <a:solidFill>
                        <a:srgbClr val="FFFFFF">
                          <a:alpha val="100000"/>
                        </a:srgbClr>
                      </a:solidFill>
                    </a:lnL>
                    <a:lnR w="12700" cap="flat">
                      <a:solidFill>
                        <a:srgbClr val="FFFFFF">
                          <a:alpha val="100000"/>
                        </a:srgbClr>
                      </a:solidFill>
                    </a:lnR>
                    <a:lnT w="12700" cap="flat">
                      <a:solidFill>
                        <a:srgbClr val="FFFFFF">
                          <a:alpha val="100000"/>
                        </a:srgbClr>
                      </a:solidFill>
                    </a:lnT>
                    <a:lnB w="12700" cap="flat">
                      <a:solidFill>
                        <a:srgbClr val="FFFFFF">
                          <a:alpha val="100000"/>
                        </a:srgbClr>
                      </a:solidFill>
                    </a:lnB>
                    <a:solidFill>
                      <a:srgbClr val="D2DEEF">
                        <a:alpha val="100000"/>
                      </a:srgbClr>
                    </a:solidFill>
                  </a:tcPr>
                  <a:extLst>
                    <a:ext uri="{0D108BD9-81ED-4DB2-BD59-A6C34878D82A}">
                      <a16:rowId xmlns:a16="http://schemas.microsoft.com/office/drawing/2014/main" val="2661222183"/>
                    </a:ext>
                  </a:extLst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slides/slide20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8139430" y="109855"/>
            <a:ext cx="3810635" cy="680085"/>
            <a:chOff x="0" y="0"/>
            <a:chExt cx="3810635" cy="680085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380682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2"/>
            <p:cNvSpPr txBox="1"/>
            <p:nvPr/>
          </p:nvSpPr>
          <p:spPr>
            <a:xfrm>
              <a:off x="0" y="0"/>
              <a:ext cx="380682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学习内容</a:t>
            </a:r>
          </a:p>
        </p:txBody>
      </p:sp>
      <p:grpSp>
        <p:nvGrpSpPr>
          <p:cNvPr id="6" name="组合2"/>
          <p:cNvGrpSpPr/>
          <p:nvPr/>
        </p:nvGrpSpPr>
        <p:grpSpPr>
          <a:xfrm>
            <a:off x="3061978" y="1030458"/>
            <a:ext cx="6672179" cy="890521"/>
            <a:chOff x="0" y="0"/>
            <a:chExt cx="6672179" cy="890521"/>
          </a:xfrm>
        </p:grpSpPr>
        <p:sp>
          <p:nvSpPr>
            <p:cNvPr id="7" name="形状2"/>
            <p:cNvSpPr txBox="1"/>
            <p:nvPr/>
          </p:nvSpPr>
          <p:spPr>
            <a:xfrm flipH="1">
              <a:off x="537492" y="718557"/>
              <a:ext cx="5947997" cy="12700"/>
            </a:xfrm>
            <a:prstGeom prst="line"/>
            <a:solidFill>
              <a:srgbClr val="FFFFFF">
                <a:alpha val="0"/>
              </a:srgbClr>
            </a:solidFill>
            <a:ln w="12700">
              <a:solidFill>
                <a:srgbClr val="711000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3"/>
            <p:cNvSpPr txBox="1"/>
            <p:nvPr/>
          </p:nvSpPr>
          <p:spPr>
            <a:xfrm>
              <a:off x="533682" y="0"/>
              <a:ext cx="6138497" cy="744498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600"/>
                </a:lnSpc>
              </a:pPr>
              <a:r>
                <a:rPr lang="zh-CN" altLang="en-US" sz="30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三、我国的互联网建设与创新成就</a:t>
              </a:r>
            </a:p>
          </p:txBody>
        </p:sp>
        <p:sp>
          <p:nvSpPr>
            <p:cNvPr id="9" name="形状3"/>
            <p:cNvSpPr txBox="1"/>
            <p:nvPr/>
          </p:nvSpPr>
          <p:spPr>
            <a:xfrm>
              <a:off x="0" y="420908"/>
              <a:ext cx="364197" cy="363415"/>
            </a:xfrm>
            <a:prstGeom prst="rect"/>
            <a:solidFill>
              <a:srgbClr val="71100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形状4"/>
            <p:cNvSpPr txBox="1"/>
            <p:nvPr/>
          </p:nvSpPr>
          <p:spPr>
            <a:xfrm>
              <a:off x="199727" y="644338"/>
              <a:ext cx="246713" cy="246183"/>
            </a:xfrm>
            <a:prstGeom prst="rect"/>
            <a:solidFill>
              <a:srgbClr val="AE020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</p:grpSp>
      <p:grpSp>
        <p:nvGrpSpPr>
          <p:cNvPr id="11" name="组合3"/>
          <p:cNvGrpSpPr/>
          <p:nvPr/>
        </p:nvGrpSpPr>
        <p:grpSpPr>
          <a:xfrm>
            <a:off x="1051587" y="2399135"/>
            <a:ext cx="10150731" cy="3384289"/>
            <a:chOff x="0" y="0"/>
            <a:chExt cx="10150731" cy="3384289"/>
          </a:xfrm>
        </p:grpSpPr>
        <p:sp>
          <p:nvSpPr>
            <p:cNvPr id="12" name="形状5"/>
            <p:cNvSpPr txBox="1"/>
            <p:nvPr/>
          </p:nvSpPr>
          <p:spPr>
            <a:xfrm>
              <a:off x="0" y="16884"/>
              <a:ext cx="10121895" cy="3367405"/>
            </a:xfrm>
            <a:prstGeom prst="roundRect"/>
            <a:solidFill>
              <a:srgbClr val="DDEAF6">
                <a:alpha val="100000"/>
              </a:srgbClr>
            </a:solidFill>
            <a:ln w="12700">
              <a:solidFill>
                <a:srgbClr val="2E75B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3" name="文本5"/>
            <p:cNvSpPr txBox="1"/>
            <p:nvPr/>
          </p:nvSpPr>
          <p:spPr>
            <a:xfrm>
              <a:off x="28836" y="0"/>
              <a:ext cx="10121895" cy="3302113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3600"/>
                </a:lnSpc>
              </a:pP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/>
              </a:r>
            </a:p>
            <a:p>
              <a:pPr marL="0" algn="l">
                <a:lnSpc>
                  <a:spcPts val="3600"/>
                </a:lnSpc>
              </a:pPr>
              <a:r>
                <a:rPr lang="zh-CN" altLang="en-US" sz="2400" b="0" i="0" dirty="0">
                  <a:solidFill>
                    <a:srgbClr val="0C0C0C">
                      <a:alpha val="100000"/>
                    </a:srgbClr>
                  </a:solidFill>
                  <a:latin typeface="楷体"/>
                  <a:ea typeface="楷体"/>
                </a:rPr>
                <a:t>    北斗卫星导航系统（简称北斗系统）是我国自主建设、独立运行的卫星导航系统。北斗系统提供服务以来，已在交通运输、农林渔业、水文监测、气象测报、通信授时、电力调度、救灾减灾、公共安全等领域得到广泛应用，产生了显著的经济效益和社会效益。</a:t>
              </a:r>
            </a:p>
          </p:txBody>
        </p:sp>
        <p:sp>
          <p:nvSpPr>
            <p:cNvPr id="14" name="文本4"/>
            <p:cNvSpPr txBox="1"/>
            <p:nvPr/>
          </p:nvSpPr>
          <p:spPr>
            <a:xfrm>
              <a:off x="2958707" y="160598"/>
              <a:ext cx="4387362" cy="681019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600"/>
                </a:lnSpc>
              </a:pPr>
              <a:r>
                <a:rPr lang="zh-CN" altLang="en-US" sz="2400" b="1" i="0" dirty="0">
                  <a:solidFill>
                    <a:srgbClr val="0C0C0C">
                      <a:alpha val="100000"/>
                    </a:srgbClr>
                  </a:solidFill>
                  <a:latin typeface="黑体"/>
                  <a:ea typeface="黑体"/>
                </a:rPr>
                <a:t>4、建成北斗卫星导航系统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8139430" y="109855"/>
            <a:ext cx="3810635" cy="680085"/>
            <a:chOff x="0" y="0"/>
            <a:chExt cx="3810635" cy="680085"/>
          </a:xfrm>
        </p:grpSpPr>
        <p:sp>
          <p:nvSpPr>
            <p:cNvPr id="3" name="形状2"/>
            <p:cNvSpPr txBox="1"/>
            <p:nvPr/>
          </p:nvSpPr>
          <p:spPr>
            <a:xfrm>
              <a:off x="3810" y="49530"/>
              <a:ext cx="380682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3"/>
            <p:cNvSpPr txBox="1"/>
            <p:nvPr/>
          </p:nvSpPr>
          <p:spPr>
            <a:xfrm>
              <a:off x="0" y="0"/>
              <a:ext cx="380682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sp>
        <p:nvSpPr>
          <p:cNvPr id="5" name="文本1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学习内容</a:t>
            </a:r>
          </a:p>
        </p:txBody>
      </p:sp>
      <p:grpSp>
        <p:nvGrpSpPr>
          <p:cNvPr id="6" name="组合2"/>
          <p:cNvGrpSpPr/>
          <p:nvPr/>
        </p:nvGrpSpPr>
        <p:grpSpPr>
          <a:xfrm>
            <a:off x="2815795" y="1030458"/>
            <a:ext cx="6672179" cy="890521"/>
            <a:chOff x="0" y="0"/>
            <a:chExt cx="6672179" cy="890521"/>
          </a:xfrm>
        </p:grpSpPr>
        <p:sp>
          <p:nvSpPr>
            <p:cNvPr id="7" name="形状3"/>
            <p:cNvSpPr txBox="1"/>
            <p:nvPr/>
          </p:nvSpPr>
          <p:spPr>
            <a:xfrm flipH="1">
              <a:off x="537492" y="718557"/>
              <a:ext cx="5947997" cy="12700"/>
            </a:xfrm>
            <a:prstGeom prst="line"/>
            <a:solidFill>
              <a:srgbClr val="FFFFFF">
                <a:alpha val="0"/>
              </a:srgbClr>
            </a:solidFill>
            <a:ln w="12700">
              <a:solidFill>
                <a:srgbClr val="711000">
                  <a:alpha val="100000"/>
                </a:srgbClr>
              </a:solidFill>
              <a:prstDash val="soli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8" name="文本4"/>
            <p:cNvSpPr txBox="1"/>
            <p:nvPr/>
          </p:nvSpPr>
          <p:spPr>
            <a:xfrm>
              <a:off x="533682" y="0"/>
              <a:ext cx="6138497" cy="744498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ctr">
                <a:lnSpc>
                  <a:spcPts val="3600"/>
                </a:lnSpc>
              </a:pPr>
              <a:r>
                <a:rPr lang="zh-CN" altLang="en-US" sz="3000" b="0" i="0" dirty="0">
                  <a:solidFill>
                    <a:srgbClr val="000000">
                      <a:alpha val="100000"/>
                    </a:srgbClr>
                  </a:solidFill>
                  <a:latin typeface="黑体"/>
                  <a:ea typeface="黑体"/>
                </a:rPr>
                <a:t>三、我国的互联网建设与创新成就</a:t>
              </a:r>
            </a:p>
          </p:txBody>
        </p:sp>
        <p:sp>
          <p:nvSpPr>
            <p:cNvPr id="9" name="形状4"/>
            <p:cNvSpPr txBox="1"/>
            <p:nvPr/>
          </p:nvSpPr>
          <p:spPr>
            <a:xfrm>
              <a:off x="0" y="420908"/>
              <a:ext cx="364197" cy="363415"/>
            </a:xfrm>
            <a:prstGeom prst="rect"/>
            <a:solidFill>
              <a:srgbClr val="711000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形状5"/>
            <p:cNvSpPr txBox="1"/>
            <p:nvPr/>
          </p:nvSpPr>
          <p:spPr>
            <a:xfrm>
              <a:off x="199727" y="644338"/>
              <a:ext cx="246713" cy="246183"/>
            </a:xfrm>
            <a:prstGeom prst="rect"/>
            <a:solidFill>
              <a:srgbClr val="AE020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</p:grpSp>
      <p:pic>
        <p:nvPicPr>
          <p:cNvPr id="11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164" y="2998566"/>
            <a:ext cx="1894641" cy="2905969"/>
          </a:xfrm>
          <a:prstGeom prst="rect">
            <a:avLst/>
          </a:prstGeom>
        </p:spPr>
      </p:pic>
      <p:grpSp>
        <p:nvGrpSpPr>
          <p:cNvPr id="12" name="组合3"/>
          <p:cNvGrpSpPr/>
          <p:nvPr/>
        </p:nvGrpSpPr>
        <p:grpSpPr>
          <a:xfrm>
            <a:off x="2391850" y="2745647"/>
            <a:ext cx="5947997" cy="2437551"/>
            <a:chOff x="0" y="0"/>
            <a:chExt cx="5947997" cy="2437551"/>
          </a:xfrm>
        </p:grpSpPr>
        <p:sp>
          <p:nvSpPr>
            <p:cNvPr id="13" name="形状6"/>
            <p:cNvSpPr txBox="1"/>
            <p:nvPr/>
          </p:nvSpPr>
          <p:spPr>
            <a:xfrm>
              <a:off x="0" y="0"/>
              <a:ext cx="5947997" cy="2437551"/>
            </a:xfrm>
            <a:prstGeom prst="wedgeRoundRectCallout"/>
            <a:solidFill>
              <a:srgbClr val="D8E2F3">
                <a:alpha val="100000"/>
              </a:srgbClr>
            </a:solidFill>
            <a:ln w="12700">
              <a:solidFill>
                <a:srgbClr val="5B9BD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4" name="文本5"/>
            <p:cNvSpPr txBox="1"/>
            <p:nvPr/>
          </p:nvSpPr>
          <p:spPr>
            <a:xfrm>
              <a:off x="115181" y="2573"/>
              <a:ext cx="5710014" cy="2333346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400"/>
                </a:lnSpc>
              </a:pP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新时代的中国北斗，既造福中国人民，也造福世界各国人民。北斗系统秉持“中国的北斗、世界的北斗、一流的北斗”发展理念，在全球范围内实现广泛应用，赋能各行各业，深刻改变着人们的生产生活方式，成为经济社会发展的时空基石，为卫星导航系统更好服务全球、造福人类贡献了中国智慧和力量。</a:t>
              </a:r>
            </a:p>
          </p:txBody>
        </p:sp>
      </p:grpSp>
      <p:sp>
        <p:nvSpPr>
          <p:cNvPr id="15" name="形状1"/>
          <p:cNvSpPr txBox="1"/>
          <p:nvPr/>
        </p:nvSpPr>
        <p:spPr>
          <a:xfrm>
            <a:off x="2063134" y="5933713"/>
            <a:ext cx="525637" cy="525637"/>
          </a:xfrm>
          <a:custGeom>
            <a:avLst/>
            <a:gdLst>
              <a:gd name="connsiteX0" fmla="*/ 262819 w 525637"/>
              <a:gd name="connsiteY0" fmla="*/ 0 h 525637"/>
              <a:gd name="connsiteX1" fmla="*/ 337270 w 525637"/>
              <a:gd name="connsiteY1" fmla="*/ 182818 h 525637"/>
              <a:gd name="connsiteX2" fmla="*/ 525637 w 525637"/>
              <a:gd name="connsiteY2" fmla="*/ 200776 h 525637"/>
              <a:gd name="connsiteX3" fmla="*/ 383284 w 525637"/>
              <a:gd name="connsiteY3" fmla="*/ 331721 h 525637"/>
              <a:gd name="connsiteX4" fmla="*/ 425249 w 525637"/>
              <a:gd name="connsiteY4" fmla="*/ 525637 h 525637"/>
              <a:gd name="connsiteX5" fmla="*/ 262819 w 525637"/>
              <a:gd name="connsiteY5" fmla="*/ 423748 h 525637"/>
              <a:gd name="connsiteX6" fmla="*/ 100388 w 525637"/>
              <a:gd name="connsiteY6" fmla="*/ 525637 h 525637"/>
              <a:gd name="connsiteX7" fmla="*/ 142353 w 525637"/>
              <a:gd name="connsiteY7" fmla="*/ 331721 h 525637"/>
              <a:gd name="connsiteX8" fmla="*/ 0 w 525637"/>
              <a:gd name="connsiteY8" fmla="*/ 200776 h 525637"/>
              <a:gd name="connsiteX9" fmla="*/ 188367 w 525637"/>
              <a:gd name="connsiteY9" fmla="*/ 182818 h 525637"/>
              <a:gd name="connsiteX10" fmla="*/ 262819 w 525637"/>
              <a:gd name="connsiteY10" fmla="*/ 0 h 52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5637" h="525637">
                <a:moveTo>
                  <a:pt x="262819" y="0"/>
                </a:moveTo>
                <a:lnTo>
                  <a:pt x="337270" y="182818"/>
                </a:lnTo>
                <a:lnTo>
                  <a:pt x="525637" y="200776"/>
                </a:lnTo>
                <a:lnTo>
                  <a:pt x="383284" y="331721"/>
                </a:lnTo>
                <a:lnTo>
                  <a:pt x="425249" y="525637"/>
                </a:lnTo>
                <a:lnTo>
                  <a:pt x="262819" y="423748"/>
                </a:lnTo>
                <a:lnTo>
                  <a:pt x="100388" y="525637"/>
                </a:lnTo>
                <a:lnTo>
                  <a:pt x="142353" y="331721"/>
                </a:lnTo>
                <a:lnTo>
                  <a:pt x="0" y="200776"/>
                </a:lnTo>
                <a:lnTo>
                  <a:pt x="188367" y="182818"/>
                </a:lnTo>
                <a:lnTo>
                  <a:pt x="262819" y="0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  <a:ln w="9525">
            <a:solidFill>
              <a:srgbClr val="FFFFFF">
                <a:alpha val="0"/>
              </a:srgbClr>
            </a:solidFill>
          </a:ln>
        </p:spPr>
        <p:txBody>
          <a:bodyPr anchor="ctr"/>
          <a:lstStyle/>
          <a:p>
            <a:pPr marL="0" algn="ctr"/>
          </a:p>
        </p:txBody>
      </p:sp>
      <p:sp>
        <p:nvSpPr>
          <p:cNvPr id="16" name="文本2"/>
          <p:cNvSpPr txBox="1"/>
          <p:nvPr/>
        </p:nvSpPr>
        <p:spPr>
          <a:xfrm>
            <a:off x="2587838" y="5903947"/>
            <a:ext cx="3238500" cy="585216"/>
          </a:xfrm>
          <a:prstGeom prst="rect">
            <a:avLst/>
          </a:prstGeom>
          <a:noFill/>
        </p:spPr>
        <p:txBody>
          <a:bodyPr anchor="t"/>
          <a:lstStyle/>
          <a:p>
            <a:pPr marL="0" algn="l"/>
            <a:r>
              <a:rPr lang="zh-CN" altLang="en-US" sz="3000" b="0" i="0" dirty="0">
                <a:solidFill>
                  <a:srgbClr val="000000">
                    <a:alpha val="100000"/>
                  </a:srgbClr>
                </a:solidFill>
                <a:latin typeface="华文新魏"/>
                <a:ea typeface="华文新魏"/>
              </a:rPr>
              <a:t>新时代的中国北斗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6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1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4" y="886835"/>
            <a:ext cx="1774422" cy="1215352"/>
          </a:xfrm>
          <a:prstGeom prst="rect">
            <a:avLst/>
          </a:prstGeom>
        </p:spPr>
      </p:pic>
      <p:grpSp>
        <p:nvGrpSpPr>
          <p:cNvPr id="3" name="组合1"/>
          <p:cNvGrpSpPr/>
          <p:nvPr/>
        </p:nvGrpSpPr>
        <p:grpSpPr>
          <a:xfrm>
            <a:off x="8139430" y="109855"/>
            <a:ext cx="3810635" cy="680085"/>
            <a:chOff x="0" y="0"/>
            <a:chExt cx="3810635" cy="680085"/>
          </a:xfrm>
        </p:grpSpPr>
        <p:sp>
          <p:nvSpPr>
            <p:cNvPr id="4" name="形状1"/>
            <p:cNvSpPr txBox="1"/>
            <p:nvPr/>
          </p:nvSpPr>
          <p:spPr>
            <a:xfrm>
              <a:off x="3810" y="49530"/>
              <a:ext cx="3806825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5" name="文本3"/>
            <p:cNvSpPr txBox="1"/>
            <p:nvPr/>
          </p:nvSpPr>
          <p:spPr>
            <a:xfrm>
              <a:off x="0" y="0"/>
              <a:ext cx="3806825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sp>
        <p:nvSpPr>
          <p:cNvPr id="6" name="文本1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拓展与提升</a:t>
            </a:r>
          </a:p>
        </p:txBody>
      </p:sp>
      <p:pic>
        <p:nvPicPr>
          <p:cNvPr id="7" name="图片2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33" y="3327186"/>
            <a:ext cx="1894641" cy="2905969"/>
          </a:xfrm>
          <a:prstGeom prst="rect">
            <a:avLst/>
          </a:prstGeom>
        </p:spPr>
      </p:pic>
      <p:grpSp>
        <p:nvGrpSpPr>
          <p:cNvPr id="8" name="组合2"/>
          <p:cNvGrpSpPr/>
          <p:nvPr/>
        </p:nvGrpSpPr>
        <p:grpSpPr>
          <a:xfrm>
            <a:off x="1551940" y="2257425"/>
            <a:ext cx="2902829" cy="1230483"/>
            <a:chOff x="0" y="0"/>
            <a:chExt cx="2902829" cy="1230483"/>
          </a:xfrm>
        </p:grpSpPr>
        <p:sp>
          <p:nvSpPr>
            <p:cNvPr id="9" name="形状2"/>
            <p:cNvSpPr txBox="1"/>
            <p:nvPr/>
          </p:nvSpPr>
          <p:spPr>
            <a:xfrm>
              <a:off x="0" y="0"/>
              <a:ext cx="2902829" cy="1230483"/>
            </a:xfrm>
            <a:prstGeom prst="wedgeRoundRectCallout"/>
            <a:solidFill>
              <a:srgbClr val="D8E2F3">
                <a:alpha val="100000"/>
              </a:srgbClr>
            </a:solidFill>
            <a:ln w="12700">
              <a:solidFill>
                <a:srgbClr val="5B9BD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0" name="文本4"/>
            <p:cNvSpPr txBox="1"/>
            <p:nvPr/>
          </p:nvSpPr>
          <p:spPr>
            <a:xfrm>
              <a:off x="56257" y="10537"/>
              <a:ext cx="2782695" cy="1110349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400"/>
                </a:lnSpc>
              </a:pPr>
              <a:r>
                <a:rPr lang="zh-CN" altLang="en-US" sz="2000" b="0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可以查阅与卫星导航和位置服务相关的资料，了解更多信息。</a:t>
              </a:r>
            </a:p>
          </p:txBody>
        </p:sp>
      </p:grpSp>
      <p:pic>
        <p:nvPicPr>
          <p:cNvPr id="11" name="图片3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828" y="2257425"/>
            <a:ext cx="3491865" cy="3770630"/>
          </a:xfrm>
          <a:prstGeom prst="rect">
            <a:avLst/>
          </a:prstGeom>
          <a:ln w="9525">
            <a:solidFill>
              <a:srgbClr val="AEABAB">
                <a:alpha val="100000"/>
              </a:srgbClr>
            </a:solidFill>
            <a:prstDash val="solid"/>
          </a:ln>
        </p:spPr>
      </p:pic>
      <p:grpSp>
        <p:nvGrpSpPr>
          <p:cNvPr id="12" name="组合3"/>
          <p:cNvGrpSpPr/>
          <p:nvPr/>
        </p:nvGrpSpPr>
        <p:grpSpPr>
          <a:xfrm>
            <a:off x="8758752" y="2243545"/>
            <a:ext cx="2719070" cy="870455"/>
            <a:chOff x="0" y="0"/>
            <a:chExt cx="2719070" cy="870455"/>
          </a:xfrm>
        </p:grpSpPr>
        <p:sp>
          <p:nvSpPr>
            <p:cNvPr id="13" name="形状3"/>
            <p:cNvSpPr txBox="1"/>
            <p:nvPr/>
          </p:nvSpPr>
          <p:spPr>
            <a:xfrm>
              <a:off x="0" y="7399"/>
              <a:ext cx="2719070" cy="863056"/>
            </a:xfrm>
            <a:prstGeom prst="wedgeRoundRectCallout"/>
            <a:solidFill>
              <a:srgbClr val="DDEAF6">
                <a:alpha val="100000"/>
              </a:srgbClr>
            </a:solidFill>
            <a:ln w="12700">
              <a:solidFill>
                <a:srgbClr val="5B9BD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4" name="文本5"/>
            <p:cNvSpPr txBox="1"/>
            <p:nvPr/>
          </p:nvSpPr>
          <p:spPr>
            <a:xfrm>
              <a:off x="38321" y="0"/>
              <a:ext cx="2634808" cy="778794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100"/>
                </a:lnSpc>
              </a:pPr>
              <a:r>
                <a:rPr lang="zh-CN" altLang="en-US" sz="1800" b="0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导航指路时，它可以确定位置……</a:t>
              </a:r>
            </a:p>
          </p:txBody>
        </p:sp>
      </p:grpSp>
      <p:grpSp>
        <p:nvGrpSpPr>
          <p:cNvPr id="15" name="组合4"/>
          <p:cNvGrpSpPr/>
          <p:nvPr/>
        </p:nvGrpSpPr>
        <p:grpSpPr>
          <a:xfrm>
            <a:off x="8758752" y="3325072"/>
            <a:ext cx="2719070" cy="1032364"/>
            <a:chOff x="0" y="0"/>
            <a:chExt cx="2719070" cy="1032364"/>
          </a:xfrm>
        </p:grpSpPr>
        <p:sp>
          <p:nvSpPr>
            <p:cNvPr id="16" name="形状4"/>
            <p:cNvSpPr txBox="1"/>
            <p:nvPr/>
          </p:nvSpPr>
          <p:spPr>
            <a:xfrm>
              <a:off x="0" y="83674"/>
              <a:ext cx="2719070" cy="948690"/>
            </a:xfrm>
            <a:prstGeom prst="wedgeRoundRectCallout"/>
            <a:solidFill>
              <a:srgbClr val="DDEAF6">
                <a:alpha val="100000"/>
              </a:srgbClr>
            </a:solidFill>
            <a:ln w="12700">
              <a:solidFill>
                <a:srgbClr val="5B9BD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17" name="文本6"/>
            <p:cNvSpPr txBox="1"/>
            <p:nvPr/>
          </p:nvSpPr>
          <p:spPr>
            <a:xfrm>
              <a:off x="42501" y="0"/>
              <a:ext cx="2626448" cy="1016979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100"/>
                </a:lnSpc>
              </a:pPr>
              <a:r>
                <a:rPr lang="zh-CN" altLang="en-US" sz="1800" b="0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我知道了，网约车司机要知道我的位置，才能来接我……</a:t>
              </a:r>
            </a:p>
          </p:txBody>
        </p:sp>
      </p:grpSp>
      <p:grpSp>
        <p:nvGrpSpPr>
          <p:cNvPr id="18" name="组合5"/>
          <p:cNvGrpSpPr/>
          <p:nvPr/>
        </p:nvGrpSpPr>
        <p:grpSpPr>
          <a:xfrm>
            <a:off x="8758752" y="4650020"/>
            <a:ext cx="2813182" cy="972492"/>
            <a:chOff x="0" y="0"/>
            <a:chExt cx="2813182" cy="972492"/>
          </a:xfrm>
        </p:grpSpPr>
        <p:sp>
          <p:nvSpPr>
            <p:cNvPr id="19" name="形状5"/>
            <p:cNvSpPr txBox="1"/>
            <p:nvPr/>
          </p:nvSpPr>
          <p:spPr>
            <a:xfrm>
              <a:off x="0" y="2162"/>
              <a:ext cx="2813182" cy="970330"/>
            </a:xfrm>
            <a:prstGeom prst="wedgeRoundRectCallout"/>
            <a:solidFill>
              <a:srgbClr val="DDEAF6">
                <a:alpha val="100000"/>
              </a:srgbClr>
            </a:solidFill>
            <a:ln w="12700">
              <a:solidFill>
                <a:srgbClr val="5B9BD5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20" name="文本7"/>
            <p:cNvSpPr txBox="1"/>
            <p:nvPr/>
          </p:nvSpPr>
          <p:spPr>
            <a:xfrm>
              <a:off x="43558" y="0"/>
              <a:ext cx="2718447" cy="87559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l">
                <a:lnSpc>
                  <a:spcPts val="2100"/>
                </a:lnSpc>
              </a:pPr>
              <a:r>
                <a:rPr lang="zh-CN" altLang="en-US" sz="1800" b="0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只有通过定位，我才能知道美食已经送到哪了……</a:t>
              </a:r>
            </a:p>
          </p:txBody>
        </p:sp>
      </p:grpSp>
      <p:sp>
        <p:nvSpPr>
          <p:cNvPr id="21" name="文本2"/>
          <p:cNvSpPr txBox="1"/>
          <p:nvPr/>
        </p:nvSpPr>
        <p:spPr>
          <a:xfrm>
            <a:off x="1692554" y="990771"/>
            <a:ext cx="9832896" cy="1159164"/>
          </a:xfrm>
          <a:prstGeom prst="rect">
            <a:avLst/>
          </a:prstGeom>
          <a:noFill/>
        </p:spPr>
        <p:txBody>
          <a:bodyPr anchor="t"/>
          <a:lstStyle/>
          <a:p>
            <a:pPr marL="-608400" algn="l">
              <a:lnSpc>
                <a:spcPts val="3600"/>
              </a:lnSpc>
              <a:buFont typeface="Arial"/>
              <a:buChar char=" "/>
            </a:pPr>
            <a:r>
              <a:rPr lang="zh-CN" altLang="en-US" sz="2400" b="0" i="0" dirty="0">
                <a:solidFill>
                  <a:srgbClr val="000000">
                    <a:alpha val="100000"/>
                  </a:srgbClr>
                </a:solidFill>
                <a:latin typeface="楷体"/>
                <a:ea typeface="楷体"/>
              </a:rPr>
              <a:t>你知道哪些互联网应用在使用北斗系统吗？北斗系统在其中具体起了哪些作用？</a:t>
            </a:r>
          </a:p>
        </p:txBody>
      </p:sp>
      <p:pic>
        <p:nvPicPr>
          <p:cNvPr id="22" name="图片4">
            <a:extLst>
              <a:ext uri="{FF2B5EF4-FFF2-40B4-BE49-F238E27FC236}">
                <a16:creationId xmlns:a16="http://schemas.microsoft.com/office/drawing/2014/main" id="{69ED34C6-1862-8A8A-03F9-2D1EFC8C3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495" y="5769292"/>
            <a:ext cx="406289" cy="36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8" grpId="0" animBg="1"/>
      <p:bldP spid="12" grpId="0" animBg="1"/>
      <p:bldP spid="15" grpId="0" animBg="1"/>
      <p:bldP spid="18" grpId="0" animBg="1"/>
    </p:bldLst>
  </p:timing>
</p:sld>
</file>

<file path=ppt/slides/slide23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1"/>
          <p:cNvGrpSpPr/>
          <p:nvPr/>
        </p:nvGrpSpPr>
        <p:grpSpPr>
          <a:xfrm>
            <a:off x="7816215" y="109855"/>
            <a:ext cx="4133850" cy="680085"/>
            <a:chOff x="0" y="0"/>
            <a:chExt cx="4133850" cy="680085"/>
          </a:xfrm>
        </p:grpSpPr>
        <p:sp>
          <p:nvSpPr>
            <p:cNvPr id="3" name="形状1"/>
            <p:cNvSpPr txBox="1"/>
            <p:nvPr/>
          </p:nvSpPr>
          <p:spPr>
            <a:xfrm>
              <a:off x="3810" y="49530"/>
              <a:ext cx="4130040" cy="630555"/>
            </a:xfrm>
            <a:prstGeom prst="rect"/>
            <a:solidFill>
              <a:srgbClr val="3B5643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4" name="文本2"/>
            <p:cNvSpPr txBox="1"/>
            <p:nvPr/>
          </p:nvSpPr>
          <p:spPr>
            <a:xfrm>
              <a:off x="0" y="0"/>
              <a:ext cx="4130040" cy="63055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algn="r">
                <a:lnSpc>
                  <a:spcPts val="2600"/>
                </a:lnSpc>
              </a:pPr>
              <a:r>
                <a:rPr lang="zh-CN" altLang="en-US" sz="2199" b="0" i="0" dirty="0"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</a:rPr>
                <a:t>义务教育信息科技课程资源</a:t>
              </a:r>
            </a:p>
          </p:txBody>
        </p:sp>
      </p:grpSp>
      <p:grpSp>
        <p:nvGrpSpPr>
          <p:cNvPr id="5" name="组合2"/>
          <p:cNvGrpSpPr/>
          <p:nvPr/>
        </p:nvGrpSpPr>
        <p:grpSpPr>
          <a:xfrm>
            <a:off x="916870" y="1758461"/>
            <a:ext cx="10252710" cy="3044622"/>
            <a:chOff x="0" y="0"/>
            <a:chExt cx="10252710" cy="3044622"/>
          </a:xfrm>
        </p:grpSpPr>
        <p:sp>
          <p:nvSpPr>
            <p:cNvPr id="6" name="形状2"/>
            <p:cNvSpPr txBox="1"/>
            <p:nvPr/>
          </p:nvSpPr>
          <p:spPr>
            <a:xfrm>
              <a:off x="3810" y="0"/>
              <a:ext cx="10248900" cy="2511631"/>
            </a:xfrm>
            <a:prstGeom prst="snip1Rect"/>
            <a:solidFill>
              <a:srgbClr val="54D5DD">
                <a:alpha val="100000"/>
              </a:srgbClr>
            </a:solidFill>
            <a:ln w="9525">
              <a:solidFill>
                <a:srgbClr val="FFFFFF">
                  <a:alpha val="0"/>
                </a:srgbClr>
              </a:solidFill>
            </a:ln>
            <a:effectLst>
              <a:outerShdw blurRad="50800" dist="38100" dir="13500000" rotWithShape="0">
                <a:srgbClr val="000000">
                  <a:alpha val="40000"/>
                </a:srgbClr>
              </a:outerShdw>
            </a:effectLst>
          </p:spPr>
          <p:txBody>
            <a:bodyPr anchor="ctr"/>
            <a:lstStyle/>
            <a:p>
              <a:pPr marL="0" algn="ctr"/>
            </a:p>
          </p:txBody>
        </p:sp>
        <p:sp>
          <p:nvSpPr>
            <p:cNvPr id="7" name="文本4"/>
            <p:cNvSpPr txBox="1"/>
            <p:nvPr/>
          </p:nvSpPr>
          <p:spPr>
            <a:xfrm>
              <a:off x="0" y="159777"/>
              <a:ext cx="10039593" cy="2302324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3200"/>
                </a:lnSpc>
              </a:pPr>
              <a:r>
                <a:rPr lang="zh-CN" altLang="en-US" sz="1800" b="0" i="0" dirty="0"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</a:rPr>
                <a:t> </a:t>
              </a:r>
            </a:p>
          </p:txBody>
        </p:sp>
        <p:sp>
          <p:nvSpPr>
            <p:cNvPr id="8" name="文本3"/>
            <p:cNvSpPr txBox="1"/>
            <p:nvPr/>
          </p:nvSpPr>
          <p:spPr>
            <a:xfrm>
              <a:off x="198755" y="84993"/>
              <a:ext cx="10041890" cy="2959629"/>
            </a:xfrm>
            <a:prstGeom prst="rect">
              <a:avLst/>
            </a:prstGeom>
            <a:noFill/>
          </p:spPr>
          <p:txBody>
            <a:bodyPr anchor="t"/>
            <a:lstStyle/>
            <a:p>
              <a:pPr marL="0" algn="l">
                <a:lnSpc>
                  <a:spcPts val="4300"/>
                </a:lnSpc>
              </a:pP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</a:rPr>
                <a:t>1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．互联网经历了诞生、形成、互联互通、高速网络四个阶段。</a:t>
              </a:r>
            </a:p>
            <a:p>
              <a:pPr marL="0" algn="l">
                <a:lnSpc>
                  <a:spcPts val="4300"/>
                </a:lnSpc>
              </a:pP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</a:rPr>
                <a:t>2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．网状结构以冗余提升健壮性，协议的标准化使得互联网得以快速发展。</a:t>
              </a:r>
            </a:p>
            <a:p>
              <a:pPr marL="0" algn="l">
                <a:lnSpc>
                  <a:spcPts val="4300"/>
                </a:lnSpc>
              </a:pP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</a:rPr>
                <a:t>3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．互联网在中国发展迅猛，普及率高。</a:t>
              </a:r>
            </a:p>
            <a:p>
              <a:pPr marL="0" algn="l">
                <a:lnSpc>
                  <a:spcPts val="4300"/>
                </a:lnSpc>
              </a:pP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</a:rPr>
                <a:t>4</a:t>
              </a:r>
              <a:r>
                <a:rPr lang="zh-CN" altLang="en-US" sz="2400" b="0" i="0" dirty="0">
                  <a:solidFill>
                    <a:srgbClr val="000000">
                      <a:alpha val="100000"/>
                    </a:srgbClr>
                  </a:solidFill>
                  <a:latin typeface="楷体"/>
                  <a:ea typeface="楷体"/>
                </a:rPr>
                <a:t>．我国互联网建设取得了令人瞩目的成就。</a:t>
              </a:r>
            </a:p>
          </p:txBody>
        </p:sp>
      </p:grpSp>
      <p:sp>
        <p:nvSpPr>
          <p:cNvPr id="9" name="文本1"/>
          <p:cNvSpPr txBox="1"/>
          <p:nvPr/>
        </p:nvSpPr>
        <p:spPr>
          <a:xfrm>
            <a:off x="94137" y="228416"/>
            <a:ext cx="4125482" cy="762682"/>
          </a:xfrm>
          <a:prstGeom prst="rect">
            <a:avLst/>
          </a:prstGeom>
          <a:noFill/>
        </p:spPr>
        <p:txBody>
          <a:bodyPr anchor="t"/>
          <a:lstStyle/>
          <a:p>
            <a:pPr marL="0" algn="l">
              <a:lnSpc>
                <a:spcPts val="2600"/>
              </a:lnSpc>
            </a:pP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第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</a:rPr>
              <a:t>1</a:t>
            </a:r>
            <a:r>
              <a:rPr lang="zh-CN" altLang="en-US" sz="2400" b="0" i="0" dirty="0">
                <a:solidFill>
                  <a:srgbClr val="FFFFFF">
                    <a:alpha val="100000"/>
                  </a:srgbClr>
                </a:solidFill>
                <a:latin typeface="黑体"/>
                <a:ea typeface="黑体"/>
              </a:rPr>
              <a:t>课  课堂总结</a:t>
            </a:r>
          </a:p>
        </p:txBody>
      </p:sp>
    </p:spTree>
    <p:extLst>
      <p:ext uri="{BB962C8B-B14F-4D97-AF65-F5344CB8AC3E}">
        <p14:creationId xmlns:p14="http://schemas.microsoft.com/office/powerpoint/2010/main" val="840519474"/>
      </p:ext>
    </p:extLst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宽屏</ap:PresentationFormat>
  <ap:Paragraphs>0</ap:Paragraphs>
  <ap:Slides>1</ap:Slides>
  <ap:Notes>0</ap:Notes>
  <ap:HiddenSlides>0</ap:HiddenSlides>
  <ap:MMClips>0</ap:MMClips>
  <ap:ScaleCrop>false</ap:ScaleCrop>
  <ap:HeadingPairs>
    <vt:vector baseType="variant" size="6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ap:HeadingPairs>
  <ap:TitlesOfParts>
    <vt:vector baseType="lpstr" size="3">
      <vt:lpstr>Arial</vt:lpstr>
      <vt:lpstr>Office 主题​​</vt:lpstr>
      <vt:lpstr>PowerPoint 演示文稿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seewo_9224</dc:creator>
  <dc:title>第1课 互联网发展靠创新 夏忠庆</dc:title>
  <revision>1</revision>
  <dcterms:created xsi:type="dcterms:W3CDTF">2026-04-27T03:40:56.8450310Z</dcterms:created>
  <dcterms:modified xsi:type="dcterms:W3CDTF">2026-04-27T03:40:56.8450351Z</dcterms:modified>
  <lastModifiedBy>seewo_9224</lastModifiedBy>
</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ApplicationName">
    <vt:lpwstr>EasiNote5</vt:lpwstr>
  </op:property>
  <op:property fmtid="{D5CDD505-2E9C-101B-9397-08002B2CF9AE}" pid="3" name="ApplicationVersion">
    <vt:lpwstr>5.2.4.8615</vt:lpwstr>
  </op:property>
  <op:property fmtid="{D5CDD505-2E9C-101B-9397-08002B2CF9AE}" pid="4" name="EasiNoteCoursewareInfo">
    <vt:lpwstr>bdaa1363-0855-4ad5-b3d1-9a5d5d898a66:1</vt:lpwstr>
  </op:property>
  <op:property fmtid="{D5CDD505-2E9C-101B-9397-08002B2CF9AE}" pid="5" name="EasiNoteDocumentName">
    <vt:lpwstr>第1课 互联网发展靠创新 夏忠庆</vt:lpwstr>
  </op:property>
  <op:property fmtid="{D5CDD505-2E9C-101B-9397-08002B2CF9AE}" pid="6" name="EasiNoteAuthor">
    <vt:lpwstr>sgwuouqznhttsiouqsnvlz35297969k1</vt:lpwstr>
  </op:property>
  <op:property fmtid="{D5CDD505-2E9C-101B-9397-08002B2CF9AE}" pid="7" name="EasiNoteUpstreamCoursewareInfo_0">
    <vt:lpwstr>ac71caeb-da88-4495-b01e-db45bf2cdc11</vt:lpwstr>
  </op:property>
  <op:property fmtid="{D5CDD505-2E9C-101B-9397-08002B2CF9AE}" pid="8" name="EasiNoteUpstreamCoursewareInfo_1">
    <vt:lpwstr>bdaa1363-0855-4ad5-b3d1-9a5d5d898a66</vt:lpwstr>
  </op:property>
</op:Properties>
</file>