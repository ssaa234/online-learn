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943b8e19e7b46fa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c9568251c6284851" /><Relationship Type="http://schemas.openxmlformats.org/officeDocument/2006/relationships/custom-properties" Target="/docProps/custom.xml" Id="R4cea915ddb934ac3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2.png" Id="rId2" /><Relationship Type="http://schemas.openxmlformats.org/officeDocument/2006/relationships/image" Target="/ppt/media/image3.png" Id="rId3" /><Relationship Type="http://schemas.openxmlformats.org/officeDocument/2006/relationships/image" Target="/ppt/media/image4.png" Id="rId4" /><Relationship Type="http://schemas.openxmlformats.org/officeDocument/2006/relationships/image" Target="/ppt/media/image5.png" Id="rI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6.png" Id="rId2" /><Relationship Type="http://schemas.openxmlformats.org/officeDocument/2006/relationships/image" Target="/ppt/media/image7.png" Id="rId3" /><Relationship Type="http://schemas.openxmlformats.org/officeDocument/2006/relationships/image" Target="/ppt/media/image8.png" Id="rId4" /><Relationship Type="http://schemas.openxmlformats.org/officeDocument/2006/relationships/image" Target="/ppt/media/image9.png" Id="rId5" /><Relationship Type="http://schemas.openxmlformats.org/officeDocument/2006/relationships/image" Target="/ppt/media/image10.png" Id="rId6" /><Relationship Type="http://schemas.openxmlformats.org/officeDocument/2006/relationships/image" Target="/ppt/media/image11.png" Id="rI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12.png" Id="rId2" /><Relationship Type="http://schemas.openxmlformats.org/officeDocument/2006/relationships/image" Target="/ppt/media/image13.png" Id="rId3" /><Relationship Type="http://schemas.openxmlformats.org/officeDocument/2006/relationships/image" Target="/ppt/media/image14.png" Id="rId4" /><Relationship Type="http://schemas.openxmlformats.org/officeDocument/2006/relationships/image" Target="/ppt/media/image15.png" Id="rId5" /><Relationship Type="http://schemas.openxmlformats.org/officeDocument/2006/relationships/image" Target="/ppt/media/image16.png" Id="rId6" /><Relationship Type="http://schemas.openxmlformats.org/officeDocument/2006/relationships/image" Target="/ppt/media/image17.png" Id="rId7" /><Relationship Type="http://schemas.openxmlformats.org/officeDocument/2006/relationships/image" Target="/ppt/media/image18.png" Id="rId8" /><Relationship Type="http://schemas.openxmlformats.org/officeDocument/2006/relationships/image" Target="/ppt/media/image19.png" Id="rId9" /><Relationship Type="http://schemas.openxmlformats.org/officeDocument/2006/relationships/image" Target="/ppt/media/image20.png" Id="rId10" /><Relationship Type="http://schemas.openxmlformats.org/officeDocument/2006/relationships/image" Target="/ppt/media/image21.png" Id="rId11" /><Relationship Type="http://schemas.openxmlformats.org/officeDocument/2006/relationships/image" Target="/ppt/media/image22.png" Id="rId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23.png" Id="rId2" /><Relationship Type="http://schemas.openxmlformats.org/officeDocument/2006/relationships/image" Target="/ppt/media/image24.png" Id="rId3" /><Relationship Type="http://schemas.openxmlformats.org/officeDocument/2006/relationships/image" Target="/ppt/media/image25.png" Id="rId4" /><Relationship Type="http://schemas.openxmlformats.org/officeDocument/2006/relationships/image" Target="/ppt/media/image26.png" Id="rId5" /><Relationship Type="http://schemas.openxmlformats.org/officeDocument/2006/relationships/image" Target="/ppt/media/image27.png" Id="rI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28.png" Id="rId2" /><Relationship Type="http://schemas.openxmlformats.org/officeDocument/2006/relationships/image" Target="/ppt/media/image29.png" Id="rId3" /><Relationship Type="http://schemas.openxmlformats.org/officeDocument/2006/relationships/image" Target="/ppt/media/image30.png" Id="rId4" /><Relationship Type="http://schemas.openxmlformats.org/officeDocument/2006/relationships/image" Target="/ppt/media/image31.png" Id="rId5" /><Relationship Type="http://schemas.openxmlformats.org/officeDocument/2006/relationships/image" Target="/ppt/media/image32.png" Id="rId6" /><Relationship Type="http://schemas.openxmlformats.org/officeDocument/2006/relationships/image" Target="/ppt/media/image33.png" Id="rId7" /><Relationship Type="http://schemas.openxmlformats.org/officeDocument/2006/relationships/image" Target="/ppt/media/image34.png" Id="rId8" /><Relationship Type="http://schemas.openxmlformats.org/officeDocument/2006/relationships/image" Target="/ppt/media/image35.png" Id="rId9" /><Relationship Type="http://schemas.openxmlformats.org/officeDocument/2006/relationships/image" Target="/ppt/media/image36.png" Id="rId10" /><Relationship Type="http://schemas.openxmlformats.org/officeDocument/2006/relationships/image" Target="/ppt/media/image37.png" Id="rId11" /><Relationship Type="http://schemas.openxmlformats.org/officeDocument/2006/relationships/image" Target="/ppt/media/image38.png" Id="rI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9.png" Id="rId2" /><Relationship Type="http://schemas.openxmlformats.org/officeDocument/2006/relationships/image" Target="/ppt/media/image40.png" Id="rId3" /><Relationship Type="http://schemas.openxmlformats.org/officeDocument/2006/relationships/image" Target="/ppt/media/image41.png" Id="rId4" /><Relationship Type="http://schemas.openxmlformats.org/officeDocument/2006/relationships/image" Target="/ppt/media/image42.png" Id="rId5" /><Relationship Type="http://schemas.openxmlformats.org/officeDocument/2006/relationships/image" Target="/ppt/media/image43.png" Id="rId6" /><Relationship Type="http://schemas.openxmlformats.org/officeDocument/2006/relationships/image" Target="/ppt/media/image44.png" Id="rI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45.png" Id="rId2" /><Relationship Type="http://schemas.openxmlformats.org/officeDocument/2006/relationships/image" Target="/ppt/media/image46.png" Id="rId3" /><Relationship Type="http://schemas.openxmlformats.org/officeDocument/2006/relationships/image" Target="/ppt/media/image47.png" Id="rId4" /><Relationship Type="http://schemas.openxmlformats.org/officeDocument/2006/relationships/image" Target="/ppt/media/image48.png" Id="rId5" /><Relationship Type="http://schemas.openxmlformats.org/officeDocument/2006/relationships/image" Target="/ppt/media/image49.png" Id="rId6" /><Relationship Type="http://schemas.openxmlformats.org/officeDocument/2006/relationships/image" Target="/ppt/media/image50.png" Id="rI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image" Target="/ppt/media/image51.png" Id="rId2" /><Relationship Type="http://schemas.openxmlformats.org/officeDocument/2006/relationships/image" Target="/ppt/media/image52.png" Id="rId3" /><Relationship Type="http://schemas.openxmlformats.org/officeDocument/2006/relationships/image" Target="/ppt/media/image53.png" Id="rId4" /><Relationship Type="http://schemas.openxmlformats.org/officeDocument/2006/relationships/image" Target="/ppt/media/image54.png" Id="rId5" /><Relationship Type="http://schemas.openxmlformats.org/officeDocument/2006/relationships/image" Target="/ppt/media/image55.png" Id="rId6" /><Relationship Type="http://schemas.openxmlformats.org/officeDocument/2006/relationships/image" Target="/ppt/media/image56.png" Id="rId7" /><Relationship Type="http://schemas.openxmlformats.org/officeDocument/2006/relationships/image" Target="/ppt/media/image57.png" Id="rId8" /><Relationship Type="http://schemas.openxmlformats.org/officeDocument/2006/relationships/image" Target="/ppt/media/image58.png" Id="rId9" /><Relationship Type="http://schemas.openxmlformats.org/officeDocument/2006/relationships/image" Target="/ppt/media/image59.png" Id="rId10" /><Relationship Type="http://schemas.openxmlformats.org/officeDocument/2006/relationships/image" Target="/ppt/media/image60.png" Id="rId11" /><Relationship Type="http://schemas.openxmlformats.org/officeDocument/2006/relationships/image" Target="/ppt/media/image61.png" Id="rId12" /><Relationship Type="http://schemas.openxmlformats.org/officeDocument/2006/relationships/image" Target="/ppt/media/image62.png" Id="rI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63.png" Id="rId2" /><Relationship Type="http://schemas.openxmlformats.org/officeDocument/2006/relationships/image" Target="/ppt/media/image64.png" Id="rId3" /><Relationship Type="http://schemas.openxmlformats.org/officeDocument/2006/relationships/image" Target="/ppt/media/image.jp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65.png" Id="rId2" /><Relationship Type="http://schemas.openxmlformats.org/officeDocument/2006/relationships/image" Target="/ppt/media/image66.png" Id="rId3" /><Relationship Type="http://schemas.openxmlformats.org/officeDocument/2006/relationships/image" Target="/ppt/media/image67.png" Id="rId4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7478906" y="1371295"/>
            <a:ext cx="4102100" cy="928021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4399" b="1" i="0" dirty="0">
                <a:solidFill>
                  <a:srgbClr val="FF9B00">
                    <a:alpha val="100000"/>
                  </a:srgbClr>
                </a:solidFill>
                <a:latin typeface="微软雅黑"/>
                <a:ea typeface="微软雅黑"/>
              </a:rPr>
              <a:t>奇妙的信息世界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9001849" y="3374117"/>
            <a:ext cx="2111661" cy="147278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1499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教材版本：南方出版社</a:t>
            </a:r>
          </a:p>
          <a:p>
            <a:pPr marL="0" algn="l">
              <a:lnSpc>
                <a:spcPts val="3300"/>
              </a:lnSpc>
            </a:pPr>
            <a:r>
              <a:rPr lang="zh-CN" altLang="en-US" sz="1499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年       级：五年级上册</a:t>
            </a:r>
          </a:p>
          <a:p>
            <a:pPr marL="0" algn="l">
              <a:lnSpc>
                <a:spcPts val="3300"/>
              </a:lnSpc>
            </a:pPr>
            <a:r>
              <a:rPr lang="zh-CN" altLang="en-US" sz="1499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教       者：雷敏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569081" y="1121426"/>
            <a:ext cx="2276475" cy="441928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信息技术与生活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514"/>
            <a:ext cx="12192448" cy="482127"/>
            <a:chOff x="0" y="0"/>
            <a:chExt cx="12192448" cy="482127"/>
          </a:xfrm>
        </p:grpSpPr>
        <p:pic>
          <p:nvPicPr>
            <p:cNvPr id="3" name="图片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0"/>
              <a:ext cx="186499" cy="482127"/>
            </a:xfrm>
            <a:prstGeom prst="rect">
              <a:avLst/>
            </a:prstGeom>
          </p:spPr>
        </p:pic>
        <p:pic>
          <p:nvPicPr>
            <p:cNvPr id="4" name="图片2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47437"/>
              <a:ext cx="12005672" cy="34614"/>
            </a:xfrm>
            <a:prstGeom prst="rect">
              <a:avLst/>
            </a:prstGeom>
          </p:spPr>
        </p:pic>
      </p:grpSp>
      <p:sp>
        <p:nvSpPr>
          <p:cNvPr id="5" name="文本1"/>
          <p:cNvSpPr txBox="1"/>
          <p:nvPr/>
        </p:nvSpPr>
        <p:spPr>
          <a:xfrm>
            <a:off x="199520" y="-10154"/>
            <a:ext cx="11049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思维导图</a:t>
            </a:r>
          </a:p>
        </p:txBody>
      </p:sp>
      <p:pic>
        <p:nvPicPr>
          <p:cNvPr id="6" name="思维导图1"/>
          <p:cNvPicPr>
            <a:picLocks noChangeAspect="1"/>
          </p:cNvPicPr>
          <p:nvPr/>
        </p:nvPicPr>
        <p:blipFill>
          <a:fillRect/>
          <a:blip r:embed="rId4"/>
          <a:stretch/>
        </p:blipFill>
        <p:spPr>
          <a:xfrm>
            <a:off x="1563005" y="1768745"/>
            <a:ext cx="69437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514"/>
            <a:ext cx="12192448" cy="482127"/>
            <a:chOff x="0" y="0"/>
            <a:chExt cx="12192448" cy="482127"/>
          </a:xfrm>
        </p:grpSpPr>
        <p:pic>
          <p:nvPicPr>
            <p:cNvPr id="3" name="图片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0"/>
              <a:ext cx="186499" cy="482127"/>
            </a:xfrm>
            <a:prstGeom prst="rect">
              <a:avLst/>
            </a:prstGeom>
          </p:spPr>
        </p:pic>
        <p:pic>
          <p:nvPicPr>
            <p:cNvPr id="4" name="图片5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47437"/>
              <a:ext cx="12005672" cy="34614"/>
            </a:xfrm>
            <a:prstGeom prst="rect">
              <a:avLst/>
            </a:prstGeom>
          </p:spPr>
        </p:pic>
      </p:grpSp>
      <p:sp>
        <p:nvSpPr>
          <p:cNvPr id="5" name="文本1"/>
          <p:cNvSpPr txBox="1"/>
          <p:nvPr/>
        </p:nvSpPr>
        <p:spPr>
          <a:xfrm>
            <a:off x="206245" y="-4829"/>
            <a:ext cx="15621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信息无处不在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2406491" y="1466078"/>
            <a:ext cx="72771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信息可以用语言、文字、符号、数字、图像和声音等多种形式来表达。</a:t>
            </a:r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012" y="2249462"/>
            <a:ext cx="2495550" cy="2600325"/>
          </a:xfrm>
          <a:prstGeom prst="rect">
            <a:avLst/>
          </a:prstGeom>
        </p:spPr>
      </p:pic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705" y="2768327"/>
            <a:ext cx="2771775" cy="1562100"/>
          </a:xfrm>
          <a:prstGeom prst="rect">
            <a:avLst/>
          </a:prstGeom>
        </p:spPr>
      </p:pic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094" y="2416178"/>
            <a:ext cx="40767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514"/>
            <a:ext cx="12192448" cy="482127"/>
            <a:chOff x="0" y="0"/>
            <a:chExt cx="12192448" cy="482127"/>
          </a:xfrm>
        </p:grpSpPr>
        <p:pic>
          <p:nvPicPr>
            <p:cNvPr id="3" name="图片9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0"/>
              <a:ext cx="186499" cy="482127"/>
            </a:xfrm>
            <a:prstGeom prst="rect">
              <a:avLst/>
            </a:prstGeom>
          </p:spPr>
        </p:pic>
        <p:pic>
          <p:nvPicPr>
            <p:cNvPr id="4" name="图片10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47437"/>
              <a:ext cx="12005672" cy="34614"/>
            </a:xfrm>
            <a:prstGeom prst="rect">
              <a:avLst/>
            </a:prstGeom>
          </p:spPr>
        </p:pic>
      </p:grpSp>
      <p:sp>
        <p:nvSpPr>
          <p:cNvPr id="5" name="文本1"/>
          <p:cNvSpPr txBox="1"/>
          <p:nvPr/>
        </p:nvSpPr>
        <p:spPr>
          <a:xfrm>
            <a:off x="195348" y="-4924"/>
            <a:ext cx="17907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人类的信息活动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5201450" y="983561"/>
            <a:ext cx="17907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传统的信息获取</a:t>
            </a:r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996" y="1667361"/>
            <a:ext cx="2114550" cy="1409700"/>
          </a:xfrm>
          <a:prstGeom prst="rect">
            <a:avLst/>
          </a:prstGeom>
        </p:spPr>
      </p:pic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686" y="3215221"/>
            <a:ext cx="1285875" cy="428625"/>
          </a:xfrm>
          <a:prstGeom prst="rect">
            <a:avLst/>
          </a:prstGeom>
        </p:spPr>
      </p:pic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0619" y="1572254"/>
            <a:ext cx="1200150" cy="1600200"/>
          </a:xfrm>
          <a:prstGeom prst="rect">
            <a:avLst/>
          </a:prstGeom>
        </p:spPr>
      </p:pic>
      <p:pic>
        <p:nvPicPr>
          <p:cNvPr id="10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737" y="3214964"/>
            <a:ext cx="1295400" cy="428625"/>
          </a:xfrm>
          <a:prstGeom prst="rect">
            <a:avLst/>
          </a:prstGeom>
        </p:spPr>
      </p:pic>
      <p:pic>
        <p:nvPicPr>
          <p:cNvPr id="11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9930" y="4275982"/>
            <a:ext cx="1952625" cy="1390650"/>
          </a:xfrm>
          <a:prstGeom prst="rect">
            <a:avLst/>
          </a:prstGeom>
        </p:spPr>
      </p:pic>
      <p:pic>
        <p:nvPicPr>
          <p:cNvPr id="12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3362" y="5859875"/>
            <a:ext cx="1285875" cy="428625"/>
          </a:xfrm>
          <a:prstGeom prst="rect">
            <a:avLst/>
          </a:prstGeom>
        </p:spPr>
      </p:pic>
      <p:pic>
        <p:nvPicPr>
          <p:cNvPr id="13" name="图片7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5323" y="4147080"/>
            <a:ext cx="1209675" cy="1647825"/>
          </a:xfrm>
          <a:prstGeom prst="rect">
            <a:avLst/>
          </a:prstGeom>
        </p:spPr>
      </p:pic>
      <p:pic>
        <p:nvPicPr>
          <p:cNvPr id="14" name="图片8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912" y="5860132"/>
            <a:ext cx="12954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-4924"/>
            <a:ext cx="12192448" cy="492220"/>
            <a:chOff x="0" y="0"/>
            <a:chExt cx="12192448" cy="492220"/>
          </a:xfrm>
        </p:grpSpPr>
        <p:pic>
          <p:nvPicPr>
            <p:cNvPr id="3" name="图片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5438"/>
              <a:ext cx="186499" cy="482127"/>
            </a:xfrm>
            <a:prstGeom prst="rect">
              <a:avLst/>
            </a:prstGeom>
          </p:spPr>
        </p:pic>
        <p:pic>
          <p:nvPicPr>
            <p:cNvPr id="4" name="图片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52875"/>
              <a:ext cx="12005672" cy="34614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195396" y="0"/>
              <a:ext cx="1790700" cy="4922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/>
              <a:r>
                <a:rPr lang="zh-CN" altLang="en-US" sz="1799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人类的信息活动</a:t>
              </a:r>
            </a:p>
          </p:txBody>
        </p:sp>
      </p:grpSp>
      <p:sp>
        <p:nvSpPr>
          <p:cNvPr id="6" name="文本1"/>
          <p:cNvSpPr txBox="1"/>
          <p:nvPr/>
        </p:nvSpPr>
        <p:spPr>
          <a:xfrm>
            <a:off x="4972850" y="983561"/>
            <a:ext cx="22479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借助工具的信息获取</a:t>
            </a:r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275" y="1651340"/>
            <a:ext cx="6569383" cy="1803797"/>
          </a:xfrm>
          <a:prstGeom prst="rect">
            <a:avLst/>
          </a:prstGeom>
        </p:spPr>
      </p:pic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5726" y="3630578"/>
            <a:ext cx="6522834" cy="18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-4924"/>
            <a:ext cx="12192448" cy="492220"/>
            <a:chOff x="0" y="0"/>
            <a:chExt cx="12192448" cy="492220"/>
          </a:xfrm>
        </p:grpSpPr>
        <p:pic>
          <p:nvPicPr>
            <p:cNvPr id="3" name="图片9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5438"/>
              <a:ext cx="186499" cy="482127"/>
            </a:xfrm>
            <a:prstGeom prst="rect">
              <a:avLst/>
            </a:prstGeom>
          </p:spPr>
        </p:pic>
        <p:pic>
          <p:nvPicPr>
            <p:cNvPr id="4" name="图片10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52875"/>
              <a:ext cx="12005672" cy="34614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195396" y="0"/>
              <a:ext cx="1790700" cy="4922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/>
              <a:r>
                <a:rPr lang="zh-CN" altLang="en-US" sz="1799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人类的信息活动</a:t>
              </a:r>
            </a:p>
          </p:txBody>
        </p:sp>
      </p:grpSp>
      <p:sp>
        <p:nvSpPr>
          <p:cNvPr id="6" name="文本1"/>
          <p:cNvSpPr txBox="1"/>
          <p:nvPr/>
        </p:nvSpPr>
        <p:spPr>
          <a:xfrm>
            <a:off x="5201450" y="983561"/>
            <a:ext cx="17907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简单的信息处理</a:t>
            </a:r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798253"/>
            <a:ext cx="1752600" cy="2847975"/>
          </a:xfrm>
          <a:prstGeom prst="rect">
            <a:avLst/>
          </a:prstGeom>
        </p:spPr>
      </p:pic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2628614"/>
            <a:ext cx="1104900" cy="1514475"/>
          </a:xfrm>
          <a:prstGeom prst="rect">
            <a:avLst/>
          </a:prstGeom>
        </p:spPr>
      </p:pic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644" y="1788662"/>
            <a:ext cx="1304925" cy="2867025"/>
          </a:xfrm>
          <a:prstGeom prst="rect">
            <a:avLst/>
          </a:prstGeom>
        </p:spPr>
      </p:pic>
      <p:pic>
        <p:nvPicPr>
          <p:cNvPr id="10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4691" y="5067186"/>
            <a:ext cx="1285875" cy="428625"/>
          </a:xfrm>
          <a:prstGeom prst="rect">
            <a:avLst/>
          </a:prstGeom>
        </p:spPr>
      </p:pic>
      <p:pic>
        <p:nvPicPr>
          <p:cNvPr id="11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3939" y="5066929"/>
            <a:ext cx="1285875" cy="428625"/>
          </a:xfrm>
          <a:prstGeom prst="rect">
            <a:avLst/>
          </a:prstGeom>
        </p:spPr>
      </p:pic>
      <p:pic>
        <p:nvPicPr>
          <p:cNvPr id="12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0378" y="5066929"/>
            <a:ext cx="1295400" cy="428625"/>
          </a:xfrm>
          <a:prstGeom prst="rect">
            <a:avLst/>
          </a:prstGeom>
        </p:spPr>
      </p:pic>
      <p:pic>
        <p:nvPicPr>
          <p:cNvPr id="13" name="图片7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9639" y="3204943"/>
            <a:ext cx="504825" cy="361950"/>
          </a:xfrm>
          <a:prstGeom prst="rect">
            <a:avLst/>
          </a:prstGeom>
        </p:spPr>
      </p:pic>
      <p:pic>
        <p:nvPicPr>
          <p:cNvPr id="14" name="图片8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2691" y="3205077"/>
            <a:ext cx="5048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8" grpId="0" animBg="1"/>
      <p:bldP spid="11" grpId="0" animBg="1"/>
      <p:bldP spid="14" grpId="0" animBg="1"/>
      <p:bldP spid="9" grpId="0" animBg="1"/>
      <p:bldP spid="12" grpId="0" animBg="1"/>
    </p:bldLst>
  </p:timing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-4924"/>
            <a:ext cx="12192448" cy="492220"/>
            <a:chOff x="0" y="0"/>
            <a:chExt cx="12192448" cy="492220"/>
          </a:xfrm>
        </p:grpSpPr>
        <p:pic>
          <p:nvPicPr>
            <p:cNvPr id="3" name="图片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5438"/>
              <a:ext cx="186499" cy="482127"/>
            </a:xfrm>
            <a:prstGeom prst="rect">
              <a:avLst/>
            </a:prstGeom>
          </p:spPr>
        </p:pic>
        <p:pic>
          <p:nvPicPr>
            <p:cNvPr id="4" name="图片5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52875"/>
              <a:ext cx="12005672" cy="34614"/>
            </a:xfrm>
            <a:prstGeom prst="rect">
              <a:avLst/>
            </a:prstGeom>
          </p:spPr>
        </p:pic>
        <p:sp>
          <p:nvSpPr>
            <p:cNvPr id="5" name="文本3"/>
            <p:cNvSpPr txBox="1"/>
            <p:nvPr/>
          </p:nvSpPr>
          <p:spPr>
            <a:xfrm>
              <a:off x="195396" y="0"/>
              <a:ext cx="1790700" cy="4922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/>
              <a:r>
                <a:rPr lang="zh-CN" altLang="en-US" sz="1799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人类的信息活动</a:t>
              </a:r>
            </a:p>
          </p:txBody>
        </p:sp>
      </p:grpSp>
      <p:sp>
        <p:nvSpPr>
          <p:cNvPr id="6" name="文本1"/>
          <p:cNvSpPr txBox="1"/>
          <p:nvPr/>
        </p:nvSpPr>
        <p:spPr>
          <a:xfrm>
            <a:off x="2229926" y="4757490"/>
            <a:ext cx="7734300" cy="12163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光靠人们自己来处理信息是远远不够的。</a:t>
            </a:r>
          </a:p>
          <a:p>
            <a:pPr marL="0" algn="l">
              <a:lnSpc>
                <a:spcPts val="4000"/>
              </a:lnSpc>
            </a:pPr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因此，我们还经常借用其他设备来处理信息，例如算盘、计算器、计算机。</a:t>
            </a:r>
          </a:p>
        </p:txBody>
      </p:sp>
      <p:sp>
        <p:nvSpPr>
          <p:cNvPr id="7" name="文本2"/>
          <p:cNvSpPr txBox="1"/>
          <p:nvPr/>
        </p:nvSpPr>
        <p:spPr>
          <a:xfrm>
            <a:off x="4972850" y="983561"/>
            <a:ext cx="22479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借助工具的信息处理</a:t>
            </a:r>
          </a:p>
        </p:txBody>
      </p:sp>
      <p:pic>
        <p:nvPicPr>
          <p:cNvPr id="8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029" y="2093557"/>
            <a:ext cx="1952625" cy="1933575"/>
          </a:xfrm>
          <a:prstGeom prst="rect">
            <a:avLst/>
          </a:prstGeom>
        </p:spPr>
      </p:pic>
      <p:pic>
        <p:nvPicPr>
          <p:cNvPr id="9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735" y="2079308"/>
            <a:ext cx="1962150" cy="1962150"/>
          </a:xfrm>
          <a:prstGeom prst="rect">
            <a:avLst/>
          </a:prstGeom>
        </p:spPr>
      </p:pic>
      <p:pic>
        <p:nvPicPr>
          <p:cNvPr id="10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626" y="2112616"/>
            <a:ext cx="25527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6" grpId="0" animBg="1"/>
    </p:bldLst>
  </p:timing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972850" y="983561"/>
            <a:ext cx="22479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借助工具的信息处理</a:t>
            </a:r>
          </a:p>
        </p:txBody>
      </p:sp>
      <p:grpSp>
        <p:nvGrpSpPr>
          <p:cNvPr id="3" name="组合1"/>
          <p:cNvGrpSpPr/>
          <p:nvPr/>
        </p:nvGrpSpPr>
        <p:grpSpPr>
          <a:xfrm>
            <a:off x="-48" y="-4924"/>
            <a:ext cx="12192448" cy="492220"/>
            <a:chOff x="0" y="0"/>
            <a:chExt cx="12192448" cy="492220"/>
          </a:xfrm>
        </p:grpSpPr>
        <p:pic>
          <p:nvPicPr>
            <p:cNvPr id="4" name="图片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5438"/>
              <a:ext cx="186499" cy="482127"/>
            </a:xfrm>
            <a:prstGeom prst="rect">
              <a:avLst/>
            </a:prstGeom>
          </p:spPr>
        </p:pic>
        <p:pic>
          <p:nvPicPr>
            <p:cNvPr id="5" name="图片5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52875"/>
              <a:ext cx="12005672" cy="34614"/>
            </a:xfrm>
            <a:prstGeom prst="rect">
              <a:avLst/>
            </a:prstGeom>
          </p:spPr>
        </p:pic>
        <p:sp>
          <p:nvSpPr>
            <p:cNvPr id="6" name="文本3"/>
            <p:cNvSpPr txBox="1"/>
            <p:nvPr/>
          </p:nvSpPr>
          <p:spPr>
            <a:xfrm>
              <a:off x="195396" y="0"/>
              <a:ext cx="1790700" cy="4922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/>
              <a:r>
                <a:rPr lang="zh-CN" altLang="en-US" sz="1799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人类的信息活动</a:t>
              </a:r>
            </a:p>
          </p:txBody>
        </p:sp>
      </p:grp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0" t="0" r="0" b="49886"/>
          <a:stretch>
            <a:fillRect/>
          </a:stretch>
        </p:blipFill>
        <p:spPr>
          <a:xfrm>
            <a:off x="1162250" y="2008289"/>
            <a:ext cx="2819400" cy="2106775"/>
          </a:xfrm>
          <a:prstGeom prst="rect">
            <a:avLst/>
          </a:prstGeom>
        </p:spPr>
      </p:pic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0" t="0" r="0" b="50483"/>
          <a:stretch>
            <a:fillRect/>
          </a:stretch>
        </p:blipFill>
        <p:spPr>
          <a:xfrm>
            <a:off x="4800629" y="1840544"/>
            <a:ext cx="2971800" cy="2442944"/>
          </a:xfrm>
          <a:prstGeom prst="rect">
            <a:avLst/>
          </a:prstGeom>
        </p:spPr>
      </p:pic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0" t="0" r="0" b="50205"/>
          <a:stretch>
            <a:fillRect/>
          </a:stretch>
        </p:blipFill>
        <p:spPr>
          <a:xfrm>
            <a:off x="8591883" y="1910258"/>
            <a:ext cx="2952750" cy="2302761"/>
          </a:xfrm>
          <a:prstGeom prst="rect">
            <a:avLst/>
          </a:prstGeom>
        </p:spPr>
      </p:pic>
      <p:sp>
        <p:nvSpPr>
          <p:cNvPr id="10" name="文本2"/>
          <p:cNvSpPr txBox="1"/>
          <p:nvPr/>
        </p:nvSpPr>
        <p:spPr>
          <a:xfrm>
            <a:off x="3677069" y="4964278"/>
            <a:ext cx="5219700" cy="12163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计算机是二十世纪最伟大的发明之一。</a:t>
            </a:r>
          </a:p>
          <a:p>
            <a:pPr marL="0" algn="l">
              <a:lnSpc>
                <a:spcPts val="4000"/>
              </a:lnSpc>
            </a:pPr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它可以帮助我们处理各种繁杂的信息，既快又好。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-4924"/>
            <a:ext cx="12192448" cy="492220"/>
            <a:chOff x="0" y="0"/>
            <a:chExt cx="12192448" cy="492220"/>
          </a:xfrm>
        </p:grpSpPr>
        <p:pic>
          <p:nvPicPr>
            <p:cNvPr id="3" name="图片10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5438"/>
              <a:ext cx="186499" cy="482127"/>
            </a:xfrm>
            <a:prstGeom prst="rect">
              <a:avLst/>
            </a:prstGeom>
          </p:spPr>
        </p:pic>
        <p:pic>
          <p:nvPicPr>
            <p:cNvPr id="4" name="图片1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52875"/>
              <a:ext cx="12005672" cy="34614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195396" y="0"/>
              <a:ext cx="1790700" cy="4922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/>
              <a:r>
                <a:rPr lang="zh-CN" altLang="en-US" sz="1799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人类的信息活动</a:t>
              </a:r>
            </a:p>
          </p:txBody>
        </p:sp>
      </p:grp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475" y="2219239"/>
            <a:ext cx="1200150" cy="885825"/>
          </a:xfrm>
          <a:prstGeom prst="rect">
            <a:avLst/>
          </a:prstGeom>
        </p:spPr>
      </p:pic>
      <p:sp>
        <p:nvSpPr>
          <p:cNvPr id="7" name="文本1"/>
          <p:cNvSpPr txBox="1"/>
          <p:nvPr/>
        </p:nvSpPr>
        <p:spPr>
          <a:xfrm>
            <a:off x="5430050" y="983561"/>
            <a:ext cx="13335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信息的传递</a:t>
            </a:r>
          </a:p>
        </p:txBody>
      </p:sp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173" y="2228517"/>
            <a:ext cx="1190625" cy="866775"/>
          </a:xfrm>
          <a:prstGeom prst="rect">
            <a:avLst/>
          </a:prstGeom>
        </p:spPr>
      </p:pic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2250" y="2219001"/>
            <a:ext cx="1219200" cy="876300"/>
          </a:xfrm>
          <a:prstGeom prst="rect">
            <a:avLst/>
          </a:prstGeom>
        </p:spPr>
      </p:pic>
      <p:pic>
        <p:nvPicPr>
          <p:cNvPr id="10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7336" y="3978088"/>
            <a:ext cx="1085850" cy="952500"/>
          </a:xfrm>
          <a:prstGeom prst="rect">
            <a:avLst/>
          </a:prstGeom>
        </p:spPr>
      </p:pic>
      <p:pic>
        <p:nvPicPr>
          <p:cNvPr id="11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704" y="3963857"/>
            <a:ext cx="1285875" cy="981075"/>
          </a:xfrm>
          <a:prstGeom prst="rect">
            <a:avLst/>
          </a:prstGeom>
        </p:spPr>
      </p:pic>
      <p:pic>
        <p:nvPicPr>
          <p:cNvPr id="12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3919" y="4002119"/>
            <a:ext cx="1409700" cy="942975"/>
          </a:xfrm>
          <a:prstGeom prst="rect">
            <a:avLst/>
          </a:prstGeom>
        </p:spPr>
      </p:pic>
      <p:pic>
        <p:nvPicPr>
          <p:cNvPr id="13" name="图片7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6055" y="1928470"/>
            <a:ext cx="476250" cy="1457325"/>
          </a:xfrm>
          <a:prstGeom prst="rect">
            <a:avLst/>
          </a:prstGeom>
        </p:spPr>
      </p:pic>
      <p:pic>
        <p:nvPicPr>
          <p:cNvPr id="14" name="图片8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6274" y="3806790"/>
            <a:ext cx="485775" cy="1123950"/>
          </a:xfrm>
          <a:prstGeom prst="rect">
            <a:avLst/>
          </a:prstGeom>
        </p:spPr>
      </p:pic>
      <p:pic>
        <p:nvPicPr>
          <p:cNvPr id="15" name="图片9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6582" y="3229537"/>
            <a:ext cx="375094" cy="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3" grpId="0" animBg="1"/>
      <p:bldP spid="15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素材1"/>
          <p:cNvPicPr>
            <a:picLocks noChangeAspect="1"/>
          </p:cNvPicPr>
          <p:nvPr/>
        </p:nvPicPr>
        <p:blipFill>
          <a:fillRect/>
          <a:blip r:embed="rId2"/>
          <a:stretch/>
        </p:blipFill>
        <p:spPr>
          <a:xfrm>
            <a:off x="3873500" y="3175000"/>
            <a:ext cx="1460500" cy="1905000"/>
          </a:xfrm>
          <a:prstGeom prst="rect">
            <a:avLst/>
          </a:prstGeom>
        </p:spPr>
      </p:pic>
      <p:pic>
        <p:nvPicPr>
          <p:cNvPr id="3" name="素材2"/>
          <p:cNvPicPr>
            <a:picLocks noChangeAspect="1"/>
          </p:cNvPicPr>
          <p:nvPr/>
        </p:nvPicPr>
        <p:blipFill>
          <a:fillRect/>
          <a:blip r:embed="rId3"/>
          <a:stretch/>
        </p:blipFill>
        <p:spPr>
          <a:xfrm>
            <a:off x="6858000" y="3175000"/>
            <a:ext cx="1460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-48" y="514"/>
            <a:ext cx="12192448" cy="482127"/>
            <a:chOff x="0" y="0"/>
            <a:chExt cx="12192448" cy="482127"/>
          </a:xfrm>
        </p:grpSpPr>
        <p:pic>
          <p:nvPicPr>
            <p:cNvPr id="3" name="图片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0" t="0" r="26086" b="0"/>
            <a:stretch>
              <a:fillRect/>
            </a:stretch>
          </p:blipFill>
          <p:spPr>
            <a:xfrm>
              <a:off x="0" y="0"/>
              <a:ext cx="186499" cy="482127"/>
            </a:xfrm>
            <a:prstGeom prst="rect">
              <a:avLst/>
            </a:prstGeom>
          </p:spPr>
        </p:pic>
        <p:pic>
          <p:nvPicPr>
            <p:cNvPr id="4" name="图片2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0" t="50000" r="0" b="0"/>
            <a:stretch>
              <a:fillRect/>
            </a:stretch>
          </p:blipFill>
          <p:spPr>
            <a:xfrm>
              <a:off x="186776" y="447437"/>
              <a:ext cx="12005672" cy="34614"/>
            </a:xfrm>
            <a:prstGeom prst="rect">
              <a:avLst/>
            </a:prstGeom>
          </p:spPr>
        </p:pic>
      </p:grpSp>
      <p:sp>
        <p:nvSpPr>
          <p:cNvPr id="5" name="文本1"/>
          <p:cNvSpPr txBox="1"/>
          <p:nvPr/>
        </p:nvSpPr>
        <p:spPr>
          <a:xfrm>
            <a:off x="195939" y="-4229"/>
            <a:ext cx="647700" cy="492220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17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6" name="形状1"/>
          <p:cNvSpPr txBox="1"/>
          <p:nvPr/>
        </p:nvSpPr>
        <p:spPr>
          <a:xfrm>
            <a:off x="951300" y="1164507"/>
            <a:ext cx="10291648" cy="4908671"/>
          </a:xfrm>
          <a:custGeom>
            <a:avLst/>
            <a:gdLst>
              <a:gd name="connsiteX0" fmla="*/ 2401385 w 10291648"/>
              <a:gd name="connsiteY0" fmla="*/ 0 h 4908671"/>
              <a:gd name="connsiteX1" fmla="*/ 7890264 w 10291648"/>
              <a:gd name="connsiteY1" fmla="*/ 0 h 4908671"/>
              <a:gd name="connsiteX2" fmla="*/ 8079728 w 10291648"/>
              <a:gd name="connsiteY2" fmla="*/ 0 h 4908671"/>
              <a:gd name="connsiteX3" fmla="*/ 8233318 w 10291648"/>
              <a:gd name="connsiteY3" fmla="*/ 981734 h 4908671"/>
              <a:gd name="connsiteX4" fmla="*/ 10291649 w 10291648"/>
              <a:gd name="connsiteY4" fmla="*/ 981734 h 4908671"/>
              <a:gd name="connsiteX5" fmla="*/ 9262483 w 10291648"/>
              <a:gd name="connsiteY5" fmla="*/ 2945202 h 4908671"/>
              <a:gd name="connsiteX6" fmla="*/ 10291649 w 10291648"/>
              <a:gd name="connsiteY6" fmla="*/ 4908671 h 4908671"/>
              <a:gd name="connsiteX7" fmla="*/ 5831934 w 10291648"/>
              <a:gd name="connsiteY7" fmla="*/ 4908671 h 4908671"/>
              <a:gd name="connsiteX8" fmla="*/ 5740951 w 10291648"/>
              <a:gd name="connsiteY8" fmla="*/ 4908671 h 4908671"/>
              <a:gd name="connsiteX9" fmla="*/ 5525023 w 10291648"/>
              <a:gd name="connsiteY9" fmla="*/ 4790757 h 4908671"/>
              <a:gd name="connsiteX10" fmla="*/ 5488879 w 10291648"/>
              <a:gd name="connsiteY10" fmla="*/ 3926936 h 4908671"/>
              <a:gd name="connsiteX11" fmla="*/ 4802769 w 10291648"/>
              <a:gd name="connsiteY11" fmla="*/ 3926936 h 4908671"/>
              <a:gd name="connsiteX12" fmla="*/ 4802769 w 10291648"/>
              <a:gd name="connsiteY12" fmla="*/ 4663237 h 4908671"/>
              <a:gd name="connsiteX13" fmla="*/ 4802769 w 10291648"/>
              <a:gd name="connsiteY13" fmla="*/ 4728330 h 4908671"/>
              <a:gd name="connsiteX14" fmla="*/ 4637956 w 10291648"/>
              <a:gd name="connsiteY14" fmla="*/ 4882812 h 4908671"/>
              <a:gd name="connsiteX15" fmla="*/ 0 w 10291648"/>
              <a:gd name="connsiteY15" fmla="*/ 4908671 h 4908671"/>
              <a:gd name="connsiteX16" fmla="*/ 1029165 w 10291648"/>
              <a:gd name="connsiteY16" fmla="*/ 2945202 h 4908671"/>
              <a:gd name="connsiteX17" fmla="*/ 0 w 10291648"/>
              <a:gd name="connsiteY17" fmla="*/ 981734 h 4908671"/>
              <a:gd name="connsiteX18" fmla="*/ 2058330 w 10291648"/>
              <a:gd name="connsiteY18" fmla="*/ 981734 h 4908671"/>
              <a:gd name="connsiteX19" fmla="*/ 2058330 w 10291648"/>
              <a:gd name="connsiteY19" fmla="*/ 245434 h 4908671"/>
              <a:gd name="connsiteX20" fmla="*/ 2058330 w 10291648"/>
              <a:gd name="connsiteY20" fmla="*/ 109884 h 4908671"/>
              <a:gd name="connsiteX0" fmla="*/ 0 w 10291648"/>
              <a:gd name="connsiteY0" fmla="*/ 981734 h 4908671"/>
              <a:gd name="connsiteX1" fmla="*/ 2058330 w 10291648"/>
              <a:gd name="connsiteY1" fmla="*/ 981734 h 4908671"/>
              <a:gd name="connsiteX2" fmla="*/ 2058330 w 10291648"/>
              <a:gd name="connsiteY2" fmla="*/ 4172370 h 4908671"/>
              <a:gd name="connsiteX3" fmla="*/ 2058330 w 10291648"/>
              <a:gd name="connsiteY3" fmla="*/ 4237463 h 4908671"/>
              <a:gd name="connsiteX4" fmla="*/ 2223143 w 10291648"/>
              <a:gd name="connsiteY4" fmla="*/ 4391946 h 4908671"/>
              <a:gd name="connsiteX5" fmla="*/ 4459714 w 10291648"/>
              <a:gd name="connsiteY5" fmla="*/ 4417804 h 4908671"/>
              <a:gd name="connsiteX6" fmla="*/ 4550698 w 10291648"/>
              <a:gd name="connsiteY6" fmla="*/ 4417804 h 4908671"/>
              <a:gd name="connsiteX7" fmla="*/ 4766626 w 10291648"/>
              <a:gd name="connsiteY7" fmla="*/ 4535717 h 4908671"/>
              <a:gd name="connsiteX8" fmla="*/ 4802769 w 10291648"/>
              <a:gd name="connsiteY8" fmla="*/ 4728330 h 4908671"/>
              <a:gd name="connsiteX9" fmla="*/ 4637956 w 10291648"/>
              <a:gd name="connsiteY9" fmla="*/ 4882812 h 4908671"/>
              <a:gd name="connsiteX10" fmla="*/ 0 w 10291648"/>
              <a:gd name="connsiteY10" fmla="*/ 4908671 h 4908671"/>
              <a:gd name="connsiteX11" fmla="*/ 1029165 w 10291648"/>
              <a:gd name="connsiteY11" fmla="*/ 2945202 h 4908671"/>
              <a:gd name="connsiteX12" fmla="*/ 0 w 10291648"/>
              <a:gd name="connsiteY12" fmla="*/ 981734 h 4908671"/>
              <a:gd name="connsiteX0" fmla="*/ 8233318 w 10291648"/>
              <a:gd name="connsiteY0" fmla="*/ 981734 h 4908671"/>
              <a:gd name="connsiteX1" fmla="*/ 10291649 w 10291648"/>
              <a:gd name="connsiteY1" fmla="*/ 981734 h 4908671"/>
              <a:gd name="connsiteX2" fmla="*/ 9262483 w 10291648"/>
              <a:gd name="connsiteY2" fmla="*/ 2945202 h 4908671"/>
              <a:gd name="connsiteX3" fmla="*/ 10291649 w 10291648"/>
              <a:gd name="connsiteY3" fmla="*/ 4908671 h 4908671"/>
              <a:gd name="connsiteX4" fmla="*/ 5831934 w 10291648"/>
              <a:gd name="connsiteY4" fmla="*/ 4908671 h 4908671"/>
              <a:gd name="connsiteX5" fmla="*/ 5740951 w 10291648"/>
              <a:gd name="connsiteY5" fmla="*/ 4908671 h 4908671"/>
              <a:gd name="connsiteX6" fmla="*/ 5525023 w 10291648"/>
              <a:gd name="connsiteY6" fmla="*/ 4790757 h 4908671"/>
              <a:gd name="connsiteX7" fmla="*/ 5488879 w 10291648"/>
              <a:gd name="connsiteY7" fmla="*/ 4598144 h 4908671"/>
              <a:gd name="connsiteX8" fmla="*/ 5653693 w 10291648"/>
              <a:gd name="connsiteY8" fmla="*/ 4443662 h 4908671"/>
              <a:gd name="connsiteX9" fmla="*/ 7890264 w 10291648"/>
              <a:gd name="connsiteY9" fmla="*/ 4417804 h 4908671"/>
              <a:gd name="connsiteX10" fmla="*/ 8079728 w 10291648"/>
              <a:gd name="connsiteY10" fmla="*/ 4417804 h 4908671"/>
              <a:gd name="connsiteX11" fmla="*/ 8233318 w 10291648"/>
              <a:gd name="connsiteY11" fmla="*/ 981734 h 4908671"/>
              <a:gd name="connsiteX0" fmla="*/ 2401385 w 10291648"/>
              <a:gd name="connsiteY0" fmla="*/ 3926936 h 4908671"/>
              <a:gd name="connsiteX1" fmla="*/ 4802769 w 10291648"/>
              <a:gd name="connsiteY1" fmla="*/ 3926936 h 4908671"/>
              <a:gd name="connsiteX2" fmla="*/ 4802769 w 10291648"/>
              <a:gd name="connsiteY2" fmla="*/ 4663237 h 4908671"/>
              <a:gd name="connsiteX3" fmla="*/ 4802769 w 10291648"/>
              <a:gd name="connsiteY3" fmla="*/ 4598144 h 4908671"/>
              <a:gd name="connsiteX4" fmla="*/ 4637956 w 10291648"/>
              <a:gd name="connsiteY4" fmla="*/ 4443662 h 4908671"/>
              <a:gd name="connsiteX5" fmla="*/ 2401385 w 10291648"/>
              <a:gd name="connsiteY5" fmla="*/ 4417804 h 4908671"/>
              <a:gd name="connsiteX6" fmla="*/ 2310401 w 10291648"/>
              <a:gd name="connsiteY6" fmla="*/ 4417804 h 4908671"/>
              <a:gd name="connsiteX7" fmla="*/ 2094473 w 10291648"/>
              <a:gd name="connsiteY7" fmla="*/ 4299890 h 4908671"/>
              <a:gd name="connsiteX8" fmla="*/ 2058330 w 10291648"/>
              <a:gd name="connsiteY8" fmla="*/ 4107277 h 4908671"/>
              <a:gd name="connsiteX9" fmla="*/ 2223143 w 10291648"/>
              <a:gd name="connsiteY9" fmla="*/ 3952794 h 4908671"/>
              <a:gd name="connsiteX0" fmla="*/ 5488879 w 10291648"/>
              <a:gd name="connsiteY0" fmla="*/ 3926936 h 4908671"/>
              <a:gd name="connsiteX1" fmla="*/ 7890264 w 10291648"/>
              <a:gd name="connsiteY1" fmla="*/ 3926936 h 4908671"/>
              <a:gd name="connsiteX2" fmla="*/ 8079728 w 10291648"/>
              <a:gd name="connsiteY2" fmla="*/ 3926936 h 4908671"/>
              <a:gd name="connsiteX3" fmla="*/ 8233319 w 10291648"/>
              <a:gd name="connsiteY3" fmla="*/ 4307919 h 4908671"/>
              <a:gd name="connsiteX4" fmla="*/ 5831934 w 10291648"/>
              <a:gd name="connsiteY4" fmla="*/ 4417804 h 4908671"/>
              <a:gd name="connsiteX5" fmla="*/ 5740951 w 10291648"/>
              <a:gd name="connsiteY5" fmla="*/ 4417804 h 4908671"/>
              <a:gd name="connsiteX6" fmla="*/ 5525023 w 10291648"/>
              <a:gd name="connsiteY6" fmla="*/ 4535717 h 4908671"/>
              <a:gd name="connsiteX7" fmla="*/ 5488879 w 10291648"/>
              <a:gd name="connsiteY7" fmla="*/ 3926936 h 490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1649" h="4908671">
                <a:moveTo>
                  <a:pt x="2401385" y="0"/>
                </a:moveTo>
                <a:lnTo>
                  <a:pt x="7890264" y="0"/>
                </a:lnTo>
                <a:cubicBezTo>
                  <a:pt x="8079728" y="0"/>
                  <a:pt x="8233318" y="109884"/>
                  <a:pt x="8233318" y="245434"/>
                </a:cubicBezTo>
                <a:lnTo>
                  <a:pt x="8233318" y="981734"/>
                </a:lnTo>
                <a:lnTo>
                  <a:pt x="10291649" y="981734"/>
                </a:lnTo>
                <a:lnTo>
                  <a:pt x="9262483" y="2945202"/>
                </a:lnTo>
                <a:lnTo>
                  <a:pt x="10291649" y="4908671"/>
                </a:lnTo>
                <a:lnTo>
                  <a:pt x="5831934" y="4908671"/>
                </a:lnTo>
                <a:cubicBezTo>
                  <a:pt x="5740951" y="4908671"/>
                  <a:pt x="5653693" y="4882812"/>
                  <a:pt x="5589358" y="4836785"/>
                </a:cubicBezTo>
                <a:cubicBezTo>
                  <a:pt x="5525023" y="4790757"/>
                  <a:pt x="5488879" y="4728330"/>
                  <a:pt x="5488879" y="4663237"/>
                </a:cubicBezTo>
                <a:lnTo>
                  <a:pt x="5488879" y="3926936"/>
                </a:lnTo>
                <a:lnTo>
                  <a:pt x="4802769" y="3926936"/>
                </a:lnTo>
                <a:lnTo>
                  <a:pt x="4802769" y="4663237"/>
                </a:lnTo>
                <a:cubicBezTo>
                  <a:pt x="4802769" y="4728330"/>
                  <a:pt x="4766626" y="4790757"/>
                  <a:pt x="4702291" y="4836785"/>
                </a:cubicBezTo>
                <a:cubicBezTo>
                  <a:pt x="4637956" y="4882812"/>
                  <a:pt x="4550698" y="4908671"/>
                  <a:pt x="4459714" y="4908671"/>
                </a:cubicBezTo>
                <a:lnTo>
                  <a:pt x="0" y="4908671"/>
                </a:lnTo>
                <a:lnTo>
                  <a:pt x="1029165" y="2945202"/>
                </a:lnTo>
                <a:lnTo>
                  <a:pt x="0" y="981734"/>
                </a:lnTo>
                <a:lnTo>
                  <a:pt x="2058330" y="981734"/>
                </a:lnTo>
                <a:lnTo>
                  <a:pt x="2058330" y="245434"/>
                </a:lnTo>
                <a:cubicBezTo>
                  <a:pt x="2058330" y="109884"/>
                  <a:pt x="2211921" y="0"/>
                  <a:pt x="2401385" y="0"/>
                </a:cubicBezTo>
                <a:close/>
              </a:path>
              <a:path w="10291649" h="4908671">
                <a:moveTo>
                  <a:pt x="0" y="981734"/>
                </a:moveTo>
                <a:lnTo>
                  <a:pt x="2058330" y="981734"/>
                </a:lnTo>
                <a:lnTo>
                  <a:pt x="2058330" y="4172370"/>
                </a:lnTo>
                <a:cubicBezTo>
                  <a:pt x="2058330" y="4237463"/>
                  <a:pt x="2094473" y="4299890"/>
                  <a:pt x="2158808" y="4345918"/>
                </a:cubicBezTo>
                <a:cubicBezTo>
                  <a:pt x="2223143" y="4391946"/>
                  <a:pt x="2310401" y="4417804"/>
                  <a:pt x="2401385" y="4417804"/>
                </a:cubicBezTo>
                <a:lnTo>
                  <a:pt x="4459714" y="4417804"/>
                </a:lnTo>
                <a:cubicBezTo>
                  <a:pt x="4550698" y="4417804"/>
                  <a:pt x="4637956" y="4443662"/>
                  <a:pt x="4702291" y="4489689"/>
                </a:cubicBezTo>
                <a:cubicBezTo>
                  <a:pt x="4766626" y="4535717"/>
                  <a:pt x="4802769" y="4598144"/>
                  <a:pt x="4802769" y="4663237"/>
                </a:cubicBezTo>
                <a:cubicBezTo>
                  <a:pt x="4802769" y="4728330"/>
                  <a:pt x="4766626" y="4790757"/>
                  <a:pt x="4702291" y="4836785"/>
                </a:cubicBezTo>
                <a:cubicBezTo>
                  <a:pt x="4637956" y="4882812"/>
                  <a:pt x="4550698" y="4908671"/>
                  <a:pt x="4459714" y="4908671"/>
                </a:cubicBezTo>
                <a:lnTo>
                  <a:pt x="0" y="4908671"/>
                </a:lnTo>
                <a:lnTo>
                  <a:pt x="1029165" y="2945202"/>
                </a:lnTo>
                <a:lnTo>
                  <a:pt x="0" y="981734"/>
                </a:lnTo>
                <a:close/>
              </a:path>
              <a:path w="10291649" h="4908671">
                <a:moveTo>
                  <a:pt x="8233318" y="981734"/>
                </a:moveTo>
                <a:lnTo>
                  <a:pt x="10291649" y="981734"/>
                </a:lnTo>
                <a:lnTo>
                  <a:pt x="9262483" y="2945202"/>
                </a:lnTo>
                <a:lnTo>
                  <a:pt x="10291649" y="4908671"/>
                </a:lnTo>
                <a:lnTo>
                  <a:pt x="5831934" y="4908671"/>
                </a:lnTo>
                <a:cubicBezTo>
                  <a:pt x="5740951" y="4908671"/>
                  <a:pt x="5653693" y="4882812"/>
                  <a:pt x="5589358" y="4836785"/>
                </a:cubicBezTo>
                <a:cubicBezTo>
                  <a:pt x="5525023" y="4790757"/>
                  <a:pt x="5488879" y="4728330"/>
                  <a:pt x="5488879" y="4663237"/>
                </a:cubicBezTo>
                <a:cubicBezTo>
                  <a:pt x="5488879" y="4598144"/>
                  <a:pt x="5525023" y="4535717"/>
                  <a:pt x="5589358" y="4489689"/>
                </a:cubicBezTo>
                <a:cubicBezTo>
                  <a:pt x="5653693" y="4443662"/>
                  <a:pt x="5740951" y="4417804"/>
                  <a:pt x="5831934" y="4417804"/>
                </a:cubicBezTo>
                <a:lnTo>
                  <a:pt x="7890264" y="4417804"/>
                </a:lnTo>
                <a:cubicBezTo>
                  <a:pt x="8079728" y="4417804"/>
                  <a:pt x="8233319" y="4307919"/>
                  <a:pt x="8233318" y="4172370"/>
                </a:cubicBezTo>
                <a:lnTo>
                  <a:pt x="8233318" y="981734"/>
                </a:lnTo>
                <a:close/>
              </a:path>
              <a:path w="10291649" h="4908671">
                <a:moveTo>
                  <a:pt x="2401385" y="3926936"/>
                </a:moveTo>
                <a:lnTo>
                  <a:pt x="4802769" y="3926936"/>
                </a:lnTo>
                <a:lnTo>
                  <a:pt x="4802769" y="4663237"/>
                </a:lnTo>
                <a:cubicBezTo>
                  <a:pt x="4802769" y="4598144"/>
                  <a:pt x="4766626" y="4535717"/>
                  <a:pt x="4702291" y="4489689"/>
                </a:cubicBezTo>
                <a:cubicBezTo>
                  <a:pt x="4637956" y="4443662"/>
                  <a:pt x="4550698" y="4417804"/>
                  <a:pt x="4459714" y="4417804"/>
                </a:cubicBezTo>
                <a:lnTo>
                  <a:pt x="2401385" y="4417804"/>
                </a:lnTo>
                <a:cubicBezTo>
                  <a:pt x="2310401" y="4417804"/>
                  <a:pt x="2223143" y="4391946"/>
                  <a:pt x="2158808" y="4345918"/>
                </a:cubicBezTo>
                <a:cubicBezTo>
                  <a:pt x="2094473" y="4299890"/>
                  <a:pt x="2058330" y="4237463"/>
                  <a:pt x="2058330" y="4172370"/>
                </a:cubicBezTo>
                <a:cubicBezTo>
                  <a:pt x="2058330" y="4107277"/>
                  <a:pt x="2094473" y="4044850"/>
                  <a:pt x="2158808" y="3998822"/>
                </a:cubicBezTo>
                <a:cubicBezTo>
                  <a:pt x="2223143" y="3952794"/>
                  <a:pt x="2310401" y="3926936"/>
                  <a:pt x="2401385" y="3926936"/>
                </a:cubicBezTo>
                <a:close/>
              </a:path>
              <a:path w="10291649" h="4908671">
                <a:moveTo>
                  <a:pt x="5488879" y="3926936"/>
                </a:moveTo>
                <a:lnTo>
                  <a:pt x="7890264" y="3926936"/>
                </a:lnTo>
                <a:cubicBezTo>
                  <a:pt x="8079728" y="3926936"/>
                  <a:pt x="8233319" y="4036821"/>
                  <a:pt x="8233318" y="4172370"/>
                </a:cubicBezTo>
                <a:cubicBezTo>
                  <a:pt x="8233319" y="4307919"/>
                  <a:pt x="8079728" y="4417804"/>
                  <a:pt x="7890264" y="4417804"/>
                </a:cubicBezTo>
                <a:lnTo>
                  <a:pt x="5831934" y="4417804"/>
                </a:lnTo>
                <a:cubicBezTo>
                  <a:pt x="5740951" y="4417804"/>
                  <a:pt x="5653693" y="4443662"/>
                  <a:pt x="5589358" y="4489689"/>
                </a:cubicBezTo>
                <a:cubicBezTo>
                  <a:pt x="5525023" y="4535717"/>
                  <a:pt x="5488879" y="4598144"/>
                  <a:pt x="5488879" y="4663237"/>
                </a:cubicBezTo>
                <a:lnTo>
                  <a:pt x="5488879" y="3926936"/>
                </a:lnTo>
                <a:close/>
              </a:path>
            </a:pathLst>
          </a:custGeom>
          <a:solidFill>
            <a:srgbClr val="FFCC9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文本2"/>
          <p:cNvSpPr txBox="1"/>
          <p:nvPr/>
        </p:nvSpPr>
        <p:spPr>
          <a:xfrm>
            <a:off x="3078699" y="1595323"/>
            <a:ext cx="6036056" cy="300640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1．信息无处不在，无时不有。</a:t>
            </a:r>
          </a:p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2．信息可以用语言、文字、符号、数字、 </a:t>
            </a:r>
          </a:p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  图像、声音和视频来表达。</a:t>
            </a:r>
          </a:p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3．科学技术的发展影响着信息的获取、传  </a:t>
            </a:r>
          </a:p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  递、处理和存储。</a:t>
            </a:r>
          </a:p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4．计算机是人类最为重要的信息处理工</a:t>
            </a:r>
          </a:p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  具之一，用它来处理信息既快又好。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seewo_9224</dc:creator>
  <dc:title>第1课 奇妙的信息世界 雷敏</dc:title>
  <revision>1</revision>
  <dcterms:created xsi:type="dcterms:W3CDTF">2026-04-27T02:41:53.9589818Z</dcterms:created>
  <dcterms:modified xsi:type="dcterms:W3CDTF">2026-04-27T02:41:53.9589869Z</dcterms:modified>
  <lastModifiedBy>seewo_9224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5.2.4.8615</vt:lpwstr>
  </op:property>
  <op:property fmtid="{D5CDD505-2E9C-101B-9397-08002B2CF9AE}" pid="4" name="EasiNoteCoursewareInfo">
    <vt:lpwstr>773d8c9d-6c61-4ebb-9df8-b611586f6bc1:1</vt:lpwstr>
  </op:property>
  <op:property fmtid="{D5CDD505-2E9C-101B-9397-08002B2CF9AE}" pid="5" name="EasiNoteDocumentName">
    <vt:lpwstr>第1课 奇妙的信息世界 雷敏</vt:lpwstr>
  </op:property>
  <op:property fmtid="{D5CDD505-2E9C-101B-9397-08002B2CF9AE}" pid="6" name="EasiNoteAuthor">
    <vt:lpwstr>sgwuouqznhttsiouqsnvlz35297969k1</vt:lpwstr>
  </op:property>
  <op:property fmtid="{D5CDD505-2E9C-101B-9397-08002B2CF9AE}" pid="7" name="EasiNoteUpstreamCoursewareInfo_0">
    <vt:lpwstr>a8d53de8-3754-439c-b57e-6c1a8060bdfe</vt:lpwstr>
  </op:property>
</op:Properties>
</file>